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Mono SemiBold"/>
      <p:regular r:id="rId26"/>
      <p:bold r:id="rId27"/>
      <p:italic r:id="rId28"/>
      <p:boldItalic r:id="rId29"/>
    </p:embeddedFont>
    <p:embeddedFont>
      <p:font typeface="Roboto Mono Medium"/>
      <p:regular r:id="rId30"/>
      <p:bold r:id="rId31"/>
      <p:italic r:id="rId32"/>
      <p:boldItalic r:id="rId33"/>
    </p:embeddedFont>
    <p:embeddedFont>
      <p:font typeface="Inter SemiBold"/>
      <p:regular r:id="rId34"/>
      <p:bold r:id="rId35"/>
      <p:italic r:id="rId36"/>
      <p:boldItalic r:id="rId37"/>
    </p:embeddedFont>
    <p:embeddedFont>
      <p:font typeface="Inter Light"/>
      <p:regular r:id="rId38"/>
      <p:bold r:id="rId39"/>
      <p:italic r:id="rId40"/>
      <p:boldItalic r:id="rId41"/>
    </p:embeddedFont>
    <p:embeddedFont>
      <p:font typeface="Inter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9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94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RobotoMonoSemiBold-regular.fntdata"/><Relationship Id="rId27" Type="http://schemas.openxmlformats.org/officeDocument/2006/relationships/font" Target="fonts/RobotoMonoSemiBold-bold.fntdata"/><Relationship Id="rId28" Type="http://schemas.openxmlformats.org/officeDocument/2006/relationships/font" Target="fonts/RobotoMonoSemiBold-italic.fntdata"/><Relationship Id="rId29" Type="http://schemas.openxmlformats.org/officeDocument/2006/relationships/font" Target="fonts/RobotoMonoSemiBold-boldItalic.fntdata"/><Relationship Id="rId30" Type="http://schemas.openxmlformats.org/officeDocument/2006/relationships/font" Target="fonts/RobotoMonoMedium-regular.fntdata"/><Relationship Id="rId31" Type="http://schemas.openxmlformats.org/officeDocument/2006/relationships/font" Target="fonts/RobotoMonoMedium-bold.fntdata"/><Relationship Id="rId32" Type="http://schemas.openxmlformats.org/officeDocument/2006/relationships/font" Target="fonts/RobotoMonoMedium-italic.fntdata"/><Relationship Id="rId33" Type="http://schemas.openxmlformats.org/officeDocument/2006/relationships/font" Target="fonts/RobotoMonoMedium-boldItalic.fntdata"/><Relationship Id="rId34" Type="http://schemas.openxmlformats.org/officeDocument/2006/relationships/font" Target="fonts/InterSemiBold-regular.fntdata"/><Relationship Id="rId35" Type="http://schemas.openxmlformats.org/officeDocument/2006/relationships/font" Target="fonts/InterSemiBold-bold.fntdata"/><Relationship Id="rId36" Type="http://schemas.openxmlformats.org/officeDocument/2006/relationships/font" Target="fonts/InterSemiBold-italic.fntdata"/><Relationship Id="rId37" Type="http://schemas.openxmlformats.org/officeDocument/2006/relationships/font" Target="fonts/InterSemiBold-boldItalic.fntdata"/><Relationship Id="rId38" Type="http://schemas.openxmlformats.org/officeDocument/2006/relationships/font" Target="fonts/InterLight-regular.fntdata"/><Relationship Id="rId39" Type="http://schemas.openxmlformats.org/officeDocument/2006/relationships/font" Target="fonts/InterLight-bold.fntdata"/><Relationship Id="rId40" Type="http://schemas.openxmlformats.org/officeDocument/2006/relationships/font" Target="fonts/InterLight-italic.fntdata"/><Relationship Id="rId41" Type="http://schemas.openxmlformats.org/officeDocument/2006/relationships/font" Target="fonts/InterLight-boldItalic.fntdata"/><Relationship Id="rId42" Type="http://schemas.openxmlformats.org/officeDocument/2006/relationships/font" Target="fonts/Inter-regular.fntdata"/><Relationship Id="rId43" Type="http://schemas.openxmlformats.org/officeDocument/2006/relationships/font" Target="fonts/Inter-bold.fntdata"/><Relationship Id="rId44" Type="http://schemas.openxmlformats.org/officeDocument/2006/relationships/font" Target="fonts/Inter-italic.fntdata"/><Relationship Id="rId45" Type="http://schemas.openxmlformats.org/officeDocument/2006/relationships/font" Target="fonts/Inter-boldItalic.fntdata"/><Relationship Id="rId46" Type="http://schemas.openxmlformats.org/officeDocument/2006/relationships/font" Target="fonts/RobotoMono-regular.fntdata"/><Relationship Id="rId47" Type="http://schemas.openxmlformats.org/officeDocument/2006/relationships/font" Target="fonts/RobotoMono-bold.fntdata"/><Relationship Id="rId48" Type="http://schemas.openxmlformats.org/officeDocument/2006/relationships/font" Target="fonts/RobotoMono-italic.fntdata"/><Relationship Id="rId49" Type="http://schemas.openxmlformats.org/officeDocument/2006/relationships/font" Target="fonts/Roboto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af5093e36a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af5093e36a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e4b1737a27_0_928:notes"/>
          <p:cNvSpPr/>
          <p:nvPr>
            <p:ph idx="2" type="sldImg"/>
          </p:nvPr>
        </p:nvSpPr>
        <p:spPr>
          <a:xfrm>
            <a:off x="686227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e4b1737a27_0_9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g2e4b1737a27_0_9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e1e0b0b83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e1e0b0b83e_1_0:notes"/>
          <p:cNvSpPr/>
          <p:nvPr>
            <p:ph idx="2" type="sldImg"/>
          </p:nvPr>
        </p:nvSpPr>
        <p:spPr>
          <a:xfrm>
            <a:off x="686227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e3a2361c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e3a2361c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e3a2361c8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e3a2361c8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e121399dd2_0_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g3e121399dd2_0_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e121399dd2_0_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e121399dd2_0_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g3e121399dd2_0_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e121399dd2_0_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e11d67da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e11d67da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e11d67daf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e11d67daf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e11d67daf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e11d67daf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e11d67da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e11d67da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e11d67daf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e11d67daf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e11d67daf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e11d67daf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e11d67daf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e11d67daf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e11d67daf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3e11d67daf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e11d67daf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e11d67daf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e11d67da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e11d67da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e1220a1419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e1220a1419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e1220a1419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e1220a1419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e1220a1419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3e1220a1419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9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image" Target="../media/image12.png"/><Relationship Id="rId12" Type="http://schemas.openxmlformats.org/officeDocument/2006/relationships/image" Target="../media/image16.png"/><Relationship Id="rId13" Type="http://schemas.openxmlformats.org/officeDocument/2006/relationships/image" Target="../media/image22.png"/><Relationship Id="rId14" Type="http://schemas.openxmlformats.org/officeDocument/2006/relationships/image" Target="../media/image19.png"/><Relationship Id="rId15" Type="http://schemas.openxmlformats.org/officeDocument/2006/relationships/image" Target="../media/image18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17.png"/><Relationship Id="rId19" Type="http://schemas.openxmlformats.org/officeDocument/2006/relationships/image" Target="../media/image24.png"/><Relationship Id="rId20" Type="http://schemas.openxmlformats.org/officeDocument/2006/relationships/image" Target="../media/image23.png"/><Relationship Id="rId21" Type="http://schemas.openxmlformats.org/officeDocument/2006/relationships/image" Target="../media/image25.png"/><Relationship Id="rId22" Type="http://schemas.openxmlformats.org/officeDocument/2006/relationships/image" Target="../media/image27.png"/><Relationship Id="rId23" Type="http://schemas.openxmlformats.org/officeDocument/2006/relationships/image" Target="../media/image2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8.png"/><Relationship Id="rId9" Type="http://schemas.openxmlformats.org/officeDocument/2006/relationships/image" Target="../media/image7.png"/><Relationship Id="rId10" Type="http://schemas.openxmlformats.org/officeDocument/2006/relationships/image" Target="../media/image12.png"/><Relationship Id="rId11" Type="http://schemas.openxmlformats.org/officeDocument/2006/relationships/image" Target="../media/image16.png"/><Relationship Id="rId12" Type="http://schemas.openxmlformats.org/officeDocument/2006/relationships/image" Target="../media/image22.png"/><Relationship Id="rId13" Type="http://schemas.openxmlformats.org/officeDocument/2006/relationships/image" Target="../media/image19.png"/><Relationship Id="rId14" Type="http://schemas.openxmlformats.org/officeDocument/2006/relationships/image" Target="../media/image18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17.png"/><Relationship Id="rId18" Type="http://schemas.openxmlformats.org/officeDocument/2006/relationships/image" Target="../media/image24.png"/><Relationship Id="rId19" Type="http://schemas.openxmlformats.org/officeDocument/2006/relationships/image" Target="../media/image23.png"/><Relationship Id="rId20" Type="http://schemas.openxmlformats.org/officeDocument/2006/relationships/image" Target="../media/image25.png"/><Relationship Id="rId21" Type="http://schemas.openxmlformats.org/officeDocument/2006/relationships/image" Target="../media/image27.png"/><Relationship Id="rId22" Type="http://schemas.openxmlformats.org/officeDocument/2006/relationships/image" Target="../media/image26.png"/><Relationship Id="rId23" Type="http://schemas.openxmlformats.org/officeDocument/2006/relationships/image" Target="../media/image28.png"/><Relationship Id="rId24" Type="http://schemas.openxmlformats.org/officeDocument/2006/relationships/image" Target="../media/image30.png"/><Relationship Id="rId25" Type="http://schemas.openxmlformats.org/officeDocument/2006/relationships/image" Target="../media/image29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Relationship Id="rId22" Type="http://schemas.openxmlformats.org/officeDocument/2006/relationships/image" Target="../media/image5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Relationship Id="rId22" Type="http://schemas.openxmlformats.org/officeDocument/2006/relationships/image" Target="../media/image53.png"/><Relationship Id="rId23" Type="http://schemas.openxmlformats.org/officeDocument/2006/relationships/image" Target="../media/image28.png"/><Relationship Id="rId24" Type="http://schemas.openxmlformats.org/officeDocument/2006/relationships/image" Target="../media/image30.png"/><Relationship Id="rId25" Type="http://schemas.openxmlformats.org/officeDocument/2006/relationships/image" Target="../media/image29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5.gif"/><Relationship Id="rId4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6.gif"/><Relationship Id="rId4" Type="http://schemas.openxmlformats.org/officeDocument/2006/relationships/image" Target="../media/image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7.gif"/><Relationship Id="rId4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8.gif"/><Relationship Id="rId4" Type="http://schemas.openxmlformats.org/officeDocument/2006/relationships/image" Target="../media/image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9.gif"/><Relationship Id="rId4" Type="http://schemas.openxmlformats.org/officeDocument/2006/relationships/image" Target="../media/image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Page">
  <p:cSld name="Title in module top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>
            <p:ph idx="1" type="body"/>
          </p:nvPr>
        </p:nvSpPr>
        <p:spPr>
          <a:xfrm>
            <a:off x="419799" y="426652"/>
            <a:ext cx="5463600" cy="2445300"/>
          </a:xfrm>
          <a:prstGeom prst="roundRect">
            <a:avLst>
              <a:gd fmla="val 5147" name="adj"/>
            </a:avLst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SzPts val="4600"/>
              <a:buFont typeface="Roboto Mono"/>
              <a:buNone/>
              <a:defRPr b="1" i="0" sz="46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3700"/>
              <a:buFont typeface="Arial"/>
              <a:buNone/>
              <a:defRPr b="1" i="0" sz="4700" cap="non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. Title + Full-page Module (Small)">
  <p:cSld name="4 columns_1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419800" y="425875"/>
            <a:ext cx="2326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3258450" y="425875"/>
            <a:ext cx="2627100" cy="1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6096800" y="425875"/>
            <a:ext cx="2627100" cy="1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2" name="Google Shape;32;p3"/>
          <p:cNvSpPr/>
          <p:nvPr/>
        </p:nvSpPr>
        <p:spPr>
          <a:xfrm>
            <a:off x="421500" y="1861200"/>
            <a:ext cx="8294100" cy="2464800"/>
          </a:xfrm>
          <a:prstGeom prst="roundRect">
            <a:avLst>
              <a:gd fmla="val 37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itle Only (Light)">
  <p:cSld name="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Sub-Cover Page (Light)">
  <p:cSld name="Title only_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21500" y="1971725"/>
            <a:ext cx="3335700" cy="2361600"/>
          </a:xfrm>
          <a:prstGeom prst="roundRect">
            <a:avLst>
              <a:gd fmla="val 421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959550" y="417750"/>
            <a:ext cx="4755900" cy="3915600"/>
          </a:xfrm>
          <a:prstGeom prst="roundRect">
            <a:avLst>
              <a:gd fmla="val 279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21500" y="417750"/>
            <a:ext cx="3335700" cy="1332300"/>
          </a:xfrm>
          <a:prstGeom prst="roundRect">
            <a:avLst>
              <a:gd fmla="val 832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644950" y="2090850"/>
            <a:ext cx="28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655675" y="2780100"/>
            <a:ext cx="2889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Roboto Mono Medium"/>
              <a:buNone/>
              <a:defRPr sz="8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Roboto Mono Medium"/>
              <a:buNone/>
              <a:defRPr sz="8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 Mono Medium"/>
              <a:buNone/>
              <a:defRPr sz="8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Roboto Mono Medium"/>
              <a:buNone/>
              <a:defRPr sz="8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Font typeface="Roboto Mono Medium"/>
              <a:buNone/>
              <a:defRPr sz="8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 Mono Medium"/>
              <a:buNone/>
              <a:defRPr sz="8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 Mono Medium"/>
              <a:buNone/>
              <a:defRPr sz="8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 Mono Medium"/>
              <a:buNone/>
              <a:defRPr b="0" sz="8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800"/>
              <a:buFont typeface="Roboto Mono Medium"/>
              <a:buNone/>
              <a:defRPr b="0" sz="8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2" type="title"/>
          </p:nvPr>
        </p:nvSpPr>
        <p:spPr>
          <a:xfrm>
            <a:off x="644950" y="683850"/>
            <a:ext cx="28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Sub-Cover Page (Dark)">
  <p:cSld name="Title only_2_1">
    <p:bg>
      <p:bgPr>
        <a:solidFill>
          <a:schemeClr val="dk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421500" y="1960300"/>
            <a:ext cx="3335700" cy="2373000"/>
          </a:xfrm>
          <a:prstGeom prst="roundRect">
            <a:avLst>
              <a:gd fmla="val 421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959550" y="417750"/>
            <a:ext cx="4755900" cy="3915600"/>
          </a:xfrm>
          <a:prstGeom prst="roundRect">
            <a:avLst>
              <a:gd fmla="val 279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421500" y="417750"/>
            <a:ext cx="3335700" cy="1332300"/>
          </a:xfrm>
          <a:prstGeom prst="roundRect">
            <a:avLst>
              <a:gd fmla="val 832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644950" y="683850"/>
            <a:ext cx="28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title"/>
          </p:nvPr>
        </p:nvSpPr>
        <p:spPr>
          <a:xfrm>
            <a:off x="644950" y="2090850"/>
            <a:ext cx="28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55675" y="2780100"/>
            <a:ext cx="2889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b="0"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Inter"/>
              <a:buNone/>
              <a:defRPr b="0"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. Left Panels (2) + Image">
  <p:cSld name="Title only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>
            <p:ph idx="2" type="pic"/>
          </p:nvPr>
        </p:nvSpPr>
        <p:spPr>
          <a:xfrm>
            <a:off x="5883525" y="-26550"/>
            <a:ext cx="3295200" cy="5192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419800" y="425873"/>
            <a:ext cx="2628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9800" y="1158500"/>
            <a:ext cx="24108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3047800" y="1158500"/>
            <a:ext cx="24108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. Right Panel + Image">
  <p:cSld name="Title only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>
            <p:ph idx="2" type="pic"/>
          </p:nvPr>
        </p:nvSpPr>
        <p:spPr>
          <a:xfrm>
            <a:off x="419850" y="421050"/>
            <a:ext cx="4047600" cy="3916500"/>
          </a:xfrm>
          <a:prstGeom prst="roundRect">
            <a:avLst>
              <a:gd fmla="val 2034" name="adj"/>
            </a:avLst>
          </a:prstGeom>
          <a:noFill/>
          <a:ln>
            <a:noFill/>
          </a:ln>
        </p:spPr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4669725" y="425875"/>
            <a:ext cx="28320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4669725" y="1158500"/>
            <a:ext cx="33375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. Right Panel + Full-bleed Image">
  <p:cSld name="Title only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>
            <p:ph idx="2" type="pic"/>
          </p:nvPr>
        </p:nvSpPr>
        <p:spPr>
          <a:xfrm>
            <a:off x="-30975" y="-15175"/>
            <a:ext cx="4498500" cy="5181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978500" y="425875"/>
            <a:ext cx="28320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4978500" y="1158500"/>
            <a:ext cx="33375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. Framed Image">
  <p:cSld name="CUSTOM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419812" y="820069"/>
            <a:ext cx="8295900" cy="3505800"/>
          </a:xfrm>
          <a:prstGeom prst="roundRect">
            <a:avLst>
              <a:gd fmla="val 2494" name="adj"/>
            </a:avLst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. Title Only (Dark)" showMasterSp="0">
  <p:cSld name="Title Black_1"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" name="Google Shape;67;p11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7754250" y="461472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Dark Misc Modules" showMasterSp="0">
  <p:cSld name="Title Black_1_3"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4670150" y="417750"/>
            <a:ext cx="4046100" cy="3161700"/>
          </a:xfrm>
          <a:prstGeom prst="roundRect">
            <a:avLst>
              <a:gd fmla="val 38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marR="78938" rtl="0" algn="l">
              <a:lnSpc>
                <a:spcPct val="110000"/>
              </a:lnSpc>
              <a:spcBef>
                <a:spcPts val="500"/>
              </a:spcBef>
              <a:spcAft>
                <a:spcPts val="1500"/>
              </a:spcAft>
              <a:buNone/>
            </a:pPr>
            <a:r>
              <a:t/>
            </a:r>
            <a:endParaRPr>
              <a:solidFill>
                <a:srgbClr val="272832"/>
              </a:solidFill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418650" y="417750"/>
            <a:ext cx="4048800" cy="4317900"/>
          </a:xfrm>
          <a:prstGeom prst="roundRect">
            <a:avLst>
              <a:gd fmla="val 3243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71" name="Google Shape;71;p12"/>
          <p:cNvSpPr/>
          <p:nvPr/>
        </p:nvSpPr>
        <p:spPr>
          <a:xfrm>
            <a:off x="4672950" y="3775050"/>
            <a:ext cx="4046100" cy="960600"/>
          </a:xfrm>
          <a:prstGeom prst="roundRect">
            <a:avLst>
              <a:gd fmla="val 13662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4874650" y="640950"/>
            <a:ext cx="3624000" cy="27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74650" y="3943975"/>
            <a:ext cx="36240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Mono"/>
              <a:buNone/>
              <a:defRPr b="1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Mono"/>
              <a:buNone/>
              <a:defRPr b="1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Mono"/>
              <a:buNone/>
              <a:defRPr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Mono"/>
              <a:buNone/>
              <a:defRPr b="1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Mono"/>
              <a:buNone/>
              <a:defRPr b="1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Mono"/>
              <a:buNone/>
              <a:defRPr b="1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Mono"/>
              <a:buNone/>
              <a:defRPr b="1" sz="1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indent="-228600" lvl="8" marL="411480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3" type="body"/>
          </p:nvPr>
        </p:nvSpPr>
        <p:spPr>
          <a:xfrm>
            <a:off x="631050" y="640950"/>
            <a:ext cx="36240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4" type="body"/>
          </p:nvPr>
        </p:nvSpPr>
        <p:spPr>
          <a:xfrm>
            <a:off x="631050" y="1630950"/>
            <a:ext cx="36240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>
                <a:solidFill>
                  <a:schemeClr val="lt1"/>
                </a:solidFill>
              </a:defRPr>
            </a:lvl8pPr>
            <a:lvl9pPr indent="-228600" lvl="8" marL="411480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1200"/>
              <a:buNone/>
              <a:defRPr b="0"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. Full-Module Page (Dark)" showMasterSp="0">
  <p:cSld name="Title Black_1_2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434600" y="429575"/>
            <a:ext cx="8280900" cy="4306200"/>
          </a:xfrm>
          <a:prstGeom prst="roundRect">
            <a:avLst>
              <a:gd fmla="val 302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>
            <a:off x="391662" y="417759"/>
            <a:ext cx="75804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200" spcFirstLastPara="1" rIns="0" wrap="square" tIns="4572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boto Mono"/>
              <a:buNone/>
              <a:defRPr b="1" i="0" sz="4400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. Content Modules (4)">
  <p:cSld name="4 modules contrast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/>
          <p:nvPr/>
        </p:nvSpPr>
        <p:spPr>
          <a:xfrm>
            <a:off x="419825" y="820075"/>
            <a:ext cx="1922100" cy="3505800"/>
          </a:xfrm>
          <a:prstGeom prst="roundRect">
            <a:avLst>
              <a:gd fmla="val 597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14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597350" y="1745525"/>
            <a:ext cx="15843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2" type="title"/>
          </p:nvPr>
        </p:nvSpPr>
        <p:spPr>
          <a:xfrm>
            <a:off x="582000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84" name="Google Shape;84;p14"/>
          <p:cNvSpPr/>
          <p:nvPr/>
        </p:nvSpPr>
        <p:spPr>
          <a:xfrm>
            <a:off x="2544150" y="820075"/>
            <a:ext cx="1922100" cy="3505800"/>
          </a:xfrm>
          <a:prstGeom prst="roundRect">
            <a:avLst>
              <a:gd fmla="val 597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14"/>
          <p:cNvSpPr txBox="1"/>
          <p:nvPr>
            <p:ph idx="3" type="body"/>
          </p:nvPr>
        </p:nvSpPr>
        <p:spPr>
          <a:xfrm>
            <a:off x="2721675" y="1745525"/>
            <a:ext cx="15843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4" type="title"/>
          </p:nvPr>
        </p:nvSpPr>
        <p:spPr>
          <a:xfrm>
            <a:off x="2706325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87" name="Google Shape;87;p14"/>
          <p:cNvSpPr/>
          <p:nvPr/>
        </p:nvSpPr>
        <p:spPr>
          <a:xfrm>
            <a:off x="4668475" y="820075"/>
            <a:ext cx="1922100" cy="3505800"/>
          </a:xfrm>
          <a:prstGeom prst="roundRect">
            <a:avLst>
              <a:gd fmla="val 597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4"/>
          <p:cNvSpPr txBox="1"/>
          <p:nvPr>
            <p:ph idx="5" type="body"/>
          </p:nvPr>
        </p:nvSpPr>
        <p:spPr>
          <a:xfrm>
            <a:off x="4846000" y="1745525"/>
            <a:ext cx="15843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6" type="title"/>
          </p:nvPr>
        </p:nvSpPr>
        <p:spPr>
          <a:xfrm>
            <a:off x="4830650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90" name="Google Shape;90;p14"/>
          <p:cNvSpPr/>
          <p:nvPr/>
        </p:nvSpPr>
        <p:spPr>
          <a:xfrm>
            <a:off x="6792800" y="820075"/>
            <a:ext cx="1922100" cy="3505800"/>
          </a:xfrm>
          <a:prstGeom prst="roundRect">
            <a:avLst>
              <a:gd fmla="val 597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4"/>
          <p:cNvSpPr txBox="1"/>
          <p:nvPr>
            <p:ph idx="7" type="body"/>
          </p:nvPr>
        </p:nvSpPr>
        <p:spPr>
          <a:xfrm>
            <a:off x="6970325" y="1745525"/>
            <a:ext cx="15843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8" type="title"/>
          </p:nvPr>
        </p:nvSpPr>
        <p:spPr>
          <a:xfrm>
            <a:off x="6954975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. Title + Side Module">
  <p:cSld name="L Side panel + 2/3 module white">
    <p:bg>
      <p:bgPr>
        <a:solidFill>
          <a:schemeClr val="lt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3254325" y="417750"/>
            <a:ext cx="5461200" cy="3916500"/>
          </a:xfrm>
          <a:prstGeom prst="roundRect">
            <a:avLst>
              <a:gd fmla="val 28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08000" lIns="108000" spcFirstLastPara="1" rIns="108000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419800" y="425873"/>
            <a:ext cx="2628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19800" y="1158500"/>
            <a:ext cx="26280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Divider Page (Dark)" showMasterSp="0">
  <p:cSld name="Title Black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" type="subTitle"/>
          </p:nvPr>
        </p:nvSpPr>
        <p:spPr>
          <a:xfrm>
            <a:off x="419825" y="2033275"/>
            <a:ext cx="4149300" cy="1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None/>
              <a:defRPr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600"/>
              <a:buFont typeface="Inter"/>
              <a:buNone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2" type="body"/>
          </p:nvPr>
        </p:nvSpPr>
        <p:spPr>
          <a:xfrm>
            <a:off x="419825" y="820075"/>
            <a:ext cx="49797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Roboto Mono"/>
              <a:buNone/>
              <a:defRPr b="1" i="0" sz="4600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b="1" i="0" sz="47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indent="-2286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4pPr>
            <a:lvl5pPr indent="-2286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indent="-2286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6pPr>
            <a:lvl7pPr indent="-2286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7pPr>
            <a:lvl8pPr indent="-2286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indent="-2286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3" type="body"/>
          </p:nvPr>
        </p:nvSpPr>
        <p:spPr>
          <a:xfrm>
            <a:off x="419825" y="432325"/>
            <a:ext cx="2905200" cy="2535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1" name="Google Shape;101;p16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7754250" y="461472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pos="264">
          <p15:clr>
            <a:srgbClr val="E46962"/>
          </p15:clr>
        </p15:guide>
        <p15:guide id="2" orient="horz" pos="139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 Divider Page (Blue)" showMasterSp="0">
  <p:cSld name="Title Black_2">
    <p:bg>
      <p:bgPr>
        <a:solidFill>
          <a:schemeClr val="accen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idx="1" type="subTitle"/>
          </p:nvPr>
        </p:nvSpPr>
        <p:spPr>
          <a:xfrm>
            <a:off x="419825" y="2033275"/>
            <a:ext cx="4149300" cy="1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None/>
              <a:defRPr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600"/>
              <a:buFont typeface="Inter"/>
              <a:buNone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2" type="body"/>
          </p:nvPr>
        </p:nvSpPr>
        <p:spPr>
          <a:xfrm>
            <a:off x="419825" y="820075"/>
            <a:ext cx="49797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Roboto Mono"/>
              <a:buNone/>
              <a:defRPr b="1" i="0" sz="4600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b="1" i="0" sz="47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indent="-2286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4pPr>
            <a:lvl5pPr indent="-2286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indent="-2286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6pPr>
            <a:lvl7pPr indent="-2286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7pPr>
            <a:lvl8pPr indent="-2286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indent="-2286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3" type="body"/>
          </p:nvPr>
        </p:nvSpPr>
        <p:spPr>
          <a:xfrm>
            <a:off x="419825" y="432325"/>
            <a:ext cx="2905200" cy="2535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Mono"/>
              <a:buNone/>
              <a:defRPr b="1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7754250" y="461472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pos="264">
          <p15:clr>
            <a:srgbClr val="E46962"/>
          </p15:clr>
        </p15:guide>
        <p15:guide id="2" orient="horz" pos="139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Big Title Divider (Blue)" showMasterSp="0">
  <p:cSld name="Title Black_2_1">
    <p:bg>
      <p:bgPr>
        <a:solidFill>
          <a:schemeClr val="accen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419825" y="417750"/>
            <a:ext cx="67575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1" i="0" sz="6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3pPr>
            <a:lvl4pPr indent="-2286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4pPr>
            <a:lvl5pPr indent="-2286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5pPr>
            <a:lvl6pPr indent="-2286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6pPr>
            <a:lvl7pPr indent="-2286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7pPr>
            <a:lvl8pPr indent="-2286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8pPr>
            <a:lvl9pPr indent="-2286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7754250" y="461472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pos="264">
          <p15:clr>
            <a:srgbClr val="E46962"/>
          </p15:clr>
        </p15:guide>
        <p15:guide id="2" orient="horz" pos="139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8 Blocks + Text">
  <p:cSld name="8 blocks"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>
            <p:ph idx="1" type="body"/>
          </p:nvPr>
        </p:nvSpPr>
        <p:spPr>
          <a:xfrm>
            <a:off x="4668475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2" name="Google Shape;112;p19"/>
          <p:cNvSpPr/>
          <p:nvPr>
            <p:ph idx="2" type="body"/>
          </p:nvPr>
        </p:nvSpPr>
        <p:spPr>
          <a:xfrm>
            <a:off x="6784050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9"/>
          <p:cNvSpPr/>
          <p:nvPr>
            <p:ph idx="3" type="body"/>
          </p:nvPr>
        </p:nvSpPr>
        <p:spPr>
          <a:xfrm>
            <a:off x="4668475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19"/>
          <p:cNvSpPr/>
          <p:nvPr>
            <p:ph idx="4" type="body"/>
          </p:nvPr>
        </p:nvSpPr>
        <p:spPr>
          <a:xfrm>
            <a:off x="6784050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9"/>
          <p:cNvSpPr/>
          <p:nvPr>
            <p:ph idx="5" type="body"/>
          </p:nvPr>
        </p:nvSpPr>
        <p:spPr>
          <a:xfrm>
            <a:off x="2544150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19"/>
          <p:cNvSpPr/>
          <p:nvPr>
            <p:ph idx="6" type="body"/>
          </p:nvPr>
        </p:nvSpPr>
        <p:spPr>
          <a:xfrm>
            <a:off x="2544150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9"/>
          <p:cNvSpPr/>
          <p:nvPr>
            <p:ph idx="7" type="body"/>
          </p:nvPr>
        </p:nvSpPr>
        <p:spPr>
          <a:xfrm>
            <a:off x="432075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19"/>
          <p:cNvSpPr/>
          <p:nvPr>
            <p:ph idx="8" type="body"/>
          </p:nvPr>
        </p:nvSpPr>
        <p:spPr>
          <a:xfrm>
            <a:off x="432075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9" type="body"/>
          </p:nvPr>
        </p:nvSpPr>
        <p:spPr>
          <a:xfrm>
            <a:off x="6955297" y="1621327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0" name="Google Shape;120;p19"/>
          <p:cNvSpPr txBox="1"/>
          <p:nvPr>
            <p:ph idx="13" type="body"/>
          </p:nvPr>
        </p:nvSpPr>
        <p:spPr>
          <a:xfrm>
            <a:off x="6955297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1" name="Google Shape;121;p19"/>
          <p:cNvSpPr txBox="1"/>
          <p:nvPr>
            <p:ph idx="14" type="body"/>
          </p:nvPr>
        </p:nvSpPr>
        <p:spPr>
          <a:xfrm>
            <a:off x="4839722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5" type="body"/>
          </p:nvPr>
        </p:nvSpPr>
        <p:spPr>
          <a:xfrm>
            <a:off x="4839722" y="1621327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3" name="Google Shape;123;p19"/>
          <p:cNvSpPr txBox="1"/>
          <p:nvPr>
            <p:ph idx="16" type="body"/>
          </p:nvPr>
        </p:nvSpPr>
        <p:spPr>
          <a:xfrm>
            <a:off x="2715397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4" name="Google Shape;124;p19"/>
          <p:cNvSpPr txBox="1"/>
          <p:nvPr>
            <p:ph idx="17" type="body"/>
          </p:nvPr>
        </p:nvSpPr>
        <p:spPr>
          <a:xfrm>
            <a:off x="2715397" y="1621327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5" name="Google Shape;125;p19"/>
          <p:cNvSpPr txBox="1"/>
          <p:nvPr>
            <p:ph idx="18" type="body"/>
          </p:nvPr>
        </p:nvSpPr>
        <p:spPr>
          <a:xfrm>
            <a:off x="603322" y="1621327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19" type="body"/>
          </p:nvPr>
        </p:nvSpPr>
        <p:spPr>
          <a:xfrm>
            <a:off x="603322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419800" y="425875"/>
            <a:ext cx="2326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20" type="body"/>
          </p:nvPr>
        </p:nvSpPr>
        <p:spPr>
          <a:xfrm>
            <a:off x="3258450" y="425875"/>
            <a:ext cx="2627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9" name="Google Shape;129;p19"/>
          <p:cNvSpPr txBox="1"/>
          <p:nvPr>
            <p:ph idx="21" type="body"/>
          </p:nvPr>
        </p:nvSpPr>
        <p:spPr>
          <a:xfrm>
            <a:off x="6096800" y="425875"/>
            <a:ext cx="2627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Agenda Blocks (8)">
  <p:cSld name="8 blocks_1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>
            <p:ph idx="1" type="body"/>
          </p:nvPr>
        </p:nvSpPr>
        <p:spPr>
          <a:xfrm>
            <a:off x="4668475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20"/>
          <p:cNvSpPr/>
          <p:nvPr>
            <p:ph idx="2" type="body"/>
          </p:nvPr>
        </p:nvSpPr>
        <p:spPr>
          <a:xfrm>
            <a:off x="6784050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20"/>
          <p:cNvSpPr/>
          <p:nvPr>
            <p:ph idx="3" type="body"/>
          </p:nvPr>
        </p:nvSpPr>
        <p:spPr>
          <a:xfrm>
            <a:off x="4668475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4" name="Google Shape;134;p20"/>
          <p:cNvSpPr/>
          <p:nvPr>
            <p:ph idx="4" type="body"/>
          </p:nvPr>
        </p:nvSpPr>
        <p:spPr>
          <a:xfrm>
            <a:off x="6784050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5" name="Google Shape;135;p20"/>
          <p:cNvSpPr/>
          <p:nvPr>
            <p:ph idx="5" type="body"/>
          </p:nvPr>
        </p:nvSpPr>
        <p:spPr>
          <a:xfrm>
            <a:off x="2544150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20"/>
          <p:cNvSpPr/>
          <p:nvPr>
            <p:ph idx="6" type="body"/>
          </p:nvPr>
        </p:nvSpPr>
        <p:spPr>
          <a:xfrm>
            <a:off x="2544150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20"/>
          <p:cNvSpPr/>
          <p:nvPr>
            <p:ph idx="7" type="body"/>
          </p:nvPr>
        </p:nvSpPr>
        <p:spPr>
          <a:xfrm>
            <a:off x="432075" y="1520775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20"/>
          <p:cNvSpPr/>
          <p:nvPr>
            <p:ph idx="8" type="body"/>
          </p:nvPr>
        </p:nvSpPr>
        <p:spPr>
          <a:xfrm>
            <a:off x="432075" y="2999041"/>
            <a:ext cx="1914600" cy="13269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6766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9" type="body"/>
          </p:nvPr>
        </p:nvSpPr>
        <p:spPr>
          <a:xfrm>
            <a:off x="6955297" y="1621327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0" name="Google Shape;140;p20"/>
          <p:cNvSpPr txBox="1"/>
          <p:nvPr>
            <p:ph idx="13" type="body"/>
          </p:nvPr>
        </p:nvSpPr>
        <p:spPr>
          <a:xfrm>
            <a:off x="6955297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1" name="Google Shape;141;p20"/>
          <p:cNvSpPr txBox="1"/>
          <p:nvPr>
            <p:ph idx="14" type="body"/>
          </p:nvPr>
        </p:nvSpPr>
        <p:spPr>
          <a:xfrm>
            <a:off x="4839722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2" name="Google Shape;142;p20"/>
          <p:cNvSpPr txBox="1"/>
          <p:nvPr>
            <p:ph idx="15" type="body"/>
          </p:nvPr>
        </p:nvSpPr>
        <p:spPr>
          <a:xfrm>
            <a:off x="4839722" y="1621327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3" name="Google Shape;143;p20"/>
          <p:cNvSpPr txBox="1"/>
          <p:nvPr>
            <p:ph idx="16" type="body"/>
          </p:nvPr>
        </p:nvSpPr>
        <p:spPr>
          <a:xfrm>
            <a:off x="2715397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4" name="Google Shape;144;p20"/>
          <p:cNvSpPr txBox="1"/>
          <p:nvPr>
            <p:ph idx="17" type="body"/>
          </p:nvPr>
        </p:nvSpPr>
        <p:spPr>
          <a:xfrm>
            <a:off x="2715400" y="1621303"/>
            <a:ext cx="15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5" name="Google Shape;145;p20"/>
          <p:cNvSpPr txBox="1"/>
          <p:nvPr>
            <p:ph idx="18" type="body"/>
          </p:nvPr>
        </p:nvSpPr>
        <p:spPr>
          <a:xfrm>
            <a:off x="603322" y="1621327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6" name="Google Shape;146;p20"/>
          <p:cNvSpPr txBox="1"/>
          <p:nvPr>
            <p:ph idx="19" type="body"/>
          </p:nvPr>
        </p:nvSpPr>
        <p:spPr>
          <a:xfrm>
            <a:off x="603322" y="3099593"/>
            <a:ext cx="1577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419800" y="425875"/>
            <a:ext cx="59517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. Dark Content Modules (8)">
  <p:cSld name="4 modules contrast + desc">
    <p:bg>
      <p:bgPr>
        <a:solidFill>
          <a:schemeClr val="lt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2545425" y="820075"/>
            <a:ext cx="1922100" cy="2110800"/>
          </a:xfrm>
          <a:prstGeom prst="roundRect">
            <a:avLst>
              <a:gd fmla="val 56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670150" y="820075"/>
            <a:ext cx="1922100" cy="2110800"/>
          </a:xfrm>
          <a:prstGeom prst="roundRect">
            <a:avLst>
              <a:gd fmla="val 56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6794875" y="820075"/>
            <a:ext cx="1922100" cy="2110800"/>
          </a:xfrm>
          <a:prstGeom prst="roundRect">
            <a:avLst>
              <a:gd fmla="val 56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418650" y="820075"/>
            <a:ext cx="1922100" cy="2110800"/>
          </a:xfrm>
          <a:prstGeom prst="roundRect">
            <a:avLst>
              <a:gd fmla="val 56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19475" y="3138775"/>
            <a:ext cx="1922100" cy="1187100"/>
          </a:xfrm>
          <a:prstGeom prst="roundRect">
            <a:avLst>
              <a:gd fmla="val 900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" name="Google Shape;154;p21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Roboto Mono"/>
              <a:buNone/>
              <a:defRPr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580325" y="3333750"/>
            <a:ext cx="16005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0" spcFirstLastPara="1" rIns="0" wrap="square" tIns="41975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900">
                <a:solidFill>
                  <a:schemeClr val="lt1"/>
                </a:solidFill>
              </a:defRPr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SemiBold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6" name="Google Shape;156;p21"/>
          <p:cNvSpPr txBox="1"/>
          <p:nvPr>
            <p:ph idx="2" type="body"/>
          </p:nvPr>
        </p:nvSpPr>
        <p:spPr>
          <a:xfrm>
            <a:off x="582050" y="1574700"/>
            <a:ext cx="15996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21"/>
          <p:cNvSpPr txBox="1"/>
          <p:nvPr>
            <p:ph idx="3" type="title"/>
          </p:nvPr>
        </p:nvSpPr>
        <p:spPr>
          <a:xfrm>
            <a:off x="582000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Roboto Mono"/>
              <a:buNone/>
              <a:defRPr sz="15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58" name="Google Shape;158;p21"/>
          <p:cNvSpPr txBox="1"/>
          <p:nvPr>
            <p:ph idx="4" type="body"/>
          </p:nvPr>
        </p:nvSpPr>
        <p:spPr>
          <a:xfrm>
            <a:off x="2706725" y="1574700"/>
            <a:ext cx="15996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9" name="Google Shape;159;p21"/>
          <p:cNvSpPr txBox="1"/>
          <p:nvPr>
            <p:ph idx="5" type="title"/>
          </p:nvPr>
        </p:nvSpPr>
        <p:spPr>
          <a:xfrm>
            <a:off x="2706675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Roboto Mono"/>
              <a:buNone/>
              <a:defRPr sz="15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0" name="Google Shape;160;p21"/>
          <p:cNvSpPr txBox="1"/>
          <p:nvPr>
            <p:ph idx="6" type="body"/>
          </p:nvPr>
        </p:nvSpPr>
        <p:spPr>
          <a:xfrm>
            <a:off x="4831400" y="1574700"/>
            <a:ext cx="15996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21"/>
          <p:cNvSpPr txBox="1"/>
          <p:nvPr>
            <p:ph idx="7" type="title"/>
          </p:nvPr>
        </p:nvSpPr>
        <p:spPr>
          <a:xfrm>
            <a:off x="4831350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Roboto Mono"/>
              <a:buNone/>
              <a:defRPr sz="15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2" name="Google Shape;162;p21"/>
          <p:cNvSpPr txBox="1"/>
          <p:nvPr>
            <p:ph idx="8" type="body"/>
          </p:nvPr>
        </p:nvSpPr>
        <p:spPr>
          <a:xfrm>
            <a:off x="6956075" y="1574700"/>
            <a:ext cx="15996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21"/>
          <p:cNvSpPr txBox="1"/>
          <p:nvPr>
            <p:ph idx="9" type="title"/>
          </p:nvPr>
        </p:nvSpPr>
        <p:spPr>
          <a:xfrm>
            <a:off x="6956025" y="990900"/>
            <a:ext cx="1599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Roboto Mono"/>
              <a:buNone/>
              <a:defRPr sz="15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None/>
              <a:defRPr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64" name="Google Shape;164;p21"/>
          <p:cNvSpPr/>
          <p:nvPr/>
        </p:nvSpPr>
        <p:spPr>
          <a:xfrm>
            <a:off x="2545475" y="3138775"/>
            <a:ext cx="1922100" cy="1187100"/>
          </a:xfrm>
          <a:prstGeom prst="roundRect">
            <a:avLst>
              <a:gd fmla="val 900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21"/>
          <p:cNvSpPr txBox="1"/>
          <p:nvPr>
            <p:ph idx="13" type="body"/>
          </p:nvPr>
        </p:nvSpPr>
        <p:spPr>
          <a:xfrm>
            <a:off x="2706325" y="3333750"/>
            <a:ext cx="16005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900">
                <a:solidFill>
                  <a:schemeClr val="lt1"/>
                </a:solidFill>
              </a:defRPr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SemiBold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1"/>
          <p:cNvSpPr/>
          <p:nvPr/>
        </p:nvSpPr>
        <p:spPr>
          <a:xfrm>
            <a:off x="4671475" y="3138775"/>
            <a:ext cx="1922100" cy="1187100"/>
          </a:xfrm>
          <a:prstGeom prst="roundRect">
            <a:avLst>
              <a:gd fmla="val 900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7" name="Google Shape;167;p21"/>
          <p:cNvSpPr txBox="1"/>
          <p:nvPr>
            <p:ph idx="14" type="body"/>
          </p:nvPr>
        </p:nvSpPr>
        <p:spPr>
          <a:xfrm>
            <a:off x="4832325" y="3333750"/>
            <a:ext cx="16005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900">
                <a:solidFill>
                  <a:schemeClr val="lt1"/>
                </a:solidFill>
              </a:defRPr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SemiBold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1"/>
          <p:cNvSpPr/>
          <p:nvPr/>
        </p:nvSpPr>
        <p:spPr>
          <a:xfrm>
            <a:off x="6797475" y="3138775"/>
            <a:ext cx="1922100" cy="1187100"/>
          </a:xfrm>
          <a:prstGeom prst="roundRect">
            <a:avLst>
              <a:gd fmla="val 900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1"/>
          <p:cNvSpPr txBox="1"/>
          <p:nvPr>
            <p:ph idx="15" type="body"/>
          </p:nvPr>
        </p:nvSpPr>
        <p:spPr>
          <a:xfrm>
            <a:off x="6958325" y="3333750"/>
            <a:ext cx="16005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900">
                <a:solidFill>
                  <a:schemeClr val="lt1"/>
                </a:solidFill>
              </a:defRPr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SemiBold"/>
              <a:buNone/>
              <a:defRPr sz="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. Dark Content Modules (6)">
  <p:cSld name="4 modules contrast + desc_1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418650" y="820075"/>
            <a:ext cx="2627400" cy="2119200"/>
          </a:xfrm>
          <a:prstGeom prst="roundRect">
            <a:avLst>
              <a:gd fmla="val 48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2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Roboto Mono"/>
              <a:buNone/>
              <a:defRPr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4" name="Google Shape;174;p22"/>
          <p:cNvSpPr/>
          <p:nvPr>
            <p:ph idx="1" type="body"/>
          </p:nvPr>
        </p:nvSpPr>
        <p:spPr>
          <a:xfrm>
            <a:off x="419812" y="3138849"/>
            <a:ext cx="2627400" cy="1187100"/>
          </a:xfrm>
          <a:prstGeom prst="roundRect">
            <a:avLst>
              <a:gd fmla="val 96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2" type="body"/>
          </p:nvPr>
        </p:nvSpPr>
        <p:spPr>
          <a:xfrm>
            <a:off x="627750" y="1574700"/>
            <a:ext cx="22269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6" name="Google Shape;176;p22"/>
          <p:cNvSpPr/>
          <p:nvPr>
            <p:ph idx="3" type="body"/>
          </p:nvPr>
        </p:nvSpPr>
        <p:spPr>
          <a:xfrm>
            <a:off x="3258887" y="3138849"/>
            <a:ext cx="2627400" cy="1187100"/>
          </a:xfrm>
          <a:prstGeom prst="roundRect">
            <a:avLst>
              <a:gd fmla="val 96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2"/>
          <p:cNvSpPr/>
          <p:nvPr>
            <p:ph idx="4" type="body"/>
          </p:nvPr>
        </p:nvSpPr>
        <p:spPr>
          <a:xfrm>
            <a:off x="6097962" y="3138849"/>
            <a:ext cx="2627400" cy="1187100"/>
          </a:xfrm>
          <a:prstGeom prst="roundRect">
            <a:avLst>
              <a:gd fmla="val 96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5" type="title"/>
          </p:nvPr>
        </p:nvSpPr>
        <p:spPr>
          <a:xfrm>
            <a:off x="627750" y="990900"/>
            <a:ext cx="2196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79" name="Google Shape;179;p22"/>
          <p:cNvSpPr/>
          <p:nvPr/>
        </p:nvSpPr>
        <p:spPr>
          <a:xfrm>
            <a:off x="3258875" y="820075"/>
            <a:ext cx="2627400" cy="2119200"/>
          </a:xfrm>
          <a:prstGeom prst="roundRect">
            <a:avLst>
              <a:gd fmla="val 48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" name="Google Shape;180;p22"/>
          <p:cNvSpPr txBox="1"/>
          <p:nvPr>
            <p:ph idx="6" type="body"/>
          </p:nvPr>
        </p:nvSpPr>
        <p:spPr>
          <a:xfrm>
            <a:off x="3467825" y="1574700"/>
            <a:ext cx="22269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7" type="title"/>
          </p:nvPr>
        </p:nvSpPr>
        <p:spPr>
          <a:xfrm>
            <a:off x="3467825" y="990900"/>
            <a:ext cx="21966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82" name="Google Shape;182;p22"/>
          <p:cNvSpPr/>
          <p:nvPr/>
        </p:nvSpPr>
        <p:spPr>
          <a:xfrm>
            <a:off x="6099100" y="820075"/>
            <a:ext cx="2627400" cy="2119200"/>
          </a:xfrm>
          <a:prstGeom prst="roundRect">
            <a:avLst>
              <a:gd fmla="val 48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" name="Google Shape;183;p22"/>
          <p:cNvSpPr txBox="1"/>
          <p:nvPr>
            <p:ph idx="8" type="body"/>
          </p:nvPr>
        </p:nvSpPr>
        <p:spPr>
          <a:xfrm>
            <a:off x="6308050" y="1574700"/>
            <a:ext cx="22269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None/>
              <a:defRPr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9" type="title"/>
          </p:nvPr>
        </p:nvSpPr>
        <p:spPr>
          <a:xfrm>
            <a:off x="6320800" y="990900"/>
            <a:ext cx="21837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. Image Modules (5)">
  <p:cSld name="4 images with description_2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>
            <p:ph idx="1" type="body"/>
          </p:nvPr>
        </p:nvSpPr>
        <p:spPr>
          <a:xfrm>
            <a:off x="419802" y="3283573"/>
            <a:ext cx="1531200" cy="1017900"/>
          </a:xfrm>
          <a:prstGeom prst="roundRect">
            <a:avLst>
              <a:gd fmla="val 98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23"/>
          <p:cNvSpPr/>
          <p:nvPr>
            <p:ph idx="2" type="pic"/>
          </p:nvPr>
        </p:nvSpPr>
        <p:spPr>
          <a:xfrm>
            <a:off x="419802" y="1078525"/>
            <a:ext cx="15312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88" name="Google Shape;188;p23"/>
          <p:cNvSpPr/>
          <p:nvPr>
            <p:ph idx="3" type="body"/>
          </p:nvPr>
        </p:nvSpPr>
        <p:spPr>
          <a:xfrm>
            <a:off x="2111142" y="3283573"/>
            <a:ext cx="1531200" cy="1017900"/>
          </a:xfrm>
          <a:prstGeom prst="roundRect">
            <a:avLst>
              <a:gd fmla="val 1168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23"/>
          <p:cNvSpPr/>
          <p:nvPr>
            <p:ph idx="4" type="pic"/>
          </p:nvPr>
        </p:nvSpPr>
        <p:spPr>
          <a:xfrm>
            <a:off x="2111142" y="1078525"/>
            <a:ext cx="15312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90" name="Google Shape;190;p23"/>
          <p:cNvSpPr/>
          <p:nvPr>
            <p:ph idx="5" type="body"/>
          </p:nvPr>
        </p:nvSpPr>
        <p:spPr>
          <a:xfrm>
            <a:off x="3806902" y="3283573"/>
            <a:ext cx="1531200" cy="1017900"/>
          </a:xfrm>
          <a:prstGeom prst="roundRect">
            <a:avLst>
              <a:gd fmla="val 1168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23"/>
          <p:cNvSpPr/>
          <p:nvPr>
            <p:ph idx="6" type="pic"/>
          </p:nvPr>
        </p:nvSpPr>
        <p:spPr>
          <a:xfrm>
            <a:off x="3806902" y="1078525"/>
            <a:ext cx="15312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92" name="Google Shape;192;p23"/>
          <p:cNvSpPr/>
          <p:nvPr>
            <p:ph idx="7" type="body"/>
          </p:nvPr>
        </p:nvSpPr>
        <p:spPr>
          <a:xfrm>
            <a:off x="5498242" y="3283573"/>
            <a:ext cx="1531200" cy="1017900"/>
          </a:xfrm>
          <a:prstGeom prst="roundRect">
            <a:avLst>
              <a:gd fmla="val 1168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3" name="Google Shape;193;p23"/>
          <p:cNvSpPr/>
          <p:nvPr>
            <p:ph idx="8" type="pic"/>
          </p:nvPr>
        </p:nvSpPr>
        <p:spPr>
          <a:xfrm>
            <a:off x="5498242" y="1078525"/>
            <a:ext cx="15312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94" name="Google Shape;194;p23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95" name="Google Shape;195;p23"/>
          <p:cNvSpPr txBox="1"/>
          <p:nvPr>
            <p:ph idx="12" type="sldNum"/>
          </p:nvPr>
        </p:nvSpPr>
        <p:spPr>
          <a:xfrm>
            <a:off x="8539975" y="138438"/>
            <a:ext cx="1824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3"/>
          <p:cNvSpPr/>
          <p:nvPr>
            <p:ph idx="9" type="body"/>
          </p:nvPr>
        </p:nvSpPr>
        <p:spPr>
          <a:xfrm>
            <a:off x="7192887" y="3283573"/>
            <a:ext cx="1531200" cy="1017900"/>
          </a:xfrm>
          <a:prstGeom prst="roundRect">
            <a:avLst>
              <a:gd fmla="val 1168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23"/>
          <p:cNvSpPr/>
          <p:nvPr>
            <p:ph idx="13" type="pic"/>
          </p:nvPr>
        </p:nvSpPr>
        <p:spPr>
          <a:xfrm>
            <a:off x="7192887" y="1078525"/>
            <a:ext cx="15312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. Image Modules (10)">
  <p:cSld name="4 images with description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>
            <p:ph idx="1" type="body"/>
          </p:nvPr>
        </p:nvSpPr>
        <p:spPr>
          <a:xfrm>
            <a:off x="419800" y="1923300"/>
            <a:ext cx="1529400" cy="684300"/>
          </a:xfrm>
          <a:prstGeom prst="roundRect">
            <a:avLst>
              <a:gd fmla="val 98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0" name="Google Shape;200;p24"/>
          <p:cNvSpPr/>
          <p:nvPr>
            <p:ph idx="2" type="pic"/>
          </p:nvPr>
        </p:nvSpPr>
        <p:spPr>
          <a:xfrm>
            <a:off x="419800" y="8200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01" name="Google Shape;201;p24"/>
          <p:cNvSpPr/>
          <p:nvPr>
            <p:ph idx="3" type="body"/>
          </p:nvPr>
        </p:nvSpPr>
        <p:spPr>
          <a:xfrm>
            <a:off x="2109111" y="1923300"/>
            <a:ext cx="1529400" cy="684300"/>
          </a:xfrm>
          <a:prstGeom prst="roundRect">
            <a:avLst>
              <a:gd fmla="val 95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2" name="Google Shape;202;p24"/>
          <p:cNvSpPr/>
          <p:nvPr>
            <p:ph idx="4" type="pic"/>
          </p:nvPr>
        </p:nvSpPr>
        <p:spPr>
          <a:xfrm>
            <a:off x="2109112" y="8200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03" name="Google Shape;203;p24"/>
          <p:cNvSpPr/>
          <p:nvPr>
            <p:ph idx="5" type="body"/>
          </p:nvPr>
        </p:nvSpPr>
        <p:spPr>
          <a:xfrm>
            <a:off x="3802836" y="1923300"/>
            <a:ext cx="1529400" cy="684300"/>
          </a:xfrm>
          <a:prstGeom prst="roundRect">
            <a:avLst>
              <a:gd fmla="val 85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4" name="Google Shape;204;p24"/>
          <p:cNvSpPr/>
          <p:nvPr>
            <p:ph idx="6" type="pic"/>
          </p:nvPr>
        </p:nvSpPr>
        <p:spPr>
          <a:xfrm>
            <a:off x="3802839" y="8200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05" name="Google Shape;205;p24"/>
          <p:cNvSpPr/>
          <p:nvPr>
            <p:ph idx="7" type="body"/>
          </p:nvPr>
        </p:nvSpPr>
        <p:spPr>
          <a:xfrm>
            <a:off x="5492147" y="1923300"/>
            <a:ext cx="1529400" cy="684300"/>
          </a:xfrm>
          <a:prstGeom prst="roundRect">
            <a:avLst>
              <a:gd fmla="val 794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24"/>
          <p:cNvSpPr/>
          <p:nvPr>
            <p:ph idx="8" type="pic"/>
          </p:nvPr>
        </p:nvSpPr>
        <p:spPr>
          <a:xfrm>
            <a:off x="5492151" y="8200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07" name="Google Shape;207;p24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08" name="Google Shape;208;p24"/>
          <p:cNvSpPr/>
          <p:nvPr>
            <p:ph idx="9" type="body"/>
          </p:nvPr>
        </p:nvSpPr>
        <p:spPr>
          <a:xfrm>
            <a:off x="7194725" y="1923300"/>
            <a:ext cx="1529400" cy="684300"/>
          </a:xfrm>
          <a:prstGeom prst="roundRect">
            <a:avLst>
              <a:gd fmla="val 73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9" name="Google Shape;209;p24"/>
          <p:cNvSpPr/>
          <p:nvPr>
            <p:ph idx="13" type="pic"/>
          </p:nvPr>
        </p:nvSpPr>
        <p:spPr>
          <a:xfrm>
            <a:off x="7194725" y="8200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10" name="Google Shape;210;p24"/>
          <p:cNvSpPr/>
          <p:nvPr>
            <p:ph idx="14" type="body"/>
          </p:nvPr>
        </p:nvSpPr>
        <p:spPr>
          <a:xfrm>
            <a:off x="419800" y="3821600"/>
            <a:ext cx="1529400" cy="684300"/>
          </a:xfrm>
          <a:prstGeom prst="roundRect">
            <a:avLst>
              <a:gd fmla="val 98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24"/>
          <p:cNvSpPr/>
          <p:nvPr>
            <p:ph idx="15" type="body"/>
          </p:nvPr>
        </p:nvSpPr>
        <p:spPr>
          <a:xfrm>
            <a:off x="2109111" y="3821600"/>
            <a:ext cx="1529400" cy="684300"/>
          </a:xfrm>
          <a:prstGeom prst="roundRect">
            <a:avLst>
              <a:gd fmla="val 95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2" name="Google Shape;212;p24"/>
          <p:cNvSpPr/>
          <p:nvPr>
            <p:ph idx="16" type="body"/>
          </p:nvPr>
        </p:nvSpPr>
        <p:spPr>
          <a:xfrm>
            <a:off x="3802836" y="3821600"/>
            <a:ext cx="1529400" cy="684300"/>
          </a:xfrm>
          <a:prstGeom prst="roundRect">
            <a:avLst>
              <a:gd fmla="val 85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3" name="Google Shape;213;p24"/>
          <p:cNvSpPr/>
          <p:nvPr>
            <p:ph idx="17" type="body"/>
          </p:nvPr>
        </p:nvSpPr>
        <p:spPr>
          <a:xfrm>
            <a:off x="5492147" y="3821600"/>
            <a:ext cx="1529400" cy="684300"/>
          </a:xfrm>
          <a:prstGeom prst="roundRect">
            <a:avLst>
              <a:gd fmla="val 794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4" name="Google Shape;214;p24"/>
          <p:cNvSpPr/>
          <p:nvPr>
            <p:ph idx="18" type="body"/>
          </p:nvPr>
        </p:nvSpPr>
        <p:spPr>
          <a:xfrm>
            <a:off x="7194725" y="3821600"/>
            <a:ext cx="1529400" cy="684300"/>
          </a:xfrm>
          <a:prstGeom prst="roundRect">
            <a:avLst>
              <a:gd fmla="val 73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Inter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 SemiBold"/>
              <a:buNone/>
              <a:defRPr sz="7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Inter"/>
              <a:buNone/>
              <a:defRPr sz="7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5" name="Google Shape;215;p24"/>
          <p:cNvSpPr/>
          <p:nvPr>
            <p:ph idx="19" type="pic"/>
          </p:nvPr>
        </p:nvSpPr>
        <p:spPr>
          <a:xfrm>
            <a:off x="419800" y="27183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16" name="Google Shape;216;p24"/>
          <p:cNvSpPr/>
          <p:nvPr>
            <p:ph idx="20" type="pic"/>
          </p:nvPr>
        </p:nvSpPr>
        <p:spPr>
          <a:xfrm>
            <a:off x="2109112" y="27183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17" name="Google Shape;217;p24"/>
          <p:cNvSpPr/>
          <p:nvPr>
            <p:ph idx="21" type="pic"/>
          </p:nvPr>
        </p:nvSpPr>
        <p:spPr>
          <a:xfrm>
            <a:off x="3802839" y="27183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18" name="Google Shape;218;p24"/>
          <p:cNvSpPr/>
          <p:nvPr>
            <p:ph idx="22" type="pic"/>
          </p:nvPr>
        </p:nvSpPr>
        <p:spPr>
          <a:xfrm>
            <a:off x="5492151" y="27183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19" name="Google Shape;219;p24"/>
          <p:cNvSpPr/>
          <p:nvPr>
            <p:ph idx="23" type="pic"/>
          </p:nvPr>
        </p:nvSpPr>
        <p:spPr>
          <a:xfrm>
            <a:off x="7194725" y="2718375"/>
            <a:ext cx="1529400" cy="12171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20" name="Google Shape;220;p24"/>
          <p:cNvSpPr txBox="1"/>
          <p:nvPr>
            <p:ph idx="12" type="sldNum"/>
          </p:nvPr>
        </p:nvSpPr>
        <p:spPr>
          <a:xfrm>
            <a:off x="8539975" y="138438"/>
            <a:ext cx="1824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. Large Image Modules (3)">
  <p:cSld name="4 images with description_1_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/>
          <p:nvPr/>
        </p:nvSpPr>
        <p:spPr>
          <a:xfrm>
            <a:off x="6086525" y="1078525"/>
            <a:ext cx="2628600" cy="3247500"/>
          </a:xfrm>
          <a:prstGeom prst="roundRect">
            <a:avLst>
              <a:gd fmla="val 404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3257625" y="1078525"/>
            <a:ext cx="2628600" cy="3247500"/>
          </a:xfrm>
          <a:prstGeom prst="roundRect">
            <a:avLst>
              <a:gd fmla="val 404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420500" y="1078525"/>
            <a:ext cx="2628600" cy="3247500"/>
          </a:xfrm>
          <a:prstGeom prst="roundRect">
            <a:avLst>
              <a:gd fmla="val 404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5"/>
          <p:cNvSpPr/>
          <p:nvPr>
            <p:ph idx="1" type="body"/>
          </p:nvPr>
        </p:nvSpPr>
        <p:spPr>
          <a:xfrm>
            <a:off x="419796" y="3283573"/>
            <a:ext cx="2628600" cy="1017900"/>
          </a:xfrm>
          <a:prstGeom prst="roundRect">
            <a:avLst>
              <a:gd fmla="val 98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6" name="Google Shape;226;p25"/>
          <p:cNvSpPr/>
          <p:nvPr>
            <p:ph idx="2" type="pic"/>
          </p:nvPr>
        </p:nvSpPr>
        <p:spPr>
          <a:xfrm>
            <a:off x="419796" y="1078525"/>
            <a:ext cx="26286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27" name="Google Shape;227;p25"/>
          <p:cNvSpPr/>
          <p:nvPr>
            <p:ph idx="3" type="body"/>
          </p:nvPr>
        </p:nvSpPr>
        <p:spPr>
          <a:xfrm>
            <a:off x="3254929" y="3283573"/>
            <a:ext cx="2628600" cy="1017900"/>
          </a:xfrm>
          <a:prstGeom prst="roundRect">
            <a:avLst>
              <a:gd fmla="val 1168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8" name="Google Shape;228;p25"/>
          <p:cNvSpPr/>
          <p:nvPr>
            <p:ph idx="4" type="pic"/>
          </p:nvPr>
        </p:nvSpPr>
        <p:spPr>
          <a:xfrm>
            <a:off x="3254929" y="1078525"/>
            <a:ext cx="26286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29" name="Google Shape;229;p25"/>
          <p:cNvSpPr/>
          <p:nvPr>
            <p:ph idx="5" type="body"/>
          </p:nvPr>
        </p:nvSpPr>
        <p:spPr>
          <a:xfrm>
            <a:off x="6089350" y="3283574"/>
            <a:ext cx="2628600" cy="1017900"/>
          </a:xfrm>
          <a:prstGeom prst="roundRect">
            <a:avLst>
              <a:gd fmla="val 1168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216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25"/>
          <p:cNvSpPr/>
          <p:nvPr>
            <p:ph idx="6" type="pic"/>
          </p:nvPr>
        </p:nvSpPr>
        <p:spPr>
          <a:xfrm>
            <a:off x="6089350" y="1078525"/>
            <a:ext cx="2628600" cy="2298000"/>
          </a:xfrm>
          <a:prstGeom prst="round2SameRect">
            <a:avLst>
              <a:gd fmla="val 541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31" name="Google Shape;231;p25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. Where the world checks out">
  <p:cSld name="4 images with description_1_2_2">
    <p:bg>
      <p:bgPr>
        <a:solidFill>
          <a:schemeClr val="accen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1784250" y="2790526"/>
            <a:ext cx="55755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the world</a:t>
            </a:r>
            <a:r>
              <a:rPr b="1" lang="en" sz="24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4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checks out</a:t>
            </a:r>
            <a:endParaRPr sz="24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4" name="Google Shape;23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1600" y="2022176"/>
            <a:ext cx="4520799" cy="7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/>
          <p:nvPr/>
        </p:nvSpPr>
        <p:spPr>
          <a:xfrm>
            <a:off x="7693500" y="4527325"/>
            <a:ext cx="1155300" cy="41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1. Back cover">
  <p:cSld name="Main title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419825" y="417738"/>
            <a:ext cx="61935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600"/>
              <a:buFont typeface="Roboto Mono"/>
              <a:buNone/>
              <a:defRPr b="1" i="0" sz="66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b="1" i="0" sz="6600" cap="non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  <a:defRPr b="1" sz="6600"/>
            </a:lvl3pPr>
            <a:lvl4pPr indent="-2286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b="1" sz="6600"/>
            </a:lvl4pPr>
            <a:lvl5pPr indent="-2286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b="1" sz="66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Roboto Mono"/>
              <a:buNone/>
              <a:defRPr b="1" sz="66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  <a:defRPr b="1" sz="66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  <a:defRPr sz="6600"/>
            </a:lvl8pPr>
            <a:lvl9pPr indent="-22860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  <a:defRPr sz="6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Agenda Blocks (4)">
  <p:cSld name="CUSTOM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title"/>
          </p:nvPr>
        </p:nvSpPr>
        <p:spPr>
          <a:xfrm>
            <a:off x="419812" y="1607993"/>
            <a:ext cx="35397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 Mono"/>
              <a:buNone/>
              <a:defRPr sz="4600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40" name="Google Shape;240;p28"/>
          <p:cNvSpPr/>
          <p:nvPr>
            <p:ph idx="1" type="body"/>
          </p:nvPr>
        </p:nvSpPr>
        <p:spPr>
          <a:xfrm>
            <a:off x="427209" y="2366478"/>
            <a:ext cx="1914600" cy="19593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1" name="Google Shape;241;p28"/>
          <p:cNvSpPr/>
          <p:nvPr>
            <p:ph idx="2" type="body"/>
          </p:nvPr>
        </p:nvSpPr>
        <p:spPr>
          <a:xfrm>
            <a:off x="2551132" y="2366478"/>
            <a:ext cx="1914600" cy="19593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2" name="Google Shape;242;p28"/>
          <p:cNvSpPr/>
          <p:nvPr>
            <p:ph idx="3" type="body"/>
          </p:nvPr>
        </p:nvSpPr>
        <p:spPr>
          <a:xfrm>
            <a:off x="4668479" y="2366478"/>
            <a:ext cx="1914600" cy="19593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3" name="Google Shape;243;p28"/>
          <p:cNvSpPr/>
          <p:nvPr>
            <p:ph idx="4" type="body"/>
          </p:nvPr>
        </p:nvSpPr>
        <p:spPr>
          <a:xfrm>
            <a:off x="6805553" y="2366478"/>
            <a:ext cx="1914600" cy="19593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4" name="Google Shape;244;p28"/>
          <p:cNvSpPr txBox="1"/>
          <p:nvPr>
            <p:ph idx="5" type="body"/>
          </p:nvPr>
        </p:nvSpPr>
        <p:spPr>
          <a:xfrm>
            <a:off x="598485" y="2548886"/>
            <a:ext cx="400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b="1" i="0" sz="16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Inter"/>
              <a:buNone/>
              <a:defRPr b="1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body"/>
          </p:nvPr>
        </p:nvSpPr>
        <p:spPr>
          <a:xfrm>
            <a:off x="2715832" y="2548886"/>
            <a:ext cx="400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b="1" i="0" sz="16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Inter"/>
              <a:buNone/>
              <a:defRPr b="1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6" name="Google Shape;246;p28"/>
          <p:cNvSpPr txBox="1"/>
          <p:nvPr>
            <p:ph idx="7" type="body"/>
          </p:nvPr>
        </p:nvSpPr>
        <p:spPr>
          <a:xfrm>
            <a:off x="4839754" y="2548886"/>
            <a:ext cx="400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b="1" i="0" sz="16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Inter"/>
              <a:buNone/>
              <a:defRPr b="1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7" name="Google Shape;247;p28"/>
          <p:cNvSpPr txBox="1"/>
          <p:nvPr>
            <p:ph idx="8" type="body"/>
          </p:nvPr>
        </p:nvSpPr>
        <p:spPr>
          <a:xfrm>
            <a:off x="6970253" y="2548886"/>
            <a:ext cx="400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b="1" i="0" sz="16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Inter"/>
              <a:buNone/>
              <a:defRPr b="1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Inter"/>
              <a:buNone/>
              <a:defRPr b="1" sz="16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. Columns (4)">
  <p:cSld name="4 column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419812" y="1202978"/>
            <a:ext cx="1921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idx="2" type="body"/>
          </p:nvPr>
        </p:nvSpPr>
        <p:spPr>
          <a:xfrm>
            <a:off x="2544547" y="1202978"/>
            <a:ext cx="1921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252" name="Google Shape;252;p29"/>
          <p:cNvSpPr txBox="1"/>
          <p:nvPr>
            <p:ph idx="3" type="body"/>
          </p:nvPr>
        </p:nvSpPr>
        <p:spPr>
          <a:xfrm>
            <a:off x="4669281" y="1202978"/>
            <a:ext cx="1921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253" name="Google Shape;253;p29"/>
          <p:cNvSpPr txBox="1"/>
          <p:nvPr>
            <p:ph idx="4" type="body"/>
          </p:nvPr>
        </p:nvSpPr>
        <p:spPr>
          <a:xfrm>
            <a:off x="6794016" y="1202978"/>
            <a:ext cx="19215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. Statement (Light)">
  <p:cSld name="Divider Red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idx="1" type="subTitle"/>
          </p:nvPr>
        </p:nvSpPr>
        <p:spPr>
          <a:xfrm>
            <a:off x="419825" y="814075"/>
            <a:ext cx="4149300" cy="395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600"/>
              </a:spcBef>
              <a:spcAft>
                <a:spcPts val="0"/>
              </a:spcAft>
              <a:buSzPts val="1400"/>
              <a:buFont typeface="Inter SemiBold"/>
              <a:buNone/>
              <a:defRPr sz="14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700"/>
              </a:spcBef>
              <a:spcAft>
                <a:spcPts val="0"/>
              </a:spcAft>
              <a:buSzPts val="1400"/>
              <a:buFont typeface="Inter SemiBold"/>
              <a:buNone/>
              <a:defRPr sz="14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100"/>
              </a:spcBef>
              <a:spcAft>
                <a:spcPts val="0"/>
              </a:spcAft>
              <a:buSzPts val="1400"/>
              <a:buFont typeface="Inter SemiBold"/>
              <a:buNone/>
              <a:defRPr sz="14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1200"/>
              </a:spcBef>
              <a:spcAft>
                <a:spcPts val="80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2" type="body"/>
          </p:nvPr>
        </p:nvSpPr>
        <p:spPr>
          <a:xfrm>
            <a:off x="396000" y="1209775"/>
            <a:ext cx="7105800" cy="24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Font typeface="Roboto Mono Medium"/>
              <a:buNone/>
              <a:defRPr i="0" sz="3300" cap="none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2286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Font typeface="Roboto Mono Medium"/>
              <a:buNone/>
              <a:defRPr i="0" sz="3300" cap="none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2286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Mono Medium"/>
              <a:buNone/>
              <a:defRPr sz="33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2286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Font typeface="Roboto Mono Medium"/>
              <a:buNone/>
              <a:defRPr sz="33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2286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Font typeface="Roboto Mono Medium"/>
              <a:buNone/>
              <a:defRPr sz="33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2286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Mono Medium"/>
              <a:buNone/>
              <a:defRPr sz="33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22860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Mono Medium"/>
              <a:buNone/>
              <a:defRPr sz="33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2286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Mono Medium"/>
              <a:buNone/>
              <a:defRPr b="0" sz="33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22860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Mono Medium"/>
              <a:buNone/>
              <a:defRPr b="0" sz="33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. Statement (Dark)">
  <p:cSld name="Divider Red_1_1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idx="1" type="subTitle"/>
          </p:nvPr>
        </p:nvSpPr>
        <p:spPr>
          <a:xfrm>
            <a:off x="419825" y="814075"/>
            <a:ext cx="4149300" cy="395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None/>
              <a:defRPr b="1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2" type="body"/>
          </p:nvPr>
        </p:nvSpPr>
        <p:spPr>
          <a:xfrm>
            <a:off x="396000" y="1209775"/>
            <a:ext cx="7105800" cy="24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i="0" sz="3300" cap="non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2286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i="0" sz="3300" cap="non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2286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sz="3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2286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sz="3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2286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sz="3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2286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sz="3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22860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sz="3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2286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b="0" sz="3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22860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 Mono Medium"/>
              <a:buNone/>
              <a:defRPr b="0" sz="3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. Images Modules (4)">
  <p:cSld name="4 images with description_3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62" name="Google Shape;262;p32"/>
          <p:cNvSpPr/>
          <p:nvPr/>
        </p:nvSpPr>
        <p:spPr>
          <a:xfrm>
            <a:off x="420500" y="1489950"/>
            <a:ext cx="1922100" cy="2836200"/>
          </a:xfrm>
          <a:prstGeom prst="roundRect">
            <a:avLst>
              <a:gd fmla="val 40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32"/>
          <p:cNvSpPr/>
          <p:nvPr>
            <p:ph idx="2" type="pic"/>
          </p:nvPr>
        </p:nvSpPr>
        <p:spPr>
          <a:xfrm>
            <a:off x="419800" y="1078525"/>
            <a:ext cx="1922100" cy="1798500"/>
          </a:xfrm>
          <a:prstGeom prst="round2SameRect">
            <a:avLst>
              <a:gd fmla="val 588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64" name="Google Shape;264;p32"/>
          <p:cNvSpPr txBox="1"/>
          <p:nvPr>
            <p:ph idx="1" type="subTitle"/>
          </p:nvPr>
        </p:nvSpPr>
        <p:spPr>
          <a:xfrm>
            <a:off x="565700" y="3135475"/>
            <a:ext cx="1648200" cy="6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oboto Mono"/>
              <a:buNone/>
              <a:defRPr b="1"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SzPts val="20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idx="3" type="body"/>
          </p:nvPr>
        </p:nvSpPr>
        <p:spPr>
          <a:xfrm>
            <a:off x="565700" y="3767275"/>
            <a:ext cx="1648200" cy="44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266" name="Google Shape;266;p32"/>
          <p:cNvSpPr/>
          <p:nvPr/>
        </p:nvSpPr>
        <p:spPr>
          <a:xfrm>
            <a:off x="2544850" y="1489950"/>
            <a:ext cx="1922100" cy="2836200"/>
          </a:xfrm>
          <a:prstGeom prst="roundRect">
            <a:avLst>
              <a:gd fmla="val 40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32"/>
          <p:cNvSpPr/>
          <p:nvPr>
            <p:ph idx="4" type="pic"/>
          </p:nvPr>
        </p:nvSpPr>
        <p:spPr>
          <a:xfrm>
            <a:off x="2544150" y="1078525"/>
            <a:ext cx="1922100" cy="1798500"/>
          </a:xfrm>
          <a:prstGeom prst="round2SameRect">
            <a:avLst>
              <a:gd fmla="val 588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68" name="Google Shape;268;p32"/>
          <p:cNvSpPr txBox="1"/>
          <p:nvPr>
            <p:ph idx="5" type="subTitle"/>
          </p:nvPr>
        </p:nvSpPr>
        <p:spPr>
          <a:xfrm>
            <a:off x="2690050" y="3135475"/>
            <a:ext cx="1648200" cy="6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oboto Mono"/>
              <a:buNone/>
              <a:defRPr b="1"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SzPts val="2000"/>
              <a:buNone/>
              <a:defRPr/>
            </a:lvl9pPr>
          </a:lstStyle>
          <a:p/>
        </p:txBody>
      </p:sp>
      <p:sp>
        <p:nvSpPr>
          <p:cNvPr id="269" name="Google Shape;269;p32"/>
          <p:cNvSpPr txBox="1"/>
          <p:nvPr>
            <p:ph idx="6" type="body"/>
          </p:nvPr>
        </p:nvSpPr>
        <p:spPr>
          <a:xfrm>
            <a:off x="2690050" y="3767275"/>
            <a:ext cx="1648200" cy="44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270" name="Google Shape;270;p32"/>
          <p:cNvSpPr/>
          <p:nvPr/>
        </p:nvSpPr>
        <p:spPr>
          <a:xfrm>
            <a:off x="4671075" y="1489950"/>
            <a:ext cx="1922100" cy="2836200"/>
          </a:xfrm>
          <a:prstGeom prst="roundRect">
            <a:avLst>
              <a:gd fmla="val 40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32"/>
          <p:cNvSpPr/>
          <p:nvPr>
            <p:ph idx="7" type="pic"/>
          </p:nvPr>
        </p:nvSpPr>
        <p:spPr>
          <a:xfrm>
            <a:off x="4670375" y="1078525"/>
            <a:ext cx="1922100" cy="1798500"/>
          </a:xfrm>
          <a:prstGeom prst="round2SameRect">
            <a:avLst>
              <a:gd fmla="val 588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72" name="Google Shape;272;p32"/>
          <p:cNvSpPr txBox="1"/>
          <p:nvPr>
            <p:ph idx="8" type="subTitle"/>
          </p:nvPr>
        </p:nvSpPr>
        <p:spPr>
          <a:xfrm>
            <a:off x="4816275" y="3135475"/>
            <a:ext cx="1648200" cy="6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oboto Mono"/>
              <a:buNone/>
              <a:defRPr b="1"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SzPts val="2000"/>
              <a:buNone/>
              <a:defRPr/>
            </a:lvl9pPr>
          </a:lstStyle>
          <a:p/>
        </p:txBody>
      </p:sp>
      <p:sp>
        <p:nvSpPr>
          <p:cNvPr id="273" name="Google Shape;273;p32"/>
          <p:cNvSpPr txBox="1"/>
          <p:nvPr>
            <p:ph idx="9" type="body"/>
          </p:nvPr>
        </p:nvSpPr>
        <p:spPr>
          <a:xfrm>
            <a:off x="4847175" y="3767275"/>
            <a:ext cx="1648200" cy="44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274" name="Google Shape;274;p32"/>
          <p:cNvSpPr/>
          <p:nvPr/>
        </p:nvSpPr>
        <p:spPr>
          <a:xfrm>
            <a:off x="6796600" y="1489950"/>
            <a:ext cx="1922100" cy="2836200"/>
          </a:xfrm>
          <a:prstGeom prst="roundRect">
            <a:avLst>
              <a:gd fmla="val 40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32"/>
          <p:cNvSpPr/>
          <p:nvPr>
            <p:ph idx="13" type="pic"/>
          </p:nvPr>
        </p:nvSpPr>
        <p:spPr>
          <a:xfrm>
            <a:off x="6795900" y="1078525"/>
            <a:ext cx="1922100" cy="1798500"/>
          </a:xfrm>
          <a:prstGeom prst="round2SameRect">
            <a:avLst>
              <a:gd fmla="val 588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76" name="Google Shape;276;p32"/>
          <p:cNvSpPr txBox="1"/>
          <p:nvPr>
            <p:ph idx="14" type="subTitle"/>
          </p:nvPr>
        </p:nvSpPr>
        <p:spPr>
          <a:xfrm>
            <a:off x="6941800" y="3135475"/>
            <a:ext cx="1648200" cy="6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oboto Mono"/>
              <a:buNone/>
              <a:defRPr b="1"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SzPts val="2000"/>
              <a:buNone/>
              <a:defRPr/>
            </a:lvl9pPr>
          </a:lstStyle>
          <a:p/>
        </p:txBody>
      </p:sp>
      <p:sp>
        <p:nvSpPr>
          <p:cNvPr id="277" name="Google Shape;277;p32"/>
          <p:cNvSpPr txBox="1"/>
          <p:nvPr>
            <p:ph idx="15" type="body"/>
          </p:nvPr>
        </p:nvSpPr>
        <p:spPr>
          <a:xfrm>
            <a:off x="6941800" y="3767275"/>
            <a:ext cx="1648200" cy="44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. Title + Framed Image (Right)">
  <p:cSld name="L Side panel + 2/3 module_1">
    <p:bg>
      <p:bgPr>
        <a:solidFill>
          <a:schemeClr val="lt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/>
          <p:nvPr>
            <p:ph idx="2" type="pic"/>
          </p:nvPr>
        </p:nvSpPr>
        <p:spPr>
          <a:xfrm>
            <a:off x="3255350" y="421050"/>
            <a:ext cx="5461200" cy="3916500"/>
          </a:xfrm>
          <a:prstGeom prst="roundRect">
            <a:avLst>
              <a:gd fmla="val 2034" name="adj"/>
            </a:avLst>
          </a:prstGeom>
          <a:noFill/>
          <a:ln>
            <a:noFill/>
          </a:ln>
        </p:spPr>
      </p:sp>
      <p:sp>
        <p:nvSpPr>
          <p:cNvPr id="280" name="Google Shape;280;p33"/>
          <p:cNvSpPr txBox="1"/>
          <p:nvPr>
            <p:ph type="title"/>
          </p:nvPr>
        </p:nvSpPr>
        <p:spPr>
          <a:xfrm>
            <a:off x="419800" y="417748"/>
            <a:ext cx="2628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419800" y="1158500"/>
            <a:ext cx="26280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. Title + Framed Image (Left)">
  <p:cSld name="L Side panel + 2/3 module_1_1_1_1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419850" y="421050"/>
            <a:ext cx="4047600" cy="3916500"/>
          </a:xfrm>
          <a:prstGeom prst="roundRect">
            <a:avLst>
              <a:gd fmla="val 2034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 txBox="1"/>
          <p:nvPr>
            <p:ph type="title"/>
          </p:nvPr>
        </p:nvSpPr>
        <p:spPr>
          <a:xfrm>
            <a:off x="4669725" y="425875"/>
            <a:ext cx="28320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4669725" y="1158500"/>
            <a:ext cx="33375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. Narrow Columns (3) + Wide Column">
  <p:cSld name="4 columns_2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8" name="Google Shape;288;p35"/>
          <p:cNvSpPr txBox="1"/>
          <p:nvPr>
            <p:ph idx="1" type="body"/>
          </p:nvPr>
        </p:nvSpPr>
        <p:spPr>
          <a:xfrm>
            <a:off x="419800" y="1202975"/>
            <a:ext cx="14841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289" name="Google Shape;289;p35"/>
          <p:cNvSpPr txBox="1"/>
          <p:nvPr>
            <p:ph idx="2" type="body"/>
          </p:nvPr>
        </p:nvSpPr>
        <p:spPr>
          <a:xfrm>
            <a:off x="6085728" y="1202975"/>
            <a:ext cx="2629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290" name="Google Shape;290;p35"/>
          <p:cNvSpPr txBox="1"/>
          <p:nvPr>
            <p:ph idx="3" type="body"/>
          </p:nvPr>
        </p:nvSpPr>
        <p:spPr>
          <a:xfrm>
            <a:off x="2155638" y="1202975"/>
            <a:ext cx="14841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291" name="Google Shape;291;p35"/>
          <p:cNvSpPr txBox="1"/>
          <p:nvPr>
            <p:ph idx="4" type="body"/>
          </p:nvPr>
        </p:nvSpPr>
        <p:spPr>
          <a:xfrm>
            <a:off x="3891475" y="1202975"/>
            <a:ext cx="14841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. Small Image Modules (3)">
  <p:cSld name="4 images with description_1_2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/>
          <p:nvPr/>
        </p:nvSpPr>
        <p:spPr>
          <a:xfrm>
            <a:off x="6086525" y="1078525"/>
            <a:ext cx="2628600" cy="3247500"/>
          </a:xfrm>
          <a:prstGeom prst="roundRect">
            <a:avLst>
              <a:gd fmla="val 40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36"/>
          <p:cNvSpPr/>
          <p:nvPr>
            <p:ph idx="2" type="pic"/>
          </p:nvPr>
        </p:nvSpPr>
        <p:spPr>
          <a:xfrm>
            <a:off x="6085825" y="1078525"/>
            <a:ext cx="2628600" cy="1573200"/>
          </a:xfrm>
          <a:prstGeom prst="round2SameRect">
            <a:avLst>
              <a:gd fmla="val 7755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95" name="Google Shape;295;p36"/>
          <p:cNvSpPr/>
          <p:nvPr/>
        </p:nvSpPr>
        <p:spPr>
          <a:xfrm>
            <a:off x="3257625" y="1078525"/>
            <a:ext cx="2628600" cy="3247500"/>
          </a:xfrm>
          <a:prstGeom prst="roundRect">
            <a:avLst>
              <a:gd fmla="val 40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36"/>
          <p:cNvSpPr/>
          <p:nvPr>
            <p:ph idx="3" type="pic"/>
          </p:nvPr>
        </p:nvSpPr>
        <p:spPr>
          <a:xfrm>
            <a:off x="3256925" y="1078525"/>
            <a:ext cx="2628600" cy="1573200"/>
          </a:xfrm>
          <a:prstGeom prst="round2SameRect">
            <a:avLst>
              <a:gd fmla="val 7755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97" name="Google Shape;297;p36"/>
          <p:cNvSpPr/>
          <p:nvPr/>
        </p:nvSpPr>
        <p:spPr>
          <a:xfrm>
            <a:off x="420500" y="1078525"/>
            <a:ext cx="2628600" cy="3247500"/>
          </a:xfrm>
          <a:prstGeom prst="roundRect">
            <a:avLst>
              <a:gd fmla="val 40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36"/>
          <p:cNvSpPr/>
          <p:nvPr>
            <p:ph idx="4" type="pic"/>
          </p:nvPr>
        </p:nvSpPr>
        <p:spPr>
          <a:xfrm>
            <a:off x="419800" y="1078525"/>
            <a:ext cx="2628600" cy="1573200"/>
          </a:xfrm>
          <a:prstGeom prst="round2SameRect">
            <a:avLst>
              <a:gd fmla="val 7755" name="adj1"/>
              <a:gd fmla="val 0" name="adj2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99" name="Google Shape;299;p36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00" name="Google Shape;300;p36"/>
          <p:cNvSpPr txBox="1"/>
          <p:nvPr>
            <p:ph idx="1" type="subTitle"/>
          </p:nvPr>
        </p:nvSpPr>
        <p:spPr>
          <a:xfrm>
            <a:off x="608600" y="2877050"/>
            <a:ext cx="2226300" cy="6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1600"/>
              <a:buFont typeface="Roboto Mono"/>
              <a:buNone/>
              <a:defRPr b="1"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301" name="Google Shape;301;p36"/>
          <p:cNvSpPr txBox="1"/>
          <p:nvPr>
            <p:ph idx="5" type="body"/>
          </p:nvPr>
        </p:nvSpPr>
        <p:spPr>
          <a:xfrm>
            <a:off x="608600" y="3636875"/>
            <a:ext cx="2272500" cy="44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302" name="Google Shape;302;p36"/>
          <p:cNvSpPr txBox="1"/>
          <p:nvPr>
            <p:ph idx="6" type="subTitle"/>
          </p:nvPr>
        </p:nvSpPr>
        <p:spPr>
          <a:xfrm>
            <a:off x="3443375" y="2877050"/>
            <a:ext cx="2226300" cy="6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1600"/>
              <a:buFont typeface="Roboto Mono"/>
              <a:buNone/>
              <a:defRPr b="1"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7" type="body"/>
          </p:nvPr>
        </p:nvSpPr>
        <p:spPr>
          <a:xfrm>
            <a:off x="3443375" y="3636875"/>
            <a:ext cx="2272500" cy="44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304" name="Google Shape;304;p36"/>
          <p:cNvSpPr txBox="1"/>
          <p:nvPr>
            <p:ph idx="8" type="subTitle"/>
          </p:nvPr>
        </p:nvSpPr>
        <p:spPr>
          <a:xfrm>
            <a:off x="6283600" y="2877050"/>
            <a:ext cx="2226300" cy="6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1600"/>
              <a:buFont typeface="Roboto Mono"/>
              <a:buNone/>
              <a:defRPr b="1"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idx="9" type="body"/>
          </p:nvPr>
        </p:nvSpPr>
        <p:spPr>
          <a:xfrm>
            <a:off x="6278150" y="3636875"/>
            <a:ext cx="2277900" cy="44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>
              <a:spcBef>
                <a:spcPts val="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>
              <a:spcBef>
                <a:spcPts val="7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10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spcBef>
                <a:spcPts val="1200"/>
              </a:spcBef>
              <a:spcAft>
                <a:spcPts val="80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Divider with Image (Light)">
  <p:cSld name="CUSTOM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/>
          <p:nvPr>
            <p:ph idx="2" type="pic"/>
          </p:nvPr>
        </p:nvSpPr>
        <p:spPr>
          <a:xfrm>
            <a:off x="3255350" y="417750"/>
            <a:ext cx="5461200" cy="3919800"/>
          </a:xfrm>
          <a:prstGeom prst="roundRect">
            <a:avLst>
              <a:gd fmla="val 2034" name="adj"/>
            </a:avLst>
          </a:prstGeom>
          <a:noFill/>
          <a:ln>
            <a:noFill/>
          </a:ln>
        </p:spPr>
      </p:sp>
      <p:sp>
        <p:nvSpPr>
          <p:cNvPr id="308" name="Google Shape;308;p37"/>
          <p:cNvSpPr txBox="1"/>
          <p:nvPr>
            <p:ph type="title"/>
          </p:nvPr>
        </p:nvSpPr>
        <p:spPr>
          <a:xfrm>
            <a:off x="419800" y="417754"/>
            <a:ext cx="2628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Divider with Image (Dark)">
  <p:cSld name="CUSTOM_1_1">
    <p:bg>
      <p:bgPr>
        <a:solidFill>
          <a:schemeClr val="dk2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/>
          <p:nvPr>
            <p:ph idx="2" type="pic"/>
          </p:nvPr>
        </p:nvSpPr>
        <p:spPr>
          <a:xfrm>
            <a:off x="3255350" y="417750"/>
            <a:ext cx="5461200" cy="3919800"/>
          </a:xfrm>
          <a:prstGeom prst="roundRect">
            <a:avLst>
              <a:gd fmla="val 2034" name="adj"/>
            </a:avLst>
          </a:prstGeom>
          <a:noFill/>
          <a:ln>
            <a:noFill/>
          </a:ln>
        </p:spPr>
      </p:sp>
      <p:sp>
        <p:nvSpPr>
          <p:cNvPr id="311" name="Google Shape;311;p38"/>
          <p:cNvSpPr txBox="1"/>
          <p:nvPr>
            <p:ph type="title"/>
          </p:nvPr>
        </p:nvSpPr>
        <p:spPr>
          <a:xfrm>
            <a:off x="419800" y="417754"/>
            <a:ext cx="2628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. Text Modules (4) + Large Module">
  <p:cSld name="L Side panel + 2/3 module_2_1">
    <p:bg>
      <p:bgPr>
        <a:solidFill>
          <a:schemeClr val="lt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/>
          <p:nvPr/>
        </p:nvSpPr>
        <p:spPr>
          <a:xfrm>
            <a:off x="427200" y="1653300"/>
            <a:ext cx="2619900" cy="52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427200" y="3796993"/>
            <a:ext cx="2619900" cy="5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b="1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427200" y="3082429"/>
            <a:ext cx="2619900" cy="5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b="1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427200" y="2367864"/>
            <a:ext cx="2619900" cy="5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b="1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7" name="Google Shape;317;p39"/>
          <p:cNvSpPr txBox="1"/>
          <p:nvPr>
            <p:ph type="title"/>
          </p:nvPr>
        </p:nvSpPr>
        <p:spPr>
          <a:xfrm>
            <a:off x="419800" y="425877"/>
            <a:ext cx="45849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8" name="Google Shape;318;p39"/>
          <p:cNvSpPr/>
          <p:nvPr/>
        </p:nvSpPr>
        <p:spPr>
          <a:xfrm>
            <a:off x="3254325" y="1658100"/>
            <a:ext cx="5461200" cy="2676300"/>
          </a:xfrm>
          <a:prstGeom prst="roundRect">
            <a:avLst>
              <a:gd fmla="val 28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9" name="Google Shape;319;p39"/>
          <p:cNvSpPr txBox="1"/>
          <p:nvPr>
            <p:ph idx="2" type="title"/>
          </p:nvPr>
        </p:nvSpPr>
        <p:spPr>
          <a:xfrm>
            <a:off x="595650" y="1810950"/>
            <a:ext cx="2264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13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  <p:sp>
        <p:nvSpPr>
          <p:cNvPr id="320" name="Google Shape;320;p39"/>
          <p:cNvSpPr txBox="1"/>
          <p:nvPr>
            <p:ph idx="3" type="title"/>
          </p:nvPr>
        </p:nvSpPr>
        <p:spPr>
          <a:xfrm>
            <a:off x="595650" y="2525513"/>
            <a:ext cx="2264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13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  <p:sp>
        <p:nvSpPr>
          <p:cNvPr id="321" name="Google Shape;321;p39"/>
          <p:cNvSpPr txBox="1"/>
          <p:nvPr>
            <p:ph idx="4" type="title"/>
          </p:nvPr>
        </p:nvSpPr>
        <p:spPr>
          <a:xfrm>
            <a:off x="595650" y="3240075"/>
            <a:ext cx="2264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13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  <p:sp>
        <p:nvSpPr>
          <p:cNvPr id="322" name="Google Shape;322;p39"/>
          <p:cNvSpPr txBox="1"/>
          <p:nvPr>
            <p:ph idx="5" type="title"/>
          </p:nvPr>
        </p:nvSpPr>
        <p:spPr>
          <a:xfrm>
            <a:off x="595650" y="3954625"/>
            <a:ext cx="2264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13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"/>
              <a:buFont typeface="Roboto Mono Medium"/>
              <a:buNone/>
              <a:defRPr b="0" sz="29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. Space + Large Module">
  <p:cSld name="L Side panel + 2/3 module_2_1_2">
    <p:bg>
      <p:bgPr>
        <a:solidFill>
          <a:schemeClr val="lt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/>
          <p:nvPr>
            <p:ph type="title"/>
          </p:nvPr>
        </p:nvSpPr>
        <p:spPr>
          <a:xfrm>
            <a:off x="419800" y="425877"/>
            <a:ext cx="45849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5" name="Google Shape;325;p40"/>
          <p:cNvSpPr/>
          <p:nvPr/>
        </p:nvSpPr>
        <p:spPr>
          <a:xfrm>
            <a:off x="3254325" y="1658100"/>
            <a:ext cx="5461200" cy="2676300"/>
          </a:xfrm>
          <a:prstGeom prst="roundRect">
            <a:avLst>
              <a:gd fmla="val 28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. Text Modules (9) + Space">
  <p:cSld name="L Side panel + 2/3 module_2_1_1">
    <p:bg>
      <p:bgPr>
        <a:solidFill>
          <a:schemeClr val="lt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419800" y="425876"/>
            <a:ext cx="4584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8" name="Google Shape;328;p41"/>
          <p:cNvSpPr/>
          <p:nvPr>
            <p:ph idx="1" type="body"/>
          </p:nvPr>
        </p:nvSpPr>
        <p:spPr>
          <a:xfrm>
            <a:off x="419825" y="820075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9" name="Google Shape;329;p41"/>
          <p:cNvSpPr txBox="1"/>
          <p:nvPr>
            <p:ph idx="2" type="title"/>
          </p:nvPr>
        </p:nvSpPr>
        <p:spPr>
          <a:xfrm>
            <a:off x="575350" y="1116175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30" name="Google Shape;330;p41"/>
          <p:cNvSpPr/>
          <p:nvPr>
            <p:ph idx="3" type="body"/>
          </p:nvPr>
        </p:nvSpPr>
        <p:spPr>
          <a:xfrm>
            <a:off x="419825" y="2059875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4" type="title"/>
          </p:nvPr>
        </p:nvSpPr>
        <p:spPr>
          <a:xfrm>
            <a:off x="575350" y="2355975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32" name="Google Shape;332;p41"/>
          <p:cNvSpPr/>
          <p:nvPr>
            <p:ph idx="5" type="body"/>
          </p:nvPr>
        </p:nvSpPr>
        <p:spPr>
          <a:xfrm>
            <a:off x="419825" y="3293300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6" type="title"/>
          </p:nvPr>
        </p:nvSpPr>
        <p:spPr>
          <a:xfrm>
            <a:off x="575350" y="3589400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34" name="Google Shape;334;p41"/>
          <p:cNvSpPr/>
          <p:nvPr>
            <p:ph idx="7" type="body"/>
          </p:nvPr>
        </p:nvSpPr>
        <p:spPr>
          <a:xfrm>
            <a:off x="2544150" y="820075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8" type="title"/>
          </p:nvPr>
        </p:nvSpPr>
        <p:spPr>
          <a:xfrm>
            <a:off x="2699675" y="1116175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36" name="Google Shape;336;p41"/>
          <p:cNvSpPr/>
          <p:nvPr>
            <p:ph idx="9" type="body"/>
          </p:nvPr>
        </p:nvSpPr>
        <p:spPr>
          <a:xfrm>
            <a:off x="2544150" y="2059875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3" type="title"/>
          </p:nvPr>
        </p:nvSpPr>
        <p:spPr>
          <a:xfrm>
            <a:off x="2699675" y="2355975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38" name="Google Shape;338;p41"/>
          <p:cNvSpPr/>
          <p:nvPr>
            <p:ph idx="14" type="body"/>
          </p:nvPr>
        </p:nvSpPr>
        <p:spPr>
          <a:xfrm>
            <a:off x="2544150" y="3293300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5" type="title"/>
          </p:nvPr>
        </p:nvSpPr>
        <p:spPr>
          <a:xfrm>
            <a:off x="2699675" y="3589400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40" name="Google Shape;340;p41"/>
          <p:cNvSpPr/>
          <p:nvPr>
            <p:ph idx="16" type="body"/>
          </p:nvPr>
        </p:nvSpPr>
        <p:spPr>
          <a:xfrm>
            <a:off x="4668475" y="820075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17" type="title"/>
          </p:nvPr>
        </p:nvSpPr>
        <p:spPr>
          <a:xfrm>
            <a:off x="4824000" y="1116175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42" name="Google Shape;342;p41"/>
          <p:cNvSpPr/>
          <p:nvPr>
            <p:ph idx="18" type="body"/>
          </p:nvPr>
        </p:nvSpPr>
        <p:spPr>
          <a:xfrm>
            <a:off x="4668475" y="2059875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19" type="title"/>
          </p:nvPr>
        </p:nvSpPr>
        <p:spPr>
          <a:xfrm>
            <a:off x="4824000" y="2355975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44" name="Google Shape;344;p41"/>
          <p:cNvSpPr/>
          <p:nvPr>
            <p:ph idx="20" type="body"/>
          </p:nvPr>
        </p:nvSpPr>
        <p:spPr>
          <a:xfrm>
            <a:off x="4668475" y="3293300"/>
            <a:ext cx="1922100" cy="1032600"/>
          </a:xfrm>
          <a:prstGeom prst="roundRect">
            <a:avLst>
              <a:gd fmla="val 109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46300" spcFirstLastPara="1" rIns="146300" wrap="square" tIns="5943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Inter"/>
              <a:buNone/>
              <a:defRPr sz="8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21" type="title"/>
          </p:nvPr>
        </p:nvSpPr>
        <p:spPr>
          <a:xfrm>
            <a:off x="4824000" y="3589400"/>
            <a:ext cx="1569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12" type="sldNum"/>
          </p:nvPr>
        </p:nvSpPr>
        <p:spPr>
          <a:xfrm>
            <a:off x="388850" y="4643277"/>
            <a:ext cx="1824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. Side Content Modules (4)">
  <p:cSld name="CUSTOM_1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/>
          <p:nvPr>
            <p:ph idx="1" type="body"/>
          </p:nvPr>
        </p:nvSpPr>
        <p:spPr>
          <a:xfrm>
            <a:off x="6085725" y="425875"/>
            <a:ext cx="2629800" cy="18447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432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2" type="body"/>
          </p:nvPr>
        </p:nvSpPr>
        <p:spPr>
          <a:xfrm>
            <a:off x="6085725" y="2481150"/>
            <a:ext cx="2629800" cy="18447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432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0" name="Google Shape;350;p42"/>
          <p:cNvSpPr txBox="1"/>
          <p:nvPr>
            <p:ph type="title"/>
          </p:nvPr>
        </p:nvSpPr>
        <p:spPr>
          <a:xfrm>
            <a:off x="419801" y="425875"/>
            <a:ext cx="2629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1" name="Google Shape;351;p42"/>
          <p:cNvSpPr txBox="1"/>
          <p:nvPr>
            <p:ph idx="3" type="body"/>
          </p:nvPr>
        </p:nvSpPr>
        <p:spPr>
          <a:xfrm>
            <a:off x="6256975" y="565675"/>
            <a:ext cx="2277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2" name="Google Shape;352;p42"/>
          <p:cNvSpPr txBox="1"/>
          <p:nvPr>
            <p:ph idx="4" type="body"/>
          </p:nvPr>
        </p:nvSpPr>
        <p:spPr>
          <a:xfrm>
            <a:off x="6256975" y="2620950"/>
            <a:ext cx="2277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3" name="Google Shape;353;p42"/>
          <p:cNvSpPr/>
          <p:nvPr>
            <p:ph idx="5" type="body"/>
          </p:nvPr>
        </p:nvSpPr>
        <p:spPr>
          <a:xfrm>
            <a:off x="3254325" y="425875"/>
            <a:ext cx="2629800" cy="18447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432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4" name="Google Shape;354;p42"/>
          <p:cNvSpPr/>
          <p:nvPr>
            <p:ph idx="6" type="body"/>
          </p:nvPr>
        </p:nvSpPr>
        <p:spPr>
          <a:xfrm>
            <a:off x="3254325" y="2481150"/>
            <a:ext cx="2629800" cy="18447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432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5" name="Google Shape;355;p42"/>
          <p:cNvSpPr txBox="1"/>
          <p:nvPr>
            <p:ph idx="7" type="body"/>
          </p:nvPr>
        </p:nvSpPr>
        <p:spPr>
          <a:xfrm>
            <a:off x="3425575" y="565675"/>
            <a:ext cx="2277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6" name="Google Shape;356;p42"/>
          <p:cNvSpPr txBox="1"/>
          <p:nvPr>
            <p:ph idx="8" type="body"/>
          </p:nvPr>
        </p:nvSpPr>
        <p:spPr>
          <a:xfrm>
            <a:off x="3425575" y="2620950"/>
            <a:ext cx="2277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. Blue Module + Content Modules (2)">
  <p:cSld name="CUSTOM_1_1_1_2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3"/>
          <p:cNvSpPr/>
          <p:nvPr>
            <p:ph idx="1" type="body"/>
          </p:nvPr>
        </p:nvSpPr>
        <p:spPr>
          <a:xfrm>
            <a:off x="6085725" y="425875"/>
            <a:ext cx="2629800" cy="39000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82875" lIns="182875" spcFirstLastPara="1" rIns="182875" wrap="square" tIns="2468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9" name="Google Shape;359;p43"/>
          <p:cNvSpPr/>
          <p:nvPr>
            <p:ph idx="2" type="body"/>
          </p:nvPr>
        </p:nvSpPr>
        <p:spPr>
          <a:xfrm>
            <a:off x="3254325" y="425875"/>
            <a:ext cx="2629800" cy="39000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82875" lIns="182875" spcFirstLastPara="1" rIns="182875" wrap="square" tIns="2468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60" name="Google Shape;360;p43"/>
          <p:cNvSpPr/>
          <p:nvPr/>
        </p:nvSpPr>
        <p:spPr>
          <a:xfrm>
            <a:off x="419825" y="425875"/>
            <a:ext cx="2629800" cy="1343700"/>
          </a:xfrm>
          <a:prstGeom prst="roundRect">
            <a:avLst>
              <a:gd fmla="val 4268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t" bIns="9142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1" name="Google Shape;361;p43"/>
          <p:cNvSpPr txBox="1"/>
          <p:nvPr>
            <p:ph type="title"/>
          </p:nvPr>
        </p:nvSpPr>
        <p:spPr>
          <a:xfrm>
            <a:off x="572201" y="592375"/>
            <a:ext cx="2629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. Blue Module + Content Modules (Misc)">
  <p:cSld name="CUSTOM_1_1_1_2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/>
          <p:nvPr/>
        </p:nvSpPr>
        <p:spPr>
          <a:xfrm>
            <a:off x="419825" y="425875"/>
            <a:ext cx="3072300" cy="1343700"/>
          </a:xfrm>
          <a:prstGeom prst="roundRect">
            <a:avLst>
              <a:gd fmla="val 4268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t" bIns="9142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4" name="Google Shape;364;p44"/>
          <p:cNvSpPr txBox="1"/>
          <p:nvPr>
            <p:ph type="title"/>
          </p:nvPr>
        </p:nvSpPr>
        <p:spPr>
          <a:xfrm>
            <a:off x="572201" y="592375"/>
            <a:ext cx="2629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44"/>
          <p:cNvSpPr/>
          <p:nvPr/>
        </p:nvSpPr>
        <p:spPr>
          <a:xfrm>
            <a:off x="3753175" y="404575"/>
            <a:ext cx="4962300" cy="3921300"/>
          </a:xfrm>
          <a:prstGeom prst="roundRect">
            <a:avLst>
              <a:gd fmla="val 297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44"/>
          <p:cNvSpPr/>
          <p:nvPr/>
        </p:nvSpPr>
        <p:spPr>
          <a:xfrm>
            <a:off x="419825" y="2026400"/>
            <a:ext cx="3072300" cy="2299500"/>
          </a:xfrm>
          <a:prstGeom prst="roundRect">
            <a:avLst>
              <a:gd fmla="val 297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44"/>
          <p:cNvSpPr txBox="1"/>
          <p:nvPr>
            <p:ph idx="2" type="title"/>
          </p:nvPr>
        </p:nvSpPr>
        <p:spPr>
          <a:xfrm>
            <a:off x="641075" y="2266650"/>
            <a:ext cx="26298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3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. Content Modules (3)">
  <p:cSld name="3 modules contrast">
    <p:bg>
      <p:bgPr>
        <a:solidFill>
          <a:schemeClr val="lt2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0" name="Google Shape;370;p45"/>
          <p:cNvSpPr/>
          <p:nvPr/>
        </p:nvSpPr>
        <p:spPr>
          <a:xfrm>
            <a:off x="419800" y="820075"/>
            <a:ext cx="2617500" cy="3505800"/>
          </a:xfrm>
          <a:prstGeom prst="roundRect">
            <a:avLst>
              <a:gd fmla="val 49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1" name="Google Shape;371;p45"/>
          <p:cNvSpPr txBox="1"/>
          <p:nvPr>
            <p:ph idx="1" type="body"/>
          </p:nvPr>
        </p:nvSpPr>
        <p:spPr>
          <a:xfrm>
            <a:off x="597325" y="1745525"/>
            <a:ext cx="22422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2" name="Google Shape;372;p45"/>
          <p:cNvSpPr txBox="1"/>
          <p:nvPr>
            <p:ph idx="2" type="title"/>
          </p:nvPr>
        </p:nvSpPr>
        <p:spPr>
          <a:xfrm>
            <a:off x="597325" y="990900"/>
            <a:ext cx="22269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73" name="Google Shape;373;p45"/>
          <p:cNvSpPr/>
          <p:nvPr/>
        </p:nvSpPr>
        <p:spPr>
          <a:xfrm>
            <a:off x="3260475" y="820075"/>
            <a:ext cx="2617500" cy="3505800"/>
          </a:xfrm>
          <a:prstGeom prst="roundRect">
            <a:avLst>
              <a:gd fmla="val 49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4" name="Google Shape;374;p45"/>
          <p:cNvSpPr txBox="1"/>
          <p:nvPr>
            <p:ph idx="3" type="body"/>
          </p:nvPr>
        </p:nvSpPr>
        <p:spPr>
          <a:xfrm>
            <a:off x="3438000" y="1745525"/>
            <a:ext cx="22422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5" name="Google Shape;375;p45"/>
          <p:cNvSpPr txBox="1"/>
          <p:nvPr>
            <p:ph idx="4" type="title"/>
          </p:nvPr>
        </p:nvSpPr>
        <p:spPr>
          <a:xfrm>
            <a:off x="3438000" y="990900"/>
            <a:ext cx="22269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376" name="Google Shape;376;p45"/>
          <p:cNvSpPr/>
          <p:nvPr/>
        </p:nvSpPr>
        <p:spPr>
          <a:xfrm>
            <a:off x="6085725" y="820075"/>
            <a:ext cx="2617500" cy="3505800"/>
          </a:xfrm>
          <a:prstGeom prst="roundRect">
            <a:avLst>
              <a:gd fmla="val 49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7" name="Google Shape;377;p45"/>
          <p:cNvSpPr txBox="1"/>
          <p:nvPr>
            <p:ph idx="5" type="body"/>
          </p:nvPr>
        </p:nvSpPr>
        <p:spPr>
          <a:xfrm>
            <a:off x="6263250" y="1745525"/>
            <a:ext cx="22422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78" name="Google Shape;378;p45"/>
          <p:cNvSpPr txBox="1"/>
          <p:nvPr>
            <p:ph idx="6" type="title"/>
          </p:nvPr>
        </p:nvSpPr>
        <p:spPr>
          <a:xfrm>
            <a:off x="6263250" y="990900"/>
            <a:ext cx="2226900" cy="5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Roboto Mono"/>
              <a:buNone/>
              <a:defRPr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. Title + Full-page Module (Large)">
  <p:cSld name="4 columns_1_2_2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6"/>
          <p:cNvSpPr txBox="1"/>
          <p:nvPr>
            <p:ph type="title"/>
          </p:nvPr>
        </p:nvSpPr>
        <p:spPr>
          <a:xfrm>
            <a:off x="419800" y="425875"/>
            <a:ext cx="2326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81" name="Google Shape;381;p46"/>
          <p:cNvSpPr txBox="1"/>
          <p:nvPr>
            <p:ph idx="1" type="body"/>
          </p:nvPr>
        </p:nvSpPr>
        <p:spPr>
          <a:xfrm>
            <a:off x="3258450" y="425875"/>
            <a:ext cx="2627100" cy="1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82" name="Google Shape;382;p46"/>
          <p:cNvSpPr txBox="1"/>
          <p:nvPr>
            <p:ph idx="2" type="body"/>
          </p:nvPr>
        </p:nvSpPr>
        <p:spPr>
          <a:xfrm>
            <a:off x="6096800" y="425875"/>
            <a:ext cx="2627100" cy="1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83" name="Google Shape;383;p46"/>
          <p:cNvSpPr/>
          <p:nvPr/>
        </p:nvSpPr>
        <p:spPr>
          <a:xfrm>
            <a:off x="419812" y="969003"/>
            <a:ext cx="8295900" cy="3357000"/>
          </a:xfrm>
          <a:prstGeom prst="roundRect">
            <a:avLst>
              <a:gd fmla="val 37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08000" lIns="108000" spcFirstLastPara="1" rIns="108000" wrap="square" tIns="108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. Side Content Modules (6)">
  <p:cSld name="CUSTOM_1_1_3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/>
          <p:nvPr>
            <p:ph idx="1" type="body"/>
          </p:nvPr>
        </p:nvSpPr>
        <p:spPr>
          <a:xfrm>
            <a:off x="2544150" y="417750"/>
            <a:ext cx="19146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6" name="Google Shape;386;p47"/>
          <p:cNvSpPr/>
          <p:nvPr>
            <p:ph idx="2" type="body"/>
          </p:nvPr>
        </p:nvSpPr>
        <p:spPr>
          <a:xfrm>
            <a:off x="4668475" y="417750"/>
            <a:ext cx="19146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7" name="Google Shape;387;p47"/>
          <p:cNvSpPr/>
          <p:nvPr>
            <p:ph idx="3" type="body"/>
          </p:nvPr>
        </p:nvSpPr>
        <p:spPr>
          <a:xfrm>
            <a:off x="6784050" y="417750"/>
            <a:ext cx="19146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8" name="Google Shape;388;p47"/>
          <p:cNvSpPr txBox="1"/>
          <p:nvPr>
            <p:ph idx="4" type="body"/>
          </p:nvPr>
        </p:nvSpPr>
        <p:spPr>
          <a:xfrm>
            <a:off x="419798" y="1276049"/>
            <a:ext cx="1922100" cy="2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Inter"/>
              <a:buNone/>
              <a:defRPr b="0"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900"/>
              <a:buFont typeface="Inter"/>
              <a:buNone/>
              <a:defRPr b="0"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9" name="Google Shape;389;p47"/>
          <p:cNvSpPr txBox="1"/>
          <p:nvPr>
            <p:ph idx="5" type="body"/>
          </p:nvPr>
        </p:nvSpPr>
        <p:spPr>
          <a:xfrm>
            <a:off x="4841597" y="558077"/>
            <a:ext cx="1577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0" name="Google Shape;390;p47"/>
          <p:cNvSpPr txBox="1"/>
          <p:nvPr>
            <p:ph idx="6" type="body"/>
          </p:nvPr>
        </p:nvSpPr>
        <p:spPr>
          <a:xfrm>
            <a:off x="6957172" y="558077"/>
            <a:ext cx="1577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1" name="Google Shape;391;p47"/>
          <p:cNvSpPr txBox="1"/>
          <p:nvPr>
            <p:ph idx="7" type="body"/>
          </p:nvPr>
        </p:nvSpPr>
        <p:spPr>
          <a:xfrm>
            <a:off x="2717272" y="558077"/>
            <a:ext cx="1577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2" name="Google Shape;392;p47"/>
          <p:cNvSpPr/>
          <p:nvPr>
            <p:ph idx="8" type="body"/>
          </p:nvPr>
        </p:nvSpPr>
        <p:spPr>
          <a:xfrm>
            <a:off x="4668475" y="2474242"/>
            <a:ext cx="19146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3" name="Google Shape;393;p47"/>
          <p:cNvSpPr/>
          <p:nvPr>
            <p:ph idx="9" type="body"/>
          </p:nvPr>
        </p:nvSpPr>
        <p:spPr>
          <a:xfrm>
            <a:off x="6784050" y="2474242"/>
            <a:ext cx="19146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4" name="Google Shape;394;p47"/>
          <p:cNvSpPr/>
          <p:nvPr>
            <p:ph idx="13" type="body"/>
          </p:nvPr>
        </p:nvSpPr>
        <p:spPr>
          <a:xfrm>
            <a:off x="2544150" y="2474242"/>
            <a:ext cx="19146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5" name="Google Shape;395;p47"/>
          <p:cNvSpPr txBox="1"/>
          <p:nvPr>
            <p:ph idx="14" type="body"/>
          </p:nvPr>
        </p:nvSpPr>
        <p:spPr>
          <a:xfrm>
            <a:off x="4839722" y="2614569"/>
            <a:ext cx="1577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6" name="Google Shape;396;p47"/>
          <p:cNvSpPr txBox="1"/>
          <p:nvPr>
            <p:ph idx="15" type="body"/>
          </p:nvPr>
        </p:nvSpPr>
        <p:spPr>
          <a:xfrm>
            <a:off x="6955297" y="2614569"/>
            <a:ext cx="1577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7" name="Google Shape;397;p47"/>
          <p:cNvSpPr txBox="1"/>
          <p:nvPr>
            <p:ph idx="16" type="body"/>
          </p:nvPr>
        </p:nvSpPr>
        <p:spPr>
          <a:xfrm>
            <a:off x="2715397" y="2614569"/>
            <a:ext cx="1577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Roboto Mono"/>
              <a:buNone/>
              <a:defRPr b="1" i="0" sz="12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Roboto Mono"/>
              <a:buNone/>
              <a:defRPr b="1" sz="12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8" name="Google Shape;398;p47"/>
          <p:cNvSpPr txBox="1"/>
          <p:nvPr>
            <p:ph type="title"/>
          </p:nvPr>
        </p:nvSpPr>
        <p:spPr>
          <a:xfrm>
            <a:off x="419798" y="417750"/>
            <a:ext cx="19233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. Side Content Modules (4)">
  <p:cSld name="CUSTOM_1_1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/>
          <p:nvPr>
            <p:ph idx="1" type="body"/>
          </p:nvPr>
        </p:nvSpPr>
        <p:spPr>
          <a:xfrm>
            <a:off x="6085725" y="2474242"/>
            <a:ext cx="26298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432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>
                <a:solidFill>
                  <a:srgbClr val="666666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1" name="Google Shape;401;p48"/>
          <p:cNvSpPr txBox="1"/>
          <p:nvPr>
            <p:ph type="title"/>
          </p:nvPr>
        </p:nvSpPr>
        <p:spPr>
          <a:xfrm>
            <a:off x="419801" y="417750"/>
            <a:ext cx="2629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02" name="Google Shape;402;p48"/>
          <p:cNvSpPr txBox="1"/>
          <p:nvPr>
            <p:ph idx="2" type="body"/>
          </p:nvPr>
        </p:nvSpPr>
        <p:spPr>
          <a:xfrm>
            <a:off x="6256975" y="2614569"/>
            <a:ext cx="2277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3" name="Google Shape;403;p48"/>
          <p:cNvSpPr/>
          <p:nvPr>
            <p:ph idx="3" type="body"/>
          </p:nvPr>
        </p:nvSpPr>
        <p:spPr>
          <a:xfrm>
            <a:off x="3254325" y="2474242"/>
            <a:ext cx="26298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7955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4" name="Google Shape;404;p48"/>
          <p:cNvSpPr txBox="1"/>
          <p:nvPr>
            <p:ph idx="4" type="body"/>
          </p:nvPr>
        </p:nvSpPr>
        <p:spPr>
          <a:xfrm>
            <a:off x="3425575" y="2614569"/>
            <a:ext cx="2277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5" name="Google Shape;405;p48"/>
          <p:cNvSpPr/>
          <p:nvPr>
            <p:ph idx="5" type="body"/>
          </p:nvPr>
        </p:nvSpPr>
        <p:spPr>
          <a:xfrm>
            <a:off x="6085725" y="417750"/>
            <a:ext cx="26298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432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>
                <a:solidFill>
                  <a:srgbClr val="666666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Inter"/>
              <a:buNone/>
              <a:defRPr sz="9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6" name="Google Shape;406;p48"/>
          <p:cNvSpPr txBox="1"/>
          <p:nvPr>
            <p:ph idx="6" type="body"/>
          </p:nvPr>
        </p:nvSpPr>
        <p:spPr>
          <a:xfrm>
            <a:off x="6256975" y="558077"/>
            <a:ext cx="2277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7" name="Google Shape;407;p48"/>
          <p:cNvSpPr/>
          <p:nvPr>
            <p:ph idx="7" type="body"/>
          </p:nvPr>
        </p:nvSpPr>
        <p:spPr>
          <a:xfrm>
            <a:off x="3254325" y="417750"/>
            <a:ext cx="2629800" cy="1851600"/>
          </a:xfrm>
          <a:prstGeom prst="roundRect">
            <a:avLst>
              <a:gd fmla="val 42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08000" wrap="square" tIns="7955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Inter"/>
              <a:buNone/>
              <a:defRPr sz="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8" name="Google Shape;408;p48"/>
          <p:cNvSpPr txBox="1"/>
          <p:nvPr>
            <p:ph idx="8" type="body"/>
          </p:nvPr>
        </p:nvSpPr>
        <p:spPr>
          <a:xfrm>
            <a:off x="3425575" y="558077"/>
            <a:ext cx="2277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i="0" sz="14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Roboto Mono"/>
              <a:buNone/>
              <a:defRPr b="1" sz="14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0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. Dark Content Modules (6)">
  <p:cSld name="3 modules contrast + descr">
    <p:bg>
      <p:bgPr>
        <a:solidFill>
          <a:schemeClr val="dk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 Mono"/>
              <a:buNone/>
              <a:defRPr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49"/>
          <p:cNvSpPr/>
          <p:nvPr>
            <p:ph idx="1" type="body"/>
          </p:nvPr>
        </p:nvSpPr>
        <p:spPr>
          <a:xfrm>
            <a:off x="419800" y="2571451"/>
            <a:ext cx="2627400" cy="1751700"/>
          </a:xfrm>
          <a:prstGeom prst="roundRect">
            <a:avLst>
              <a:gd fmla="val 727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2" name="Google Shape;412;p49"/>
          <p:cNvSpPr/>
          <p:nvPr>
            <p:ph idx="2" type="body"/>
          </p:nvPr>
        </p:nvSpPr>
        <p:spPr>
          <a:xfrm>
            <a:off x="419812" y="820068"/>
            <a:ext cx="2627400" cy="1562100"/>
          </a:xfrm>
          <a:prstGeom prst="roundRect">
            <a:avLst>
              <a:gd fmla="val 735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3" name="Google Shape;413;p49"/>
          <p:cNvSpPr/>
          <p:nvPr>
            <p:ph idx="3" type="body"/>
          </p:nvPr>
        </p:nvSpPr>
        <p:spPr>
          <a:xfrm>
            <a:off x="3255537" y="820068"/>
            <a:ext cx="2627400" cy="1562100"/>
          </a:xfrm>
          <a:prstGeom prst="roundRect">
            <a:avLst>
              <a:gd fmla="val 735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4" name="Google Shape;414;p49"/>
          <p:cNvSpPr/>
          <p:nvPr>
            <p:ph idx="4" type="body"/>
          </p:nvPr>
        </p:nvSpPr>
        <p:spPr>
          <a:xfrm>
            <a:off x="6091262" y="820068"/>
            <a:ext cx="2627400" cy="1562100"/>
          </a:xfrm>
          <a:prstGeom prst="roundRect">
            <a:avLst>
              <a:gd fmla="val 735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5" name="Google Shape;415;p49"/>
          <p:cNvSpPr/>
          <p:nvPr>
            <p:ph idx="5" type="body"/>
          </p:nvPr>
        </p:nvSpPr>
        <p:spPr>
          <a:xfrm>
            <a:off x="3255525" y="2571451"/>
            <a:ext cx="2627400" cy="1751700"/>
          </a:xfrm>
          <a:prstGeom prst="roundRect">
            <a:avLst>
              <a:gd fmla="val 727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6" name="Google Shape;416;p49"/>
          <p:cNvSpPr/>
          <p:nvPr>
            <p:ph idx="6" type="body"/>
          </p:nvPr>
        </p:nvSpPr>
        <p:spPr>
          <a:xfrm>
            <a:off x="6091250" y="2571451"/>
            <a:ext cx="2627400" cy="1751700"/>
          </a:xfrm>
          <a:prstGeom prst="roundRect">
            <a:avLst>
              <a:gd fmla="val 727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. Dark Content Modules (4)">
  <p:cSld name="3 modules contrast + descr_1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 Mono"/>
              <a:buNone/>
              <a:defRPr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50"/>
          <p:cNvSpPr/>
          <p:nvPr>
            <p:ph idx="1" type="body"/>
          </p:nvPr>
        </p:nvSpPr>
        <p:spPr>
          <a:xfrm>
            <a:off x="419812" y="820068"/>
            <a:ext cx="2627400" cy="1562100"/>
          </a:xfrm>
          <a:prstGeom prst="roundRect">
            <a:avLst>
              <a:gd fmla="val 735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0" name="Google Shape;420;p50"/>
          <p:cNvSpPr/>
          <p:nvPr>
            <p:ph idx="2" type="body"/>
          </p:nvPr>
        </p:nvSpPr>
        <p:spPr>
          <a:xfrm>
            <a:off x="430292" y="2571752"/>
            <a:ext cx="8293800" cy="1751700"/>
          </a:xfrm>
          <a:prstGeom prst="roundRect">
            <a:avLst>
              <a:gd fmla="val 500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000"/>
              <a:buFont typeface="Inter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rgbClr val="FFFFFF"/>
              </a:buClr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1" name="Google Shape;421;p50"/>
          <p:cNvSpPr/>
          <p:nvPr>
            <p:ph idx="3" type="body"/>
          </p:nvPr>
        </p:nvSpPr>
        <p:spPr>
          <a:xfrm>
            <a:off x="3255537" y="820068"/>
            <a:ext cx="2627400" cy="1562100"/>
          </a:xfrm>
          <a:prstGeom prst="roundRect">
            <a:avLst>
              <a:gd fmla="val 735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2" name="Google Shape;422;p50"/>
          <p:cNvSpPr/>
          <p:nvPr>
            <p:ph idx="4" type="body"/>
          </p:nvPr>
        </p:nvSpPr>
        <p:spPr>
          <a:xfrm>
            <a:off x="6091262" y="820068"/>
            <a:ext cx="2627400" cy="1562100"/>
          </a:xfrm>
          <a:prstGeom prst="roundRect">
            <a:avLst>
              <a:gd fmla="val 735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. Dark Content Modules (4)">
  <p:cSld name="3 modules contrast + descr_1_1">
    <p:bg>
      <p:bgPr>
        <a:solidFill>
          <a:schemeClr val="dk2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 Mono"/>
              <a:buNone/>
              <a:defRPr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25" name="Google Shape;425;p51"/>
          <p:cNvSpPr/>
          <p:nvPr>
            <p:ph idx="1" type="body"/>
          </p:nvPr>
        </p:nvSpPr>
        <p:spPr>
          <a:xfrm>
            <a:off x="419812" y="820076"/>
            <a:ext cx="1922100" cy="3505800"/>
          </a:xfrm>
          <a:prstGeom prst="roundRect">
            <a:avLst>
              <a:gd fmla="val 594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6" name="Google Shape;426;p51"/>
          <p:cNvSpPr/>
          <p:nvPr>
            <p:ph idx="2" type="body"/>
          </p:nvPr>
        </p:nvSpPr>
        <p:spPr>
          <a:xfrm>
            <a:off x="2544145" y="820069"/>
            <a:ext cx="1922100" cy="3505800"/>
          </a:xfrm>
          <a:prstGeom prst="roundRect">
            <a:avLst>
              <a:gd fmla="val 67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7" name="Google Shape;427;p51"/>
          <p:cNvSpPr/>
          <p:nvPr>
            <p:ph idx="3" type="body"/>
          </p:nvPr>
        </p:nvSpPr>
        <p:spPr>
          <a:xfrm>
            <a:off x="4667246" y="820069"/>
            <a:ext cx="1922100" cy="3505800"/>
          </a:xfrm>
          <a:prstGeom prst="roundRect">
            <a:avLst>
              <a:gd fmla="val 67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8" name="Google Shape;428;p51"/>
          <p:cNvSpPr/>
          <p:nvPr>
            <p:ph idx="4" type="body"/>
          </p:nvPr>
        </p:nvSpPr>
        <p:spPr>
          <a:xfrm>
            <a:off x="6802060" y="820069"/>
            <a:ext cx="1922100" cy="3505800"/>
          </a:xfrm>
          <a:prstGeom prst="roundRect">
            <a:avLst>
              <a:gd fmla="val 67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108000" lIns="108000" spcFirstLastPara="1" rIns="108000" wrap="square" tIns="108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00"/>
              </a:spcAft>
              <a:buClr>
                <a:schemeClr val="lt1"/>
              </a:buClr>
              <a:buSzPts val="1000"/>
              <a:buFont typeface="Inter"/>
              <a:buNone/>
              <a:def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. Map + List">
  <p:cSld name="Map with list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/>
          <p:nvPr/>
        </p:nvSpPr>
        <p:spPr>
          <a:xfrm>
            <a:off x="6085725" y="820075"/>
            <a:ext cx="2629800" cy="3505800"/>
          </a:xfrm>
          <a:prstGeom prst="roundRect">
            <a:avLst>
              <a:gd fmla="val 372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1" name="Google Shape;431;p52"/>
          <p:cNvSpPr/>
          <p:nvPr/>
        </p:nvSpPr>
        <p:spPr>
          <a:xfrm>
            <a:off x="419812" y="820069"/>
            <a:ext cx="5463600" cy="3505800"/>
          </a:xfrm>
          <a:prstGeom prst="roundRect">
            <a:avLst>
              <a:gd fmla="val 2928" name="adj"/>
            </a:avLst>
          </a:prstGeom>
          <a:solidFill>
            <a:srgbClr val="CFE5FF"/>
          </a:solidFill>
          <a:ln>
            <a:noFill/>
          </a:ln>
        </p:spPr>
        <p:txBody>
          <a:bodyPr anchorCtr="0" anchor="t" bIns="97925" lIns="111925" spcFirstLastPara="1" rIns="139900" wrap="square" tIns="1119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52"/>
          <p:cNvSpPr txBox="1"/>
          <p:nvPr>
            <p:ph type="title"/>
          </p:nvPr>
        </p:nvSpPr>
        <p:spPr>
          <a:xfrm>
            <a:off x="419812" y="425882"/>
            <a:ext cx="82959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2138" y="1490250"/>
            <a:ext cx="4972193" cy="233476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2"/>
          <p:cNvSpPr txBox="1"/>
          <p:nvPr>
            <p:ph idx="1" type="body"/>
          </p:nvPr>
        </p:nvSpPr>
        <p:spPr>
          <a:xfrm>
            <a:off x="6387250" y="1092250"/>
            <a:ext cx="10152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75" lIns="0" spcFirstLastPara="1" rIns="0" wrap="square" tIns="41975">
            <a:noAutofit/>
          </a:bodyPr>
          <a:lstStyle>
            <a:lvl1pPr indent="-228600" lvl="0" marL="457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indent="-228600" lvl="2" marL="13716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SemiBold"/>
              <a:buNone/>
              <a:defRPr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35" name="Google Shape;435;p52"/>
          <p:cNvSpPr txBox="1"/>
          <p:nvPr>
            <p:ph idx="2" type="body"/>
          </p:nvPr>
        </p:nvSpPr>
        <p:spPr>
          <a:xfrm>
            <a:off x="7494625" y="1092250"/>
            <a:ext cx="10152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75" lIns="0" spcFirstLastPara="1" rIns="0" wrap="square" tIns="41975">
            <a:noAutofit/>
          </a:bodyPr>
          <a:lstStyle>
            <a:lvl1pPr indent="-228600" lvl="0" marL="457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indent="-228600" lvl="2" marL="13716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SemiBold"/>
              <a:buNone/>
              <a:defRPr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. Light Misc Modules">
  <p:cSld name="1_Framed image">
    <p:bg>
      <p:bgPr>
        <a:solidFill>
          <a:schemeClr val="lt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419812" y="425882"/>
            <a:ext cx="8304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38" name="Google Shape;438;p53"/>
          <p:cNvSpPr/>
          <p:nvPr>
            <p:ph idx="2" type="pic"/>
          </p:nvPr>
        </p:nvSpPr>
        <p:spPr>
          <a:xfrm>
            <a:off x="419812" y="820069"/>
            <a:ext cx="2834400" cy="1653000"/>
          </a:xfrm>
          <a:prstGeom prst="roundRect">
            <a:avLst>
              <a:gd fmla="val 455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39" name="Google Shape;439;p53"/>
          <p:cNvSpPr/>
          <p:nvPr>
            <p:ph idx="1" type="body"/>
          </p:nvPr>
        </p:nvSpPr>
        <p:spPr>
          <a:xfrm>
            <a:off x="419812" y="2672763"/>
            <a:ext cx="2834400" cy="1653000"/>
          </a:xfrm>
          <a:prstGeom prst="roundRect">
            <a:avLst>
              <a:gd fmla="val 4898" name="adj"/>
            </a:avLst>
          </a:prstGeom>
          <a:solidFill>
            <a:srgbClr val="CFE5FF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0" name="Google Shape;440;p53"/>
          <p:cNvSpPr/>
          <p:nvPr>
            <p:ph idx="3" type="body"/>
          </p:nvPr>
        </p:nvSpPr>
        <p:spPr>
          <a:xfrm>
            <a:off x="3451339" y="820069"/>
            <a:ext cx="2627400" cy="3505800"/>
          </a:xfrm>
          <a:prstGeom prst="roundRect">
            <a:avLst>
              <a:gd fmla="val 283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Mono"/>
              <a:buNone/>
              <a:defRPr b="1" sz="3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Mono"/>
              <a:buNone/>
              <a:defRPr b="1" sz="3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Mono"/>
              <a:buNone/>
              <a:defRPr b="1" sz="3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Mono"/>
              <a:buNone/>
              <a:defRPr b="1" sz="3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Mono"/>
              <a:buNone/>
              <a:defRPr b="1" sz="3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Mono"/>
              <a:buNone/>
              <a:defRPr b="1" sz="3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 Mono"/>
              <a:buNone/>
              <a:defRPr b="1" sz="3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53"/>
          <p:cNvSpPr/>
          <p:nvPr>
            <p:ph idx="4" type="pic"/>
          </p:nvPr>
        </p:nvSpPr>
        <p:spPr>
          <a:xfrm>
            <a:off x="6275764" y="820069"/>
            <a:ext cx="2439900" cy="3505800"/>
          </a:xfrm>
          <a:prstGeom prst="roundRect">
            <a:avLst>
              <a:gd fmla="val 3370" name="adj"/>
            </a:avLst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. Quote (Light)">
  <p:cSld name="Quote">
    <p:bg>
      <p:bgPr>
        <a:solidFill>
          <a:schemeClr val="lt2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419812" y="820069"/>
            <a:ext cx="3539700" cy="22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ono"/>
              <a:buNone/>
              <a:defRPr sz="18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5" name="Google Shape;445;p54"/>
          <p:cNvSpPr txBox="1"/>
          <p:nvPr>
            <p:ph idx="2" type="body"/>
          </p:nvPr>
        </p:nvSpPr>
        <p:spPr>
          <a:xfrm>
            <a:off x="419812" y="4079512"/>
            <a:ext cx="35397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b="1" i="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b="1" sz="9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b="1" sz="9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Inter"/>
              <a:buNone/>
              <a:defRPr b="1"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900"/>
              <a:buFont typeface="Inter"/>
              <a:buNone/>
              <a:defRPr b="1"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9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6" name="Google Shape;446;p54"/>
          <p:cNvSpPr txBox="1"/>
          <p:nvPr>
            <p:ph idx="3" type="body"/>
          </p:nvPr>
        </p:nvSpPr>
        <p:spPr>
          <a:xfrm>
            <a:off x="419812" y="4203989"/>
            <a:ext cx="35397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9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9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Inter"/>
              <a:buNone/>
              <a:defRPr b="0" sz="9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900"/>
              <a:buFont typeface="Inter"/>
              <a:buNone/>
              <a:defRPr b="0"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7" name="Google Shape;447;p54"/>
          <p:cNvSpPr/>
          <p:nvPr>
            <p:ph idx="4" type="pic"/>
          </p:nvPr>
        </p:nvSpPr>
        <p:spPr>
          <a:xfrm>
            <a:off x="4669732" y="820075"/>
            <a:ext cx="4045800" cy="3505800"/>
          </a:xfrm>
          <a:prstGeom prst="roundRect">
            <a:avLst>
              <a:gd fmla="val 2986" name="adj"/>
            </a:avLst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. Timeline (7 dates)">
  <p:cSld name="Timeline 7 dates continue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5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50" name="Google Shape;450;p55"/>
          <p:cNvSpPr/>
          <p:nvPr>
            <p:ph idx="1" type="body"/>
          </p:nvPr>
        </p:nvSpPr>
        <p:spPr>
          <a:xfrm>
            <a:off x="419812" y="2011862"/>
            <a:ext cx="19221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51" name="Google Shape;451;p55"/>
          <p:cNvSpPr/>
          <p:nvPr>
            <p:ph idx="2" type="body"/>
          </p:nvPr>
        </p:nvSpPr>
        <p:spPr>
          <a:xfrm>
            <a:off x="2545070" y="2011862"/>
            <a:ext cx="19224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52" name="Google Shape;452;p55"/>
          <p:cNvSpPr/>
          <p:nvPr>
            <p:ph idx="3" type="body"/>
          </p:nvPr>
        </p:nvSpPr>
        <p:spPr>
          <a:xfrm>
            <a:off x="4676494" y="2011862"/>
            <a:ext cx="19221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53" name="Google Shape;453;p55"/>
          <p:cNvSpPr/>
          <p:nvPr>
            <p:ph idx="4" type="body"/>
          </p:nvPr>
        </p:nvSpPr>
        <p:spPr>
          <a:xfrm>
            <a:off x="6806640" y="2011862"/>
            <a:ext cx="19176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54" name="Google Shape;454;p55"/>
          <p:cNvSpPr/>
          <p:nvPr>
            <p:ph idx="5" type="body"/>
          </p:nvPr>
        </p:nvSpPr>
        <p:spPr>
          <a:xfrm>
            <a:off x="1380879" y="2804495"/>
            <a:ext cx="19221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55" name="Google Shape;455;p55"/>
          <p:cNvSpPr/>
          <p:nvPr>
            <p:ph idx="6" type="body"/>
          </p:nvPr>
        </p:nvSpPr>
        <p:spPr>
          <a:xfrm>
            <a:off x="3506137" y="2804495"/>
            <a:ext cx="19224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56" name="Google Shape;456;p55"/>
          <p:cNvSpPr/>
          <p:nvPr>
            <p:ph idx="7" type="body"/>
          </p:nvPr>
        </p:nvSpPr>
        <p:spPr>
          <a:xfrm>
            <a:off x="5637560" y="2804495"/>
            <a:ext cx="19221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. Timeline (5 dates)">
  <p:cSld name="Timeline 5 dates continue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6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59" name="Google Shape;459;p56"/>
          <p:cNvSpPr/>
          <p:nvPr>
            <p:ph idx="1" type="body"/>
          </p:nvPr>
        </p:nvSpPr>
        <p:spPr>
          <a:xfrm>
            <a:off x="419812" y="2011862"/>
            <a:ext cx="26292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60" name="Google Shape;460;p56"/>
          <p:cNvSpPr/>
          <p:nvPr>
            <p:ph idx="2" type="body"/>
          </p:nvPr>
        </p:nvSpPr>
        <p:spPr>
          <a:xfrm>
            <a:off x="3254312" y="2011862"/>
            <a:ext cx="26292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61" name="Google Shape;461;p56"/>
          <p:cNvSpPr/>
          <p:nvPr>
            <p:ph idx="3" type="body"/>
          </p:nvPr>
        </p:nvSpPr>
        <p:spPr>
          <a:xfrm>
            <a:off x="6088811" y="2011862"/>
            <a:ext cx="26268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62" name="Google Shape;462;p56"/>
          <p:cNvSpPr/>
          <p:nvPr>
            <p:ph idx="4" type="body"/>
          </p:nvPr>
        </p:nvSpPr>
        <p:spPr>
          <a:xfrm>
            <a:off x="1838295" y="2804495"/>
            <a:ext cx="26256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  <p:sp>
        <p:nvSpPr>
          <p:cNvPr id="463" name="Google Shape;463;p56"/>
          <p:cNvSpPr/>
          <p:nvPr>
            <p:ph idx="5" type="body"/>
          </p:nvPr>
        </p:nvSpPr>
        <p:spPr>
          <a:xfrm>
            <a:off x="4669712" y="2804495"/>
            <a:ext cx="2625600" cy="338700"/>
          </a:xfrm>
          <a:prstGeom prst="roundRect">
            <a:avLst>
              <a:gd fmla="val 97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7925" lIns="139900" spcFirstLastPara="1" rIns="97925" wrap="square" tIns="979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9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. Full Marketecture (Dark)" showMasterSp="0">
  <p:cSld name="Title Black_3">
    <p:bg>
      <p:bgPr>
        <a:solidFill>
          <a:schemeClr val="dk2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57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7"/>
          <p:cNvSpPr txBox="1"/>
          <p:nvPr>
            <p:ph type="title"/>
          </p:nvPr>
        </p:nvSpPr>
        <p:spPr>
          <a:xfrm>
            <a:off x="419775" y="417750"/>
            <a:ext cx="6875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467" name="Google Shape;467;p57"/>
          <p:cNvSpPr/>
          <p:nvPr/>
        </p:nvSpPr>
        <p:spPr>
          <a:xfrm>
            <a:off x="8096250" y="4277900"/>
            <a:ext cx="727200" cy="727200"/>
          </a:xfrm>
          <a:prstGeom prst="rect">
            <a:avLst/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57"/>
          <p:cNvSpPr/>
          <p:nvPr/>
        </p:nvSpPr>
        <p:spPr>
          <a:xfrm>
            <a:off x="395075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9" name="Google Shape;469;p57"/>
          <p:cNvSpPr/>
          <p:nvPr/>
        </p:nvSpPr>
        <p:spPr>
          <a:xfrm>
            <a:off x="528679" y="4105324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57"/>
          <p:cNvSpPr/>
          <p:nvPr/>
        </p:nvSpPr>
        <p:spPr>
          <a:xfrm>
            <a:off x="528679" y="4421846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57"/>
          <p:cNvSpPr/>
          <p:nvPr/>
        </p:nvSpPr>
        <p:spPr>
          <a:xfrm>
            <a:off x="528679" y="378448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57"/>
          <p:cNvSpPr/>
          <p:nvPr/>
        </p:nvSpPr>
        <p:spPr>
          <a:xfrm>
            <a:off x="3801978" y="1093700"/>
            <a:ext cx="1523100" cy="36804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3" name="Google Shape;473;p57"/>
          <p:cNvSpPr/>
          <p:nvPr/>
        </p:nvSpPr>
        <p:spPr>
          <a:xfrm>
            <a:off x="524059" y="121183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CONNECT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5492776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5" name="Google Shape;475;p57"/>
          <p:cNvSpPr/>
          <p:nvPr/>
        </p:nvSpPr>
        <p:spPr>
          <a:xfrm>
            <a:off x="2096090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6" name="Google Shape;476;p57"/>
          <p:cNvSpPr/>
          <p:nvPr/>
        </p:nvSpPr>
        <p:spPr>
          <a:xfrm>
            <a:off x="7199174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7" name="Google Shape;477;p57"/>
          <p:cNvSpPr/>
          <p:nvPr/>
        </p:nvSpPr>
        <p:spPr>
          <a:xfrm>
            <a:off x="3935532" y="121183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PROTECT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78" name="Google Shape;478;p57"/>
          <p:cNvSpPr/>
          <p:nvPr/>
        </p:nvSpPr>
        <p:spPr>
          <a:xfrm>
            <a:off x="5628871" y="1211830"/>
            <a:ext cx="449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BOOST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79" name="Google Shape;479;p57"/>
          <p:cNvSpPr/>
          <p:nvPr/>
        </p:nvSpPr>
        <p:spPr>
          <a:xfrm>
            <a:off x="2234962" y="1211830"/>
            <a:ext cx="3873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MOVE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80" name="Google Shape;480;p57"/>
          <p:cNvSpPr/>
          <p:nvPr/>
        </p:nvSpPr>
        <p:spPr>
          <a:xfrm>
            <a:off x="7340281" y="1211830"/>
            <a:ext cx="5259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MANAGE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81" name="Google Shape;481;p57"/>
          <p:cNvSpPr txBox="1"/>
          <p:nvPr/>
        </p:nvSpPr>
        <p:spPr>
          <a:xfrm>
            <a:off x="3940362" y="159577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Master fraud, risk and compliance 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82" name="Google Shape;482;p57"/>
          <p:cNvSpPr txBox="1"/>
          <p:nvPr/>
        </p:nvSpPr>
        <p:spPr>
          <a:xfrm>
            <a:off x="5629324" y="1595775"/>
            <a:ext cx="1077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Payments to power your performance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83" name="Google Shape;483;p57"/>
          <p:cNvSpPr txBox="1"/>
          <p:nvPr/>
        </p:nvSpPr>
        <p:spPr>
          <a:xfrm>
            <a:off x="7338158" y="159577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Control how money moves worldwide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84" name="Google Shape;484;p57"/>
          <p:cNvSpPr/>
          <p:nvPr/>
        </p:nvSpPr>
        <p:spPr>
          <a:xfrm>
            <a:off x="528679" y="314240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57"/>
          <p:cNvSpPr txBox="1"/>
          <p:nvPr/>
        </p:nvSpPr>
        <p:spPr>
          <a:xfrm>
            <a:off x="733101" y="4179067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MOBILE SDK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486" name="Google Shape;486;p57"/>
          <p:cNvSpPr txBox="1"/>
          <p:nvPr/>
        </p:nvSpPr>
        <p:spPr>
          <a:xfrm>
            <a:off x="733101" y="321615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HOSTED PAYMENT PAGE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487" name="Google Shape;487;p57"/>
          <p:cNvSpPr txBox="1"/>
          <p:nvPr/>
        </p:nvSpPr>
        <p:spPr>
          <a:xfrm>
            <a:off x="733101" y="4495585"/>
            <a:ext cx="903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UNIFIED PAYMENTS API</a:t>
            </a:r>
            <a:endParaRPr b="1" sz="5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8" name="Google Shape;488;p57"/>
          <p:cNvSpPr/>
          <p:nvPr/>
        </p:nvSpPr>
        <p:spPr>
          <a:xfrm>
            <a:off x="3930431" y="378669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57"/>
          <p:cNvSpPr/>
          <p:nvPr/>
        </p:nvSpPr>
        <p:spPr>
          <a:xfrm>
            <a:off x="3930431" y="3465861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57"/>
          <p:cNvSpPr txBox="1"/>
          <p:nvPr/>
        </p:nvSpPr>
        <p:spPr>
          <a:xfrm>
            <a:off x="4137654" y="3539600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IDENTITY VERIFICATION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491" name="Google Shape;491;p57"/>
          <p:cNvSpPr txBox="1"/>
          <p:nvPr/>
        </p:nvSpPr>
        <p:spPr>
          <a:xfrm>
            <a:off x="4137654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DISPUTES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492" name="Google Shape;492;p57"/>
          <p:cNvSpPr/>
          <p:nvPr/>
        </p:nvSpPr>
        <p:spPr>
          <a:xfrm>
            <a:off x="3930431" y="2823784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3" name="Google Shape;493;p57"/>
          <p:cNvSpPr/>
          <p:nvPr/>
        </p:nvSpPr>
        <p:spPr>
          <a:xfrm>
            <a:off x="5626204" y="3465852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57"/>
          <p:cNvSpPr/>
          <p:nvPr/>
        </p:nvSpPr>
        <p:spPr>
          <a:xfrm>
            <a:off x="5621851" y="2823784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57"/>
          <p:cNvSpPr txBox="1"/>
          <p:nvPr/>
        </p:nvSpPr>
        <p:spPr>
          <a:xfrm>
            <a:off x="5835135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INTELLIGENT ACCEPTANCE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5626204" y="3142423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7" name="Google Shape;497;p57"/>
          <p:cNvSpPr txBox="1"/>
          <p:nvPr/>
        </p:nvSpPr>
        <p:spPr>
          <a:xfrm>
            <a:off x="5835135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NETWORK TOKENS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498" name="Google Shape;498;p57"/>
          <p:cNvSpPr txBox="1"/>
          <p:nvPr/>
        </p:nvSpPr>
        <p:spPr>
          <a:xfrm>
            <a:off x="5835143" y="3521211"/>
            <a:ext cx="747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REAL TIME </a:t>
            </a:r>
            <a:b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ACCOUNT UPDATER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499" name="Google Shape;499;p57"/>
          <p:cNvSpPr/>
          <p:nvPr/>
        </p:nvSpPr>
        <p:spPr>
          <a:xfrm>
            <a:off x="3930417" y="314242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0" name="Google Shape;500;p57"/>
          <p:cNvSpPr/>
          <p:nvPr/>
        </p:nvSpPr>
        <p:spPr>
          <a:xfrm>
            <a:off x="7339605" y="2823784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1" name="Google Shape;501;p57"/>
          <p:cNvSpPr txBox="1"/>
          <p:nvPr/>
        </p:nvSpPr>
        <p:spPr>
          <a:xfrm>
            <a:off x="7550797" y="2897524"/>
            <a:ext cx="8286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DASHBOARD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02" name="Google Shape;502;p57"/>
          <p:cNvSpPr/>
          <p:nvPr/>
        </p:nvSpPr>
        <p:spPr>
          <a:xfrm>
            <a:off x="7339605" y="314242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3" name="Google Shape;503;p57"/>
          <p:cNvSpPr txBox="1"/>
          <p:nvPr/>
        </p:nvSpPr>
        <p:spPr>
          <a:xfrm>
            <a:off x="7550797" y="3216166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BUSINESS ACCOUNT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04" name="Google Shape;504;p57"/>
          <p:cNvSpPr/>
          <p:nvPr/>
        </p:nvSpPr>
        <p:spPr>
          <a:xfrm>
            <a:off x="3934126" y="4103216"/>
            <a:ext cx="1269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5" name="Google Shape;505;p57"/>
          <p:cNvSpPr txBox="1"/>
          <p:nvPr/>
        </p:nvSpPr>
        <p:spPr>
          <a:xfrm>
            <a:off x="4137654" y="417695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VAULT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06" name="Google Shape;506;p57"/>
          <p:cNvSpPr/>
          <p:nvPr/>
        </p:nvSpPr>
        <p:spPr>
          <a:xfrm>
            <a:off x="528679" y="346105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57"/>
          <p:cNvSpPr txBox="1"/>
          <p:nvPr/>
        </p:nvSpPr>
        <p:spPr>
          <a:xfrm>
            <a:off x="733101" y="3858231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PAYMENT LINKS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08" name="Google Shape;508;p57"/>
          <p:cNvSpPr/>
          <p:nvPr/>
        </p:nvSpPr>
        <p:spPr>
          <a:xfrm>
            <a:off x="7339605" y="346585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Google Shape;509;p57"/>
          <p:cNvSpPr txBox="1"/>
          <p:nvPr/>
        </p:nvSpPr>
        <p:spPr>
          <a:xfrm>
            <a:off x="7550797" y="3539600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TREASURY &amp; FX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10" name="Google Shape;510;p57"/>
          <p:cNvPicPr preferRelativeResize="0"/>
          <p:nvPr/>
        </p:nvPicPr>
        <p:blipFill rotWithShape="1">
          <a:blip r:embed="rId3">
            <a:alphaModFix/>
          </a:blip>
          <a:srcRect b="0" l="603" r="603" t="0"/>
          <a:stretch/>
        </p:blipFill>
        <p:spPr>
          <a:xfrm>
            <a:off x="3984722" y="2889486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7"/>
          <p:cNvPicPr preferRelativeResize="0"/>
          <p:nvPr/>
        </p:nvPicPr>
        <p:blipFill rotWithShape="1">
          <a:blip r:embed="rId4">
            <a:alphaModFix/>
          </a:blip>
          <a:srcRect b="0" l="505" r="495" t="0"/>
          <a:stretch/>
        </p:blipFill>
        <p:spPr>
          <a:xfrm>
            <a:off x="3984621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7"/>
          <p:cNvPicPr preferRelativeResize="0"/>
          <p:nvPr/>
        </p:nvPicPr>
        <p:blipFill rotWithShape="1">
          <a:blip r:embed="rId5">
            <a:alphaModFix/>
          </a:blip>
          <a:srcRect b="0" l="583" r="593" t="0"/>
          <a:stretch/>
        </p:blipFill>
        <p:spPr>
          <a:xfrm>
            <a:off x="3984749" y="385244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7"/>
          <p:cNvPicPr preferRelativeResize="0"/>
          <p:nvPr/>
        </p:nvPicPr>
        <p:blipFill rotWithShape="1">
          <a:blip r:embed="rId6">
            <a:alphaModFix/>
          </a:blip>
          <a:srcRect b="0" l="603" r="603" t="0"/>
          <a:stretch/>
        </p:blipFill>
        <p:spPr>
          <a:xfrm>
            <a:off x="5673060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7"/>
          <p:cNvPicPr preferRelativeResize="0"/>
          <p:nvPr/>
        </p:nvPicPr>
        <p:blipFill rotWithShape="1">
          <a:blip r:embed="rId7">
            <a:alphaModFix/>
          </a:blip>
          <a:srcRect b="0" l="485" r="485" t="0"/>
          <a:stretch/>
        </p:blipFill>
        <p:spPr>
          <a:xfrm>
            <a:off x="567284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7"/>
          <p:cNvPicPr preferRelativeResize="0"/>
          <p:nvPr/>
        </p:nvPicPr>
        <p:blipFill rotWithShape="1">
          <a:blip r:embed="rId8">
            <a:alphaModFix/>
          </a:blip>
          <a:srcRect b="0" l="603" r="603" t="0"/>
          <a:stretch/>
        </p:blipFill>
        <p:spPr>
          <a:xfrm>
            <a:off x="5673060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7"/>
          <p:cNvPicPr preferRelativeResize="0"/>
          <p:nvPr/>
        </p:nvPicPr>
        <p:blipFill rotWithShape="1">
          <a:blip r:embed="rId9">
            <a:alphaModFix/>
          </a:blip>
          <a:srcRect b="0" l="505" r="495" t="0"/>
          <a:stretch/>
        </p:blipFill>
        <p:spPr>
          <a:xfrm>
            <a:off x="3984621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7"/>
          <p:cNvSpPr/>
          <p:nvPr/>
        </p:nvSpPr>
        <p:spPr>
          <a:xfrm>
            <a:off x="2236908" y="3465856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57"/>
          <p:cNvSpPr txBox="1"/>
          <p:nvPr/>
        </p:nvSpPr>
        <p:spPr>
          <a:xfrm>
            <a:off x="2445090" y="3539600"/>
            <a:ext cx="9885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ISSUING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19" name="Google Shape;519;p57"/>
          <p:cNvPicPr preferRelativeResize="0"/>
          <p:nvPr/>
        </p:nvPicPr>
        <p:blipFill rotWithShape="1">
          <a:blip r:embed="rId10">
            <a:alphaModFix/>
          </a:blip>
          <a:srcRect b="0" l="603" r="603" t="0"/>
          <a:stretch/>
        </p:blipFill>
        <p:spPr>
          <a:xfrm>
            <a:off x="2296227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7"/>
          <p:cNvSpPr/>
          <p:nvPr/>
        </p:nvSpPr>
        <p:spPr>
          <a:xfrm>
            <a:off x="2236908" y="3786689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Google Shape;521;p57"/>
          <p:cNvSpPr txBox="1"/>
          <p:nvPr/>
        </p:nvSpPr>
        <p:spPr>
          <a:xfrm>
            <a:off x="2445090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PAYOUTS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22" name="Google Shape;522;p57"/>
          <p:cNvPicPr preferRelativeResize="0"/>
          <p:nvPr/>
        </p:nvPicPr>
        <p:blipFill rotWithShape="1">
          <a:blip r:embed="rId11">
            <a:alphaModFix/>
          </a:blip>
          <a:srcRect b="0" l="505" r="495" t="0"/>
          <a:stretch/>
        </p:blipFill>
        <p:spPr>
          <a:xfrm>
            <a:off x="2296126" y="385239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7"/>
          <p:cNvSpPr/>
          <p:nvPr/>
        </p:nvSpPr>
        <p:spPr>
          <a:xfrm>
            <a:off x="2236908" y="2823784"/>
            <a:ext cx="12603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57"/>
          <p:cNvSpPr txBox="1"/>
          <p:nvPr/>
        </p:nvSpPr>
        <p:spPr>
          <a:xfrm>
            <a:off x="2445090" y="2897524"/>
            <a:ext cx="935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ACQUIRING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25" name="Google Shape;525;p57"/>
          <p:cNvPicPr preferRelativeResize="0"/>
          <p:nvPr/>
        </p:nvPicPr>
        <p:blipFill rotWithShape="1">
          <a:blip r:embed="rId12">
            <a:alphaModFix/>
          </a:blip>
          <a:srcRect b="2714" l="0" r="0" t="2714"/>
          <a:stretch/>
        </p:blipFill>
        <p:spPr>
          <a:xfrm>
            <a:off x="2296254" y="2889530"/>
            <a:ext cx="96884" cy="9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7"/>
          <p:cNvPicPr preferRelativeResize="0"/>
          <p:nvPr/>
        </p:nvPicPr>
        <p:blipFill rotWithShape="1">
          <a:blip r:embed="rId13">
            <a:alphaModFix/>
          </a:blip>
          <a:srcRect b="0" l="710" r="710" t="0"/>
          <a:stretch/>
        </p:blipFill>
        <p:spPr>
          <a:xfrm>
            <a:off x="739571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7"/>
          <p:cNvPicPr preferRelativeResize="0"/>
          <p:nvPr/>
        </p:nvPicPr>
        <p:blipFill rotWithShape="1">
          <a:blip r:embed="rId14">
            <a:alphaModFix/>
          </a:blip>
          <a:srcRect b="0" l="583" r="593" t="0"/>
          <a:stretch/>
        </p:blipFill>
        <p:spPr>
          <a:xfrm>
            <a:off x="7395744" y="3208175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7"/>
          <p:cNvSpPr/>
          <p:nvPr/>
        </p:nvSpPr>
        <p:spPr>
          <a:xfrm>
            <a:off x="2236908" y="3142424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57"/>
          <p:cNvSpPr txBox="1"/>
          <p:nvPr/>
        </p:nvSpPr>
        <p:spPr>
          <a:xfrm>
            <a:off x="2445090" y="3216166"/>
            <a:ext cx="94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PAYMENT METHODS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30" name="Google Shape;530;p57"/>
          <p:cNvPicPr preferRelativeResize="0"/>
          <p:nvPr/>
        </p:nvPicPr>
        <p:blipFill rotWithShape="1">
          <a:blip r:embed="rId15">
            <a:alphaModFix/>
          </a:blip>
          <a:srcRect b="0" l="583" r="593" t="0"/>
          <a:stretch/>
        </p:blipFill>
        <p:spPr>
          <a:xfrm flipH="1">
            <a:off x="2277499" y="3207932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7"/>
          <p:cNvPicPr preferRelativeResize="0"/>
          <p:nvPr/>
        </p:nvPicPr>
        <p:blipFill rotWithShape="1">
          <a:blip r:embed="rId16">
            <a:alphaModFix/>
          </a:blip>
          <a:srcRect b="0" l="583" r="593" t="0"/>
          <a:stretch/>
        </p:blipFill>
        <p:spPr>
          <a:xfrm>
            <a:off x="3984513" y="4168720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7"/>
          <p:cNvPicPr preferRelativeResize="0"/>
          <p:nvPr/>
        </p:nvPicPr>
        <p:blipFill rotWithShape="1">
          <a:blip r:embed="rId17">
            <a:alphaModFix/>
          </a:blip>
          <a:srcRect b="0" l="583" r="593" t="0"/>
          <a:stretch/>
        </p:blipFill>
        <p:spPr>
          <a:xfrm>
            <a:off x="581487" y="448760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7"/>
          <p:cNvPicPr preferRelativeResize="0"/>
          <p:nvPr/>
        </p:nvPicPr>
        <p:blipFill rotWithShape="1">
          <a:blip r:embed="rId18">
            <a:alphaModFix/>
          </a:blip>
          <a:srcRect b="0" l="583" r="593" t="0"/>
          <a:stretch/>
        </p:blipFill>
        <p:spPr>
          <a:xfrm>
            <a:off x="571458" y="4160933"/>
            <a:ext cx="116914" cy="11831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7"/>
          <p:cNvSpPr txBox="1"/>
          <p:nvPr/>
        </p:nvSpPr>
        <p:spPr>
          <a:xfrm>
            <a:off x="4137654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FRAUD DETECTION PRO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4137654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AUTHENTICATION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36" name="Google Shape;536;p57"/>
          <p:cNvSpPr txBox="1"/>
          <p:nvPr/>
        </p:nvSpPr>
        <p:spPr>
          <a:xfrm>
            <a:off x="2234961" y="159575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Simplify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global pay-ins and payouts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37" name="Google Shape;537;p57"/>
          <p:cNvSpPr txBox="1"/>
          <p:nvPr/>
        </p:nvSpPr>
        <p:spPr>
          <a:xfrm>
            <a:off x="733101" y="3534798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PLUGINS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38" name="Google Shape;538;p57"/>
          <p:cNvPicPr preferRelativeResize="0"/>
          <p:nvPr/>
        </p:nvPicPr>
        <p:blipFill rotWithShape="1">
          <a:blip r:embed="rId19">
            <a:alphaModFix/>
          </a:blip>
          <a:srcRect b="0" l="583" r="593" t="0"/>
          <a:stretch/>
        </p:blipFill>
        <p:spPr>
          <a:xfrm>
            <a:off x="571469" y="3516680"/>
            <a:ext cx="115875" cy="11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7"/>
          <p:cNvPicPr preferRelativeResize="0"/>
          <p:nvPr/>
        </p:nvPicPr>
        <p:blipFill rotWithShape="1">
          <a:blip r:embed="rId20">
            <a:alphaModFix/>
          </a:blip>
          <a:srcRect b="0" l="1504" r="1494" t="0"/>
          <a:stretch/>
        </p:blipFill>
        <p:spPr>
          <a:xfrm>
            <a:off x="590096" y="3216784"/>
            <a:ext cx="79431" cy="7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57"/>
          <p:cNvPicPr preferRelativeResize="0"/>
          <p:nvPr/>
        </p:nvPicPr>
        <p:blipFill rotWithShape="1">
          <a:blip r:embed="rId21">
            <a:alphaModFix/>
          </a:blip>
          <a:srcRect b="0" l="593" r="583" t="0"/>
          <a:stretch/>
        </p:blipFill>
        <p:spPr>
          <a:xfrm>
            <a:off x="565002" y="3833569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7"/>
          <p:cNvPicPr preferRelativeResize="0"/>
          <p:nvPr/>
        </p:nvPicPr>
        <p:blipFill rotWithShape="1">
          <a:blip r:embed="rId22">
            <a:alphaModFix/>
          </a:blip>
          <a:srcRect b="0" l="583" r="593" t="0"/>
          <a:stretch/>
        </p:blipFill>
        <p:spPr>
          <a:xfrm>
            <a:off x="7395505" y="353136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7"/>
          <p:cNvSpPr/>
          <p:nvPr/>
        </p:nvSpPr>
        <p:spPr>
          <a:xfrm>
            <a:off x="528679" y="282150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57"/>
          <p:cNvSpPr txBox="1"/>
          <p:nvPr/>
        </p:nvSpPr>
        <p:spPr>
          <a:xfrm>
            <a:off x="733100" y="2895246"/>
            <a:ext cx="287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FLOW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44" name="Google Shape;544;p57"/>
          <p:cNvPicPr preferRelativeResize="0"/>
          <p:nvPr/>
        </p:nvPicPr>
        <p:blipFill rotWithShape="1">
          <a:blip r:embed="rId23">
            <a:alphaModFix/>
          </a:blip>
          <a:srcRect b="0" l="593" r="583" t="0"/>
          <a:stretch/>
        </p:blipFill>
        <p:spPr>
          <a:xfrm>
            <a:off x="566974" y="2883920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7"/>
          <p:cNvSpPr txBox="1"/>
          <p:nvPr/>
        </p:nvSpPr>
        <p:spPr>
          <a:xfrm>
            <a:off x="528675" y="2170500"/>
            <a:ext cx="12300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Flexible options enable businesses to accept payments online – from simple, fast-start methods to full custom integration.</a:t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Google Shape;546;p57"/>
          <p:cNvSpPr txBox="1"/>
          <p:nvPr/>
        </p:nvSpPr>
        <p:spPr>
          <a:xfrm>
            <a:off x="3931663" y="2170500"/>
            <a:ext cx="10782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Combat fraud with AI trained on billions of transactions that flow across our network – built to keep you compliant with changing regulatory standards. </a:t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Google Shape;547;p57"/>
          <p:cNvSpPr txBox="1"/>
          <p:nvPr/>
        </p:nvSpPr>
        <p:spPr>
          <a:xfrm>
            <a:off x="5628875" y="2170525"/>
            <a:ext cx="1213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Leverage AI and deep payment expertise to unlock revenue with the latest payment optimizations.  </a:t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57"/>
          <p:cNvSpPr txBox="1"/>
          <p:nvPr/>
        </p:nvSpPr>
        <p:spPr>
          <a:xfrm>
            <a:off x="2234950" y="2170500"/>
            <a:ext cx="1213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Reap the benefits of our global network, access local acquiring, and process the digital  payment methods your customers want to use.</a:t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57"/>
          <p:cNvSpPr txBox="1"/>
          <p:nvPr/>
        </p:nvSpPr>
        <p:spPr>
          <a:xfrm>
            <a:off x="7343950" y="2170500"/>
            <a:ext cx="1198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simple intuitive way to monitor, set, and action money flows and liquidity. From reconciliation to global currency management.</a:t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57"/>
          <p:cNvSpPr txBox="1"/>
          <p:nvPr/>
        </p:nvSpPr>
        <p:spPr>
          <a:xfrm>
            <a:off x="540788" y="159575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Select your 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way to process payments online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. Full Marketecture (Dark w/ Patterns)" showMasterSp="0">
  <p:cSld name="Title Black_3_1">
    <p:bg>
      <p:bgPr>
        <a:solidFill>
          <a:schemeClr val="dk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8"/>
          <p:cNvSpPr txBox="1"/>
          <p:nvPr>
            <p:ph type="title"/>
          </p:nvPr>
        </p:nvSpPr>
        <p:spPr>
          <a:xfrm>
            <a:off x="419775" y="417750"/>
            <a:ext cx="6875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553" name="Google Shape;553;p58"/>
          <p:cNvSpPr/>
          <p:nvPr/>
        </p:nvSpPr>
        <p:spPr>
          <a:xfrm>
            <a:off x="8096250" y="4277900"/>
            <a:ext cx="727200" cy="727200"/>
          </a:xfrm>
          <a:prstGeom prst="rect">
            <a:avLst/>
          </a:prstGeom>
          <a:solidFill>
            <a:srgbClr val="272832"/>
          </a:solidFill>
          <a:ln cap="flat" cmpd="sng" w="9525">
            <a:solidFill>
              <a:srgbClr val="27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58"/>
          <p:cNvSpPr/>
          <p:nvPr/>
        </p:nvSpPr>
        <p:spPr>
          <a:xfrm>
            <a:off x="395075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5" name="Google Shape;555;p58"/>
          <p:cNvSpPr/>
          <p:nvPr/>
        </p:nvSpPr>
        <p:spPr>
          <a:xfrm>
            <a:off x="528679" y="4105324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58"/>
          <p:cNvSpPr/>
          <p:nvPr/>
        </p:nvSpPr>
        <p:spPr>
          <a:xfrm>
            <a:off x="528679" y="4421846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7" name="Google Shape;557;p58"/>
          <p:cNvSpPr/>
          <p:nvPr/>
        </p:nvSpPr>
        <p:spPr>
          <a:xfrm>
            <a:off x="528679" y="378448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8" name="Google Shape;558;p58"/>
          <p:cNvSpPr/>
          <p:nvPr/>
        </p:nvSpPr>
        <p:spPr>
          <a:xfrm>
            <a:off x="3801978" y="1093700"/>
            <a:ext cx="1523100" cy="36804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9" name="Google Shape;559;p58"/>
          <p:cNvSpPr/>
          <p:nvPr/>
        </p:nvSpPr>
        <p:spPr>
          <a:xfrm>
            <a:off x="524059" y="182628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CONNECT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0" name="Google Shape;560;p58"/>
          <p:cNvSpPr/>
          <p:nvPr/>
        </p:nvSpPr>
        <p:spPr>
          <a:xfrm>
            <a:off x="5492776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1" name="Google Shape;561;p58"/>
          <p:cNvSpPr/>
          <p:nvPr/>
        </p:nvSpPr>
        <p:spPr>
          <a:xfrm>
            <a:off x="2096090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2" name="Google Shape;562;p58"/>
          <p:cNvSpPr/>
          <p:nvPr/>
        </p:nvSpPr>
        <p:spPr>
          <a:xfrm>
            <a:off x="7199174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414248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3" name="Google Shape;563;p58"/>
          <p:cNvSpPr/>
          <p:nvPr/>
        </p:nvSpPr>
        <p:spPr>
          <a:xfrm>
            <a:off x="3935532" y="182628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PROTECT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4" name="Google Shape;564;p58"/>
          <p:cNvSpPr/>
          <p:nvPr/>
        </p:nvSpPr>
        <p:spPr>
          <a:xfrm>
            <a:off x="5628871" y="1826280"/>
            <a:ext cx="449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BOOST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5" name="Google Shape;565;p58"/>
          <p:cNvSpPr/>
          <p:nvPr/>
        </p:nvSpPr>
        <p:spPr>
          <a:xfrm>
            <a:off x="2234962" y="1826280"/>
            <a:ext cx="3873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MOVE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6" name="Google Shape;566;p58"/>
          <p:cNvSpPr/>
          <p:nvPr/>
        </p:nvSpPr>
        <p:spPr>
          <a:xfrm>
            <a:off x="7340281" y="1826280"/>
            <a:ext cx="5259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MANAGE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7" name="Google Shape;567;p58"/>
          <p:cNvSpPr txBox="1"/>
          <p:nvPr/>
        </p:nvSpPr>
        <p:spPr>
          <a:xfrm>
            <a:off x="3940362" y="221022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Master fraud, risk and compliance 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8" name="Google Shape;568;p58"/>
          <p:cNvSpPr txBox="1"/>
          <p:nvPr/>
        </p:nvSpPr>
        <p:spPr>
          <a:xfrm>
            <a:off x="5629324" y="2210225"/>
            <a:ext cx="1077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Payments to power your performance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69" name="Google Shape;569;p58"/>
          <p:cNvSpPr txBox="1"/>
          <p:nvPr/>
        </p:nvSpPr>
        <p:spPr>
          <a:xfrm>
            <a:off x="2218533" y="1645609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endParaRPr sz="11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70" name="Google Shape;570;p58"/>
          <p:cNvSpPr txBox="1"/>
          <p:nvPr/>
        </p:nvSpPr>
        <p:spPr>
          <a:xfrm>
            <a:off x="7338158" y="221022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Control how money moves worldwide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71" name="Google Shape;571;p58"/>
          <p:cNvSpPr/>
          <p:nvPr/>
        </p:nvSpPr>
        <p:spPr>
          <a:xfrm>
            <a:off x="528679" y="314240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2" name="Google Shape;572;p58"/>
          <p:cNvSpPr txBox="1"/>
          <p:nvPr/>
        </p:nvSpPr>
        <p:spPr>
          <a:xfrm>
            <a:off x="733101" y="4179067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MOBILE SDK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73" name="Google Shape;573;p58"/>
          <p:cNvSpPr txBox="1"/>
          <p:nvPr/>
        </p:nvSpPr>
        <p:spPr>
          <a:xfrm>
            <a:off x="733101" y="321615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HOSTED PAYMENT PAGE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74" name="Google Shape;574;p58"/>
          <p:cNvSpPr txBox="1"/>
          <p:nvPr/>
        </p:nvSpPr>
        <p:spPr>
          <a:xfrm>
            <a:off x="733101" y="4495585"/>
            <a:ext cx="903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UNIFIED PAYMENTS API</a:t>
            </a:r>
            <a:endParaRPr b="1" sz="5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5" name="Google Shape;575;p58"/>
          <p:cNvSpPr/>
          <p:nvPr/>
        </p:nvSpPr>
        <p:spPr>
          <a:xfrm>
            <a:off x="3930431" y="378669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6" name="Google Shape;576;p58"/>
          <p:cNvSpPr/>
          <p:nvPr/>
        </p:nvSpPr>
        <p:spPr>
          <a:xfrm>
            <a:off x="3930431" y="3465861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Google Shape;577;p58"/>
          <p:cNvSpPr txBox="1"/>
          <p:nvPr/>
        </p:nvSpPr>
        <p:spPr>
          <a:xfrm>
            <a:off x="4137654" y="3539600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IDENTITY VERIFICATION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78" name="Google Shape;578;p58"/>
          <p:cNvSpPr txBox="1"/>
          <p:nvPr/>
        </p:nvSpPr>
        <p:spPr>
          <a:xfrm>
            <a:off x="4137654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DISPUTES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79" name="Google Shape;579;p58"/>
          <p:cNvSpPr/>
          <p:nvPr/>
        </p:nvSpPr>
        <p:spPr>
          <a:xfrm>
            <a:off x="3930431" y="2823784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58"/>
          <p:cNvSpPr/>
          <p:nvPr/>
        </p:nvSpPr>
        <p:spPr>
          <a:xfrm>
            <a:off x="5626204" y="3465852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1" name="Google Shape;581;p58"/>
          <p:cNvSpPr/>
          <p:nvPr/>
        </p:nvSpPr>
        <p:spPr>
          <a:xfrm>
            <a:off x="5621851" y="2823784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58"/>
          <p:cNvSpPr txBox="1"/>
          <p:nvPr/>
        </p:nvSpPr>
        <p:spPr>
          <a:xfrm>
            <a:off x="5835135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INTELLIGENT ACCEPTANCE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83" name="Google Shape;583;p58"/>
          <p:cNvSpPr/>
          <p:nvPr/>
        </p:nvSpPr>
        <p:spPr>
          <a:xfrm>
            <a:off x="5626204" y="3142423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4" name="Google Shape;584;p58"/>
          <p:cNvSpPr txBox="1"/>
          <p:nvPr/>
        </p:nvSpPr>
        <p:spPr>
          <a:xfrm>
            <a:off x="5835135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NETWORK TOKENS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85" name="Google Shape;585;p58"/>
          <p:cNvSpPr txBox="1"/>
          <p:nvPr/>
        </p:nvSpPr>
        <p:spPr>
          <a:xfrm>
            <a:off x="5835143" y="3521211"/>
            <a:ext cx="747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REAL TIME </a:t>
            </a:r>
            <a:b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ACCOUNT UPDATER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86" name="Google Shape;586;p58"/>
          <p:cNvSpPr/>
          <p:nvPr/>
        </p:nvSpPr>
        <p:spPr>
          <a:xfrm>
            <a:off x="3930417" y="314242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58"/>
          <p:cNvSpPr/>
          <p:nvPr/>
        </p:nvSpPr>
        <p:spPr>
          <a:xfrm>
            <a:off x="7339605" y="2823784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Google Shape;588;p58"/>
          <p:cNvSpPr txBox="1"/>
          <p:nvPr/>
        </p:nvSpPr>
        <p:spPr>
          <a:xfrm>
            <a:off x="7550797" y="2897524"/>
            <a:ext cx="8286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DASHBOARD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89" name="Google Shape;589;p58"/>
          <p:cNvSpPr/>
          <p:nvPr/>
        </p:nvSpPr>
        <p:spPr>
          <a:xfrm>
            <a:off x="7339605" y="314242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Google Shape;590;p58"/>
          <p:cNvSpPr txBox="1"/>
          <p:nvPr/>
        </p:nvSpPr>
        <p:spPr>
          <a:xfrm>
            <a:off x="7550797" y="3216166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BALANCES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91" name="Google Shape;591;p58"/>
          <p:cNvSpPr/>
          <p:nvPr/>
        </p:nvSpPr>
        <p:spPr>
          <a:xfrm>
            <a:off x="3934126" y="4103216"/>
            <a:ext cx="12699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58"/>
          <p:cNvSpPr txBox="1"/>
          <p:nvPr/>
        </p:nvSpPr>
        <p:spPr>
          <a:xfrm>
            <a:off x="4137654" y="417695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VAULT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93" name="Google Shape;593;p58"/>
          <p:cNvSpPr/>
          <p:nvPr/>
        </p:nvSpPr>
        <p:spPr>
          <a:xfrm>
            <a:off x="528679" y="346105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4" name="Google Shape;594;p58"/>
          <p:cNvSpPr txBox="1"/>
          <p:nvPr/>
        </p:nvSpPr>
        <p:spPr>
          <a:xfrm>
            <a:off x="733101" y="3858231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PAYMENT LINKS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595" name="Google Shape;595;p58"/>
          <p:cNvSpPr/>
          <p:nvPr/>
        </p:nvSpPr>
        <p:spPr>
          <a:xfrm>
            <a:off x="7339605" y="346585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6" name="Google Shape;596;p58"/>
          <p:cNvSpPr txBox="1"/>
          <p:nvPr/>
        </p:nvSpPr>
        <p:spPr>
          <a:xfrm>
            <a:off x="7550797" y="3539600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TREASURY &amp; FX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597" name="Google Shape;597;p58"/>
          <p:cNvPicPr preferRelativeResize="0"/>
          <p:nvPr/>
        </p:nvPicPr>
        <p:blipFill rotWithShape="1">
          <a:blip r:embed="rId2">
            <a:alphaModFix/>
          </a:blip>
          <a:srcRect b="0" l="603" r="603" t="0"/>
          <a:stretch/>
        </p:blipFill>
        <p:spPr>
          <a:xfrm>
            <a:off x="3984722" y="2889486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58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3984621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8"/>
          <p:cNvPicPr preferRelativeResize="0"/>
          <p:nvPr/>
        </p:nvPicPr>
        <p:blipFill rotWithShape="1">
          <a:blip r:embed="rId4">
            <a:alphaModFix/>
          </a:blip>
          <a:srcRect b="0" l="583" r="593" t="0"/>
          <a:stretch/>
        </p:blipFill>
        <p:spPr>
          <a:xfrm>
            <a:off x="3984749" y="385244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58"/>
          <p:cNvPicPr preferRelativeResize="0"/>
          <p:nvPr/>
        </p:nvPicPr>
        <p:blipFill rotWithShape="1">
          <a:blip r:embed="rId5">
            <a:alphaModFix/>
          </a:blip>
          <a:srcRect b="0" l="603" r="603" t="0"/>
          <a:stretch/>
        </p:blipFill>
        <p:spPr>
          <a:xfrm>
            <a:off x="5673060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58"/>
          <p:cNvPicPr preferRelativeResize="0"/>
          <p:nvPr/>
        </p:nvPicPr>
        <p:blipFill rotWithShape="1">
          <a:blip r:embed="rId6">
            <a:alphaModFix/>
          </a:blip>
          <a:srcRect b="0" l="485" r="485" t="0"/>
          <a:stretch/>
        </p:blipFill>
        <p:spPr>
          <a:xfrm>
            <a:off x="567284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58"/>
          <p:cNvPicPr preferRelativeResize="0"/>
          <p:nvPr/>
        </p:nvPicPr>
        <p:blipFill rotWithShape="1">
          <a:blip r:embed="rId7">
            <a:alphaModFix/>
          </a:blip>
          <a:srcRect b="0" l="603" r="603" t="0"/>
          <a:stretch/>
        </p:blipFill>
        <p:spPr>
          <a:xfrm>
            <a:off x="5673060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58"/>
          <p:cNvPicPr preferRelativeResize="0"/>
          <p:nvPr/>
        </p:nvPicPr>
        <p:blipFill rotWithShape="1">
          <a:blip r:embed="rId8">
            <a:alphaModFix/>
          </a:blip>
          <a:srcRect b="0" l="505" r="495" t="0"/>
          <a:stretch/>
        </p:blipFill>
        <p:spPr>
          <a:xfrm>
            <a:off x="3984621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8"/>
          <p:cNvSpPr/>
          <p:nvPr/>
        </p:nvSpPr>
        <p:spPr>
          <a:xfrm>
            <a:off x="2236908" y="3465856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58"/>
          <p:cNvSpPr txBox="1"/>
          <p:nvPr/>
        </p:nvSpPr>
        <p:spPr>
          <a:xfrm>
            <a:off x="2445090" y="3539600"/>
            <a:ext cx="9885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ISSUING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606" name="Google Shape;606;p58"/>
          <p:cNvPicPr preferRelativeResize="0"/>
          <p:nvPr/>
        </p:nvPicPr>
        <p:blipFill rotWithShape="1">
          <a:blip r:embed="rId9">
            <a:alphaModFix/>
          </a:blip>
          <a:srcRect b="0" l="603" r="603" t="0"/>
          <a:stretch/>
        </p:blipFill>
        <p:spPr>
          <a:xfrm>
            <a:off x="2296227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58"/>
          <p:cNvSpPr/>
          <p:nvPr/>
        </p:nvSpPr>
        <p:spPr>
          <a:xfrm>
            <a:off x="2236908" y="3786689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8" name="Google Shape;608;p58"/>
          <p:cNvSpPr txBox="1"/>
          <p:nvPr/>
        </p:nvSpPr>
        <p:spPr>
          <a:xfrm>
            <a:off x="2445090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PAYOUTS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609" name="Google Shape;609;p58"/>
          <p:cNvPicPr preferRelativeResize="0"/>
          <p:nvPr/>
        </p:nvPicPr>
        <p:blipFill rotWithShape="1">
          <a:blip r:embed="rId10">
            <a:alphaModFix/>
          </a:blip>
          <a:srcRect b="0" l="505" r="495" t="0"/>
          <a:stretch/>
        </p:blipFill>
        <p:spPr>
          <a:xfrm>
            <a:off x="2296126" y="385239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8"/>
          <p:cNvSpPr/>
          <p:nvPr/>
        </p:nvSpPr>
        <p:spPr>
          <a:xfrm>
            <a:off x="2236908" y="2823784"/>
            <a:ext cx="12603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1" name="Google Shape;611;p58"/>
          <p:cNvSpPr txBox="1"/>
          <p:nvPr/>
        </p:nvSpPr>
        <p:spPr>
          <a:xfrm>
            <a:off x="2445090" y="2897524"/>
            <a:ext cx="935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ACQUIRING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612" name="Google Shape;612;p58"/>
          <p:cNvPicPr preferRelativeResize="0"/>
          <p:nvPr/>
        </p:nvPicPr>
        <p:blipFill rotWithShape="1">
          <a:blip r:embed="rId11">
            <a:alphaModFix/>
          </a:blip>
          <a:srcRect b="2714" l="0" r="0" t="2714"/>
          <a:stretch/>
        </p:blipFill>
        <p:spPr>
          <a:xfrm>
            <a:off x="2296254" y="2889530"/>
            <a:ext cx="96884" cy="9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8"/>
          <p:cNvPicPr preferRelativeResize="0"/>
          <p:nvPr/>
        </p:nvPicPr>
        <p:blipFill rotWithShape="1">
          <a:blip r:embed="rId12">
            <a:alphaModFix/>
          </a:blip>
          <a:srcRect b="0" l="710" r="710" t="0"/>
          <a:stretch/>
        </p:blipFill>
        <p:spPr>
          <a:xfrm>
            <a:off x="739571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8"/>
          <p:cNvPicPr preferRelativeResize="0"/>
          <p:nvPr/>
        </p:nvPicPr>
        <p:blipFill rotWithShape="1">
          <a:blip r:embed="rId13">
            <a:alphaModFix/>
          </a:blip>
          <a:srcRect b="0" l="583" r="593" t="0"/>
          <a:stretch/>
        </p:blipFill>
        <p:spPr>
          <a:xfrm>
            <a:off x="7395744" y="3208175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8"/>
          <p:cNvSpPr/>
          <p:nvPr/>
        </p:nvSpPr>
        <p:spPr>
          <a:xfrm>
            <a:off x="2236908" y="3142424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58"/>
          <p:cNvSpPr txBox="1"/>
          <p:nvPr/>
        </p:nvSpPr>
        <p:spPr>
          <a:xfrm>
            <a:off x="2445090" y="3216166"/>
            <a:ext cx="94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PAYMENT METHODS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617" name="Google Shape;617;p58"/>
          <p:cNvPicPr preferRelativeResize="0"/>
          <p:nvPr/>
        </p:nvPicPr>
        <p:blipFill rotWithShape="1">
          <a:blip r:embed="rId14">
            <a:alphaModFix/>
          </a:blip>
          <a:srcRect b="0" l="583" r="593" t="0"/>
          <a:stretch/>
        </p:blipFill>
        <p:spPr>
          <a:xfrm flipH="1">
            <a:off x="2277499" y="3207932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8"/>
          <p:cNvPicPr preferRelativeResize="0"/>
          <p:nvPr/>
        </p:nvPicPr>
        <p:blipFill rotWithShape="1">
          <a:blip r:embed="rId15">
            <a:alphaModFix/>
          </a:blip>
          <a:srcRect b="0" l="583" r="593" t="0"/>
          <a:stretch/>
        </p:blipFill>
        <p:spPr>
          <a:xfrm>
            <a:off x="3984513" y="4168720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8"/>
          <p:cNvPicPr preferRelativeResize="0"/>
          <p:nvPr/>
        </p:nvPicPr>
        <p:blipFill rotWithShape="1">
          <a:blip r:embed="rId16">
            <a:alphaModFix/>
          </a:blip>
          <a:srcRect b="0" l="583" r="593" t="0"/>
          <a:stretch/>
        </p:blipFill>
        <p:spPr>
          <a:xfrm>
            <a:off x="581487" y="448760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8"/>
          <p:cNvPicPr preferRelativeResize="0"/>
          <p:nvPr/>
        </p:nvPicPr>
        <p:blipFill rotWithShape="1">
          <a:blip r:embed="rId17">
            <a:alphaModFix/>
          </a:blip>
          <a:srcRect b="0" l="583" r="593" t="0"/>
          <a:stretch/>
        </p:blipFill>
        <p:spPr>
          <a:xfrm>
            <a:off x="571458" y="4160933"/>
            <a:ext cx="116914" cy="118317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58"/>
          <p:cNvSpPr txBox="1"/>
          <p:nvPr/>
        </p:nvSpPr>
        <p:spPr>
          <a:xfrm>
            <a:off x="4137654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FRAUD DETECTION PRO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622" name="Google Shape;622;p58"/>
          <p:cNvSpPr txBox="1"/>
          <p:nvPr/>
        </p:nvSpPr>
        <p:spPr>
          <a:xfrm>
            <a:off x="4137654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AUTHENTICATION</a:t>
            </a:r>
            <a:endParaRPr b="1" sz="550">
              <a:solidFill>
                <a:srgbClr val="FFFFFF"/>
              </a:solidFill>
            </a:endParaRPr>
          </a:p>
        </p:txBody>
      </p:sp>
      <p:sp>
        <p:nvSpPr>
          <p:cNvPr id="623" name="Google Shape;623;p58"/>
          <p:cNvSpPr txBox="1"/>
          <p:nvPr/>
        </p:nvSpPr>
        <p:spPr>
          <a:xfrm>
            <a:off x="2234961" y="221020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Simplify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global pay-ins and payouts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24" name="Google Shape;624;p58"/>
          <p:cNvSpPr txBox="1"/>
          <p:nvPr/>
        </p:nvSpPr>
        <p:spPr>
          <a:xfrm>
            <a:off x="733101" y="3534798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PLUGINS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625" name="Google Shape;625;p58"/>
          <p:cNvPicPr preferRelativeResize="0"/>
          <p:nvPr/>
        </p:nvPicPr>
        <p:blipFill rotWithShape="1">
          <a:blip r:embed="rId18">
            <a:alphaModFix/>
          </a:blip>
          <a:srcRect b="0" l="583" r="593" t="0"/>
          <a:stretch/>
        </p:blipFill>
        <p:spPr>
          <a:xfrm>
            <a:off x="571469" y="3516680"/>
            <a:ext cx="115875" cy="11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58"/>
          <p:cNvPicPr preferRelativeResize="0"/>
          <p:nvPr/>
        </p:nvPicPr>
        <p:blipFill rotWithShape="1">
          <a:blip r:embed="rId19">
            <a:alphaModFix/>
          </a:blip>
          <a:srcRect b="0" l="1504" r="1494" t="0"/>
          <a:stretch/>
        </p:blipFill>
        <p:spPr>
          <a:xfrm>
            <a:off x="590096" y="3216784"/>
            <a:ext cx="79431" cy="7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8"/>
          <p:cNvPicPr preferRelativeResize="0"/>
          <p:nvPr/>
        </p:nvPicPr>
        <p:blipFill rotWithShape="1">
          <a:blip r:embed="rId20">
            <a:alphaModFix/>
          </a:blip>
          <a:srcRect b="0" l="593" r="583" t="0"/>
          <a:stretch/>
        </p:blipFill>
        <p:spPr>
          <a:xfrm>
            <a:off x="565002" y="3833569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8"/>
          <p:cNvPicPr preferRelativeResize="0"/>
          <p:nvPr/>
        </p:nvPicPr>
        <p:blipFill rotWithShape="1">
          <a:blip r:embed="rId21">
            <a:alphaModFix/>
          </a:blip>
          <a:srcRect b="0" l="583" r="593" t="0"/>
          <a:stretch/>
        </p:blipFill>
        <p:spPr>
          <a:xfrm>
            <a:off x="7395505" y="353136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8"/>
          <p:cNvSpPr/>
          <p:nvPr/>
        </p:nvSpPr>
        <p:spPr>
          <a:xfrm>
            <a:off x="528679" y="282150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27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Google Shape;630;p58"/>
          <p:cNvSpPr txBox="1"/>
          <p:nvPr/>
        </p:nvSpPr>
        <p:spPr>
          <a:xfrm>
            <a:off x="733100" y="2895246"/>
            <a:ext cx="287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FLOW</a:t>
            </a:r>
            <a:endParaRPr b="1" sz="550">
              <a:solidFill>
                <a:srgbClr val="FFFFFF"/>
              </a:solidFill>
            </a:endParaRPr>
          </a:p>
        </p:txBody>
      </p:sp>
      <p:pic>
        <p:nvPicPr>
          <p:cNvPr id="631" name="Google Shape;631;p58"/>
          <p:cNvPicPr preferRelativeResize="0"/>
          <p:nvPr/>
        </p:nvPicPr>
        <p:blipFill rotWithShape="1">
          <a:blip r:embed="rId22">
            <a:alphaModFix/>
          </a:blip>
          <a:srcRect b="0" l="593" r="583" t="0"/>
          <a:stretch/>
        </p:blipFill>
        <p:spPr>
          <a:xfrm>
            <a:off x="566974" y="2883920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8"/>
          <p:cNvPicPr preferRelativeResize="0"/>
          <p:nvPr/>
        </p:nvPicPr>
        <p:blipFill rotWithShape="1">
          <a:blip r:embed="rId23">
            <a:alphaModFix amt="30000"/>
          </a:blip>
          <a:srcRect b="8" l="2243" r="23247" t="21009"/>
          <a:stretch/>
        </p:blipFill>
        <p:spPr>
          <a:xfrm>
            <a:off x="395075" y="1093700"/>
            <a:ext cx="1523100" cy="538500"/>
          </a:xfrm>
          <a:prstGeom prst="round2SameRect">
            <a:avLst>
              <a:gd fmla="val 15924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633" name="Google Shape;633;p58"/>
          <p:cNvPicPr preferRelativeResize="0"/>
          <p:nvPr/>
        </p:nvPicPr>
        <p:blipFill rotWithShape="1">
          <a:blip r:embed="rId24">
            <a:alphaModFix amt="30000"/>
          </a:blip>
          <a:srcRect b="0" l="10458" r="0" t="0"/>
          <a:stretch/>
        </p:blipFill>
        <p:spPr>
          <a:xfrm>
            <a:off x="2096087" y="1093700"/>
            <a:ext cx="1523100" cy="538500"/>
          </a:xfrm>
          <a:prstGeom prst="round2SameRect">
            <a:avLst>
              <a:gd fmla="val 15999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634" name="Google Shape;634;p58"/>
          <p:cNvPicPr preferRelativeResize="0"/>
          <p:nvPr/>
        </p:nvPicPr>
        <p:blipFill rotWithShape="1">
          <a:blip r:embed="rId25">
            <a:alphaModFix amt="30000"/>
          </a:blip>
          <a:srcRect b="7" l="3978" r="33471" t="33689"/>
          <a:stretch/>
        </p:blipFill>
        <p:spPr>
          <a:xfrm>
            <a:off x="3802524" y="1093700"/>
            <a:ext cx="1523100" cy="538500"/>
          </a:xfrm>
          <a:prstGeom prst="round2SameRect">
            <a:avLst>
              <a:gd fmla="val 16651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635" name="Google Shape;635;p58"/>
          <p:cNvPicPr preferRelativeResize="0"/>
          <p:nvPr/>
        </p:nvPicPr>
        <p:blipFill rotWithShape="1">
          <a:blip r:embed="rId26">
            <a:alphaModFix amt="30000"/>
          </a:blip>
          <a:srcRect b="7" l="3990" r="33467" t="33694"/>
          <a:stretch/>
        </p:blipFill>
        <p:spPr>
          <a:xfrm>
            <a:off x="5492789" y="1093752"/>
            <a:ext cx="1523100" cy="538500"/>
          </a:xfrm>
          <a:prstGeom prst="round2SameRect">
            <a:avLst>
              <a:gd fmla="val 16434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636" name="Google Shape;636;p58"/>
          <p:cNvPicPr preferRelativeResize="0"/>
          <p:nvPr/>
        </p:nvPicPr>
        <p:blipFill rotWithShape="1">
          <a:blip r:embed="rId27">
            <a:alphaModFix amt="30000"/>
          </a:blip>
          <a:srcRect b="0" l="2839" r="2830" t="0"/>
          <a:stretch/>
        </p:blipFill>
        <p:spPr>
          <a:xfrm>
            <a:off x="7199174" y="1093700"/>
            <a:ext cx="1523100" cy="538500"/>
          </a:xfrm>
          <a:prstGeom prst="round2SameRect">
            <a:avLst>
              <a:gd fmla="val 16566" name="adj1"/>
              <a:gd fmla="val 0" name="adj2"/>
            </a:avLst>
          </a:prstGeom>
          <a:noFill/>
          <a:ln>
            <a:noFill/>
          </a:ln>
        </p:spPr>
      </p:pic>
      <p:sp>
        <p:nvSpPr>
          <p:cNvPr id="637" name="Google Shape;637;p58"/>
          <p:cNvSpPr txBox="1"/>
          <p:nvPr/>
        </p:nvSpPr>
        <p:spPr>
          <a:xfrm>
            <a:off x="529561" y="221020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Select your 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way to process payments online</a:t>
            </a:r>
            <a:endParaRPr sz="10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. Full Marketecture (Light)">
  <p:cSld name="Timeline 5 dates continue_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9"/>
          <p:cNvSpPr txBox="1"/>
          <p:nvPr>
            <p:ph type="title"/>
          </p:nvPr>
        </p:nvSpPr>
        <p:spPr>
          <a:xfrm>
            <a:off x="419775" y="417750"/>
            <a:ext cx="6875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0" name="Google Shape;640;p59"/>
          <p:cNvSpPr/>
          <p:nvPr/>
        </p:nvSpPr>
        <p:spPr>
          <a:xfrm>
            <a:off x="395075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1" name="Google Shape;641;p59"/>
          <p:cNvSpPr/>
          <p:nvPr/>
        </p:nvSpPr>
        <p:spPr>
          <a:xfrm>
            <a:off x="528679" y="4105324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Google Shape;642;p59"/>
          <p:cNvSpPr/>
          <p:nvPr/>
        </p:nvSpPr>
        <p:spPr>
          <a:xfrm>
            <a:off x="528679" y="4421846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59"/>
          <p:cNvSpPr/>
          <p:nvPr/>
        </p:nvSpPr>
        <p:spPr>
          <a:xfrm>
            <a:off x="528679" y="378448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Google Shape;644;p59"/>
          <p:cNvSpPr/>
          <p:nvPr/>
        </p:nvSpPr>
        <p:spPr>
          <a:xfrm>
            <a:off x="3801978" y="1093700"/>
            <a:ext cx="1523100" cy="36804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5" name="Google Shape;645;p59"/>
          <p:cNvSpPr/>
          <p:nvPr/>
        </p:nvSpPr>
        <p:spPr>
          <a:xfrm>
            <a:off x="524059" y="121183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CONNECT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46" name="Google Shape;646;p59"/>
          <p:cNvSpPr/>
          <p:nvPr/>
        </p:nvSpPr>
        <p:spPr>
          <a:xfrm>
            <a:off x="5492776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7" name="Google Shape;647;p59"/>
          <p:cNvSpPr/>
          <p:nvPr/>
        </p:nvSpPr>
        <p:spPr>
          <a:xfrm>
            <a:off x="2096090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8" name="Google Shape;648;p59"/>
          <p:cNvSpPr/>
          <p:nvPr/>
        </p:nvSpPr>
        <p:spPr>
          <a:xfrm>
            <a:off x="7199174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9" name="Google Shape;649;p59"/>
          <p:cNvSpPr/>
          <p:nvPr/>
        </p:nvSpPr>
        <p:spPr>
          <a:xfrm>
            <a:off x="3935532" y="121183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PROTECT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0" name="Google Shape;650;p59"/>
          <p:cNvSpPr/>
          <p:nvPr/>
        </p:nvSpPr>
        <p:spPr>
          <a:xfrm>
            <a:off x="5628871" y="1211830"/>
            <a:ext cx="449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BOOST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1" name="Google Shape;651;p59"/>
          <p:cNvSpPr/>
          <p:nvPr/>
        </p:nvSpPr>
        <p:spPr>
          <a:xfrm>
            <a:off x="2234962" y="1211830"/>
            <a:ext cx="3873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MOVE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2" name="Google Shape;652;p59"/>
          <p:cNvSpPr/>
          <p:nvPr/>
        </p:nvSpPr>
        <p:spPr>
          <a:xfrm>
            <a:off x="7340281" y="1211830"/>
            <a:ext cx="5259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MANAGE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3" name="Google Shape;653;p59"/>
          <p:cNvSpPr txBox="1"/>
          <p:nvPr/>
        </p:nvSpPr>
        <p:spPr>
          <a:xfrm>
            <a:off x="3940362" y="159577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Master fraud, risk and compliance 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4" name="Google Shape;654;p59"/>
          <p:cNvSpPr txBox="1"/>
          <p:nvPr/>
        </p:nvSpPr>
        <p:spPr>
          <a:xfrm>
            <a:off x="5629324" y="1595775"/>
            <a:ext cx="1077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Payments to power your performance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5" name="Google Shape;655;p59"/>
          <p:cNvSpPr txBox="1"/>
          <p:nvPr/>
        </p:nvSpPr>
        <p:spPr>
          <a:xfrm>
            <a:off x="7338158" y="159577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Control how money moves worldwide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56" name="Google Shape;656;p59"/>
          <p:cNvSpPr/>
          <p:nvPr/>
        </p:nvSpPr>
        <p:spPr>
          <a:xfrm>
            <a:off x="528679" y="314240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7" name="Google Shape;657;p59"/>
          <p:cNvSpPr txBox="1"/>
          <p:nvPr/>
        </p:nvSpPr>
        <p:spPr>
          <a:xfrm>
            <a:off x="733101" y="4179067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MOBILE SDK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58" name="Google Shape;658;p59"/>
          <p:cNvSpPr txBox="1"/>
          <p:nvPr/>
        </p:nvSpPr>
        <p:spPr>
          <a:xfrm>
            <a:off x="733101" y="321615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HOSTED PAYMENT PAGE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59" name="Google Shape;659;p59"/>
          <p:cNvSpPr txBox="1"/>
          <p:nvPr/>
        </p:nvSpPr>
        <p:spPr>
          <a:xfrm>
            <a:off x="733101" y="4495585"/>
            <a:ext cx="903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UNIFIED PAYMENTS API</a:t>
            </a:r>
            <a:endParaRPr b="1" sz="5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0" name="Google Shape;660;p59"/>
          <p:cNvSpPr/>
          <p:nvPr/>
        </p:nvSpPr>
        <p:spPr>
          <a:xfrm>
            <a:off x="3930431" y="378669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1" name="Google Shape;661;p59"/>
          <p:cNvSpPr/>
          <p:nvPr/>
        </p:nvSpPr>
        <p:spPr>
          <a:xfrm>
            <a:off x="3930431" y="3465861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2" name="Google Shape;662;p59"/>
          <p:cNvSpPr txBox="1"/>
          <p:nvPr/>
        </p:nvSpPr>
        <p:spPr>
          <a:xfrm>
            <a:off x="4137654" y="3539600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IDENTITY VERIFICATION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63" name="Google Shape;663;p59"/>
          <p:cNvSpPr txBox="1"/>
          <p:nvPr/>
        </p:nvSpPr>
        <p:spPr>
          <a:xfrm>
            <a:off x="4137654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DISPUTES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64" name="Google Shape;664;p59"/>
          <p:cNvSpPr/>
          <p:nvPr/>
        </p:nvSpPr>
        <p:spPr>
          <a:xfrm>
            <a:off x="3930431" y="2823784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5" name="Google Shape;665;p59"/>
          <p:cNvSpPr/>
          <p:nvPr/>
        </p:nvSpPr>
        <p:spPr>
          <a:xfrm>
            <a:off x="5626204" y="3465852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6" name="Google Shape;666;p59"/>
          <p:cNvSpPr/>
          <p:nvPr/>
        </p:nvSpPr>
        <p:spPr>
          <a:xfrm>
            <a:off x="5621851" y="2823784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59"/>
          <p:cNvSpPr txBox="1"/>
          <p:nvPr/>
        </p:nvSpPr>
        <p:spPr>
          <a:xfrm>
            <a:off x="5835135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INTELLIGENT ACCEPTANCE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68" name="Google Shape;668;p59"/>
          <p:cNvSpPr/>
          <p:nvPr/>
        </p:nvSpPr>
        <p:spPr>
          <a:xfrm>
            <a:off x="5626204" y="3142423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59"/>
          <p:cNvSpPr txBox="1"/>
          <p:nvPr/>
        </p:nvSpPr>
        <p:spPr>
          <a:xfrm>
            <a:off x="5835135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NETWORK TOKENS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70" name="Google Shape;670;p59"/>
          <p:cNvSpPr txBox="1"/>
          <p:nvPr/>
        </p:nvSpPr>
        <p:spPr>
          <a:xfrm>
            <a:off x="5835143" y="3521211"/>
            <a:ext cx="747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REAL TIME </a:t>
            </a:r>
            <a:b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ACCOUNT UPDATER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71" name="Google Shape;671;p59"/>
          <p:cNvSpPr/>
          <p:nvPr/>
        </p:nvSpPr>
        <p:spPr>
          <a:xfrm>
            <a:off x="3930417" y="314242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2" name="Google Shape;672;p59"/>
          <p:cNvSpPr/>
          <p:nvPr/>
        </p:nvSpPr>
        <p:spPr>
          <a:xfrm>
            <a:off x="7339605" y="2823784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3" name="Google Shape;673;p59"/>
          <p:cNvSpPr txBox="1"/>
          <p:nvPr/>
        </p:nvSpPr>
        <p:spPr>
          <a:xfrm>
            <a:off x="7550797" y="2897524"/>
            <a:ext cx="8286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DASHBOARD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74" name="Google Shape;674;p59"/>
          <p:cNvSpPr/>
          <p:nvPr/>
        </p:nvSpPr>
        <p:spPr>
          <a:xfrm>
            <a:off x="7339605" y="314242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Google Shape;675;p59"/>
          <p:cNvSpPr txBox="1"/>
          <p:nvPr/>
        </p:nvSpPr>
        <p:spPr>
          <a:xfrm>
            <a:off x="7550797" y="3216166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BUSINESS ACCOUNT</a:t>
            </a:r>
            <a:endParaRPr b="1" sz="5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6" name="Google Shape;676;p59"/>
          <p:cNvSpPr/>
          <p:nvPr/>
        </p:nvSpPr>
        <p:spPr>
          <a:xfrm>
            <a:off x="3934126" y="4103216"/>
            <a:ext cx="1269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Google Shape;677;p59"/>
          <p:cNvSpPr txBox="1"/>
          <p:nvPr/>
        </p:nvSpPr>
        <p:spPr>
          <a:xfrm>
            <a:off x="4137654" y="417695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VAULT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78" name="Google Shape;678;p59"/>
          <p:cNvSpPr/>
          <p:nvPr/>
        </p:nvSpPr>
        <p:spPr>
          <a:xfrm>
            <a:off x="528679" y="346105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59"/>
          <p:cNvSpPr txBox="1"/>
          <p:nvPr/>
        </p:nvSpPr>
        <p:spPr>
          <a:xfrm>
            <a:off x="733101" y="3858231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PAYMENT LINKS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680" name="Google Shape;680;p59"/>
          <p:cNvSpPr/>
          <p:nvPr/>
        </p:nvSpPr>
        <p:spPr>
          <a:xfrm>
            <a:off x="7339605" y="346585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p59"/>
          <p:cNvSpPr txBox="1"/>
          <p:nvPr/>
        </p:nvSpPr>
        <p:spPr>
          <a:xfrm>
            <a:off x="7550797" y="3539600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TREASURY &amp; FX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682" name="Google Shape;682;p59"/>
          <p:cNvPicPr preferRelativeResize="0"/>
          <p:nvPr/>
        </p:nvPicPr>
        <p:blipFill rotWithShape="1">
          <a:blip r:embed="rId2">
            <a:alphaModFix/>
          </a:blip>
          <a:srcRect b="0" l="603" r="603" t="0"/>
          <a:stretch/>
        </p:blipFill>
        <p:spPr>
          <a:xfrm>
            <a:off x="3984722" y="2889486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9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3984621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9"/>
          <p:cNvPicPr preferRelativeResize="0"/>
          <p:nvPr/>
        </p:nvPicPr>
        <p:blipFill rotWithShape="1">
          <a:blip r:embed="rId4">
            <a:alphaModFix/>
          </a:blip>
          <a:srcRect b="0" l="583" r="593" t="0"/>
          <a:stretch/>
        </p:blipFill>
        <p:spPr>
          <a:xfrm>
            <a:off x="3984749" y="385244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9"/>
          <p:cNvPicPr preferRelativeResize="0"/>
          <p:nvPr/>
        </p:nvPicPr>
        <p:blipFill rotWithShape="1">
          <a:blip r:embed="rId5">
            <a:alphaModFix/>
          </a:blip>
          <a:srcRect b="0" l="603" r="603" t="0"/>
          <a:stretch/>
        </p:blipFill>
        <p:spPr>
          <a:xfrm>
            <a:off x="5673060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59"/>
          <p:cNvPicPr preferRelativeResize="0"/>
          <p:nvPr/>
        </p:nvPicPr>
        <p:blipFill rotWithShape="1">
          <a:blip r:embed="rId6">
            <a:alphaModFix/>
          </a:blip>
          <a:srcRect b="0" l="485" r="485" t="0"/>
          <a:stretch/>
        </p:blipFill>
        <p:spPr>
          <a:xfrm>
            <a:off x="567284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9"/>
          <p:cNvPicPr preferRelativeResize="0"/>
          <p:nvPr/>
        </p:nvPicPr>
        <p:blipFill rotWithShape="1">
          <a:blip r:embed="rId7">
            <a:alphaModFix/>
          </a:blip>
          <a:srcRect b="0" l="603" r="603" t="0"/>
          <a:stretch/>
        </p:blipFill>
        <p:spPr>
          <a:xfrm>
            <a:off x="5673060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9"/>
          <p:cNvPicPr preferRelativeResize="0"/>
          <p:nvPr/>
        </p:nvPicPr>
        <p:blipFill rotWithShape="1">
          <a:blip r:embed="rId8">
            <a:alphaModFix/>
          </a:blip>
          <a:srcRect b="0" l="505" r="495" t="0"/>
          <a:stretch/>
        </p:blipFill>
        <p:spPr>
          <a:xfrm>
            <a:off x="3984621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9"/>
          <p:cNvSpPr/>
          <p:nvPr/>
        </p:nvSpPr>
        <p:spPr>
          <a:xfrm>
            <a:off x="2236908" y="3465856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59"/>
          <p:cNvSpPr txBox="1"/>
          <p:nvPr/>
        </p:nvSpPr>
        <p:spPr>
          <a:xfrm>
            <a:off x="2445090" y="3539600"/>
            <a:ext cx="9885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ISSUING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691" name="Google Shape;691;p59"/>
          <p:cNvPicPr preferRelativeResize="0"/>
          <p:nvPr/>
        </p:nvPicPr>
        <p:blipFill rotWithShape="1">
          <a:blip r:embed="rId9">
            <a:alphaModFix/>
          </a:blip>
          <a:srcRect b="0" l="603" r="603" t="0"/>
          <a:stretch/>
        </p:blipFill>
        <p:spPr>
          <a:xfrm>
            <a:off x="2296227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9"/>
          <p:cNvSpPr/>
          <p:nvPr/>
        </p:nvSpPr>
        <p:spPr>
          <a:xfrm>
            <a:off x="2236908" y="3786689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3" name="Google Shape;693;p59"/>
          <p:cNvSpPr txBox="1"/>
          <p:nvPr/>
        </p:nvSpPr>
        <p:spPr>
          <a:xfrm>
            <a:off x="2445090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PAYOUTS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694" name="Google Shape;694;p59"/>
          <p:cNvPicPr preferRelativeResize="0"/>
          <p:nvPr/>
        </p:nvPicPr>
        <p:blipFill rotWithShape="1">
          <a:blip r:embed="rId10">
            <a:alphaModFix/>
          </a:blip>
          <a:srcRect b="0" l="505" r="495" t="0"/>
          <a:stretch/>
        </p:blipFill>
        <p:spPr>
          <a:xfrm>
            <a:off x="2296126" y="385239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9"/>
          <p:cNvSpPr/>
          <p:nvPr/>
        </p:nvSpPr>
        <p:spPr>
          <a:xfrm>
            <a:off x="2236908" y="2823784"/>
            <a:ext cx="12603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6" name="Google Shape;696;p59"/>
          <p:cNvSpPr txBox="1"/>
          <p:nvPr/>
        </p:nvSpPr>
        <p:spPr>
          <a:xfrm>
            <a:off x="2445090" y="2897524"/>
            <a:ext cx="935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ACQUIRING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697" name="Google Shape;697;p59"/>
          <p:cNvPicPr preferRelativeResize="0"/>
          <p:nvPr/>
        </p:nvPicPr>
        <p:blipFill rotWithShape="1">
          <a:blip r:embed="rId11">
            <a:alphaModFix/>
          </a:blip>
          <a:srcRect b="2714" l="0" r="0" t="2714"/>
          <a:stretch/>
        </p:blipFill>
        <p:spPr>
          <a:xfrm>
            <a:off x="2296254" y="2889530"/>
            <a:ext cx="96884" cy="9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9"/>
          <p:cNvPicPr preferRelativeResize="0"/>
          <p:nvPr/>
        </p:nvPicPr>
        <p:blipFill rotWithShape="1">
          <a:blip r:embed="rId12">
            <a:alphaModFix/>
          </a:blip>
          <a:srcRect b="0" l="710" r="710" t="0"/>
          <a:stretch/>
        </p:blipFill>
        <p:spPr>
          <a:xfrm>
            <a:off x="739571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9"/>
          <p:cNvPicPr preferRelativeResize="0"/>
          <p:nvPr/>
        </p:nvPicPr>
        <p:blipFill rotWithShape="1">
          <a:blip r:embed="rId13">
            <a:alphaModFix/>
          </a:blip>
          <a:srcRect b="0" l="583" r="593" t="0"/>
          <a:stretch/>
        </p:blipFill>
        <p:spPr>
          <a:xfrm>
            <a:off x="7395744" y="3208175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59"/>
          <p:cNvSpPr/>
          <p:nvPr/>
        </p:nvSpPr>
        <p:spPr>
          <a:xfrm>
            <a:off x="2236908" y="3142424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1" name="Google Shape;701;p59"/>
          <p:cNvSpPr txBox="1"/>
          <p:nvPr/>
        </p:nvSpPr>
        <p:spPr>
          <a:xfrm>
            <a:off x="2445090" y="3216166"/>
            <a:ext cx="94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PAYMENT METHODS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02" name="Google Shape;702;p59"/>
          <p:cNvPicPr preferRelativeResize="0"/>
          <p:nvPr/>
        </p:nvPicPr>
        <p:blipFill rotWithShape="1">
          <a:blip r:embed="rId14">
            <a:alphaModFix/>
          </a:blip>
          <a:srcRect b="0" l="583" r="593" t="0"/>
          <a:stretch/>
        </p:blipFill>
        <p:spPr>
          <a:xfrm flipH="1">
            <a:off x="2277499" y="3207932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9"/>
          <p:cNvPicPr preferRelativeResize="0"/>
          <p:nvPr/>
        </p:nvPicPr>
        <p:blipFill rotWithShape="1">
          <a:blip r:embed="rId15">
            <a:alphaModFix/>
          </a:blip>
          <a:srcRect b="0" l="583" r="593" t="0"/>
          <a:stretch/>
        </p:blipFill>
        <p:spPr>
          <a:xfrm>
            <a:off x="3984513" y="4168720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9"/>
          <p:cNvPicPr preferRelativeResize="0"/>
          <p:nvPr/>
        </p:nvPicPr>
        <p:blipFill rotWithShape="1">
          <a:blip r:embed="rId16">
            <a:alphaModFix/>
          </a:blip>
          <a:srcRect b="0" l="583" r="593" t="0"/>
          <a:stretch/>
        </p:blipFill>
        <p:spPr>
          <a:xfrm>
            <a:off x="581487" y="448760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59"/>
          <p:cNvPicPr preferRelativeResize="0"/>
          <p:nvPr/>
        </p:nvPicPr>
        <p:blipFill rotWithShape="1">
          <a:blip r:embed="rId17">
            <a:alphaModFix/>
          </a:blip>
          <a:srcRect b="0" l="583" r="593" t="0"/>
          <a:stretch/>
        </p:blipFill>
        <p:spPr>
          <a:xfrm>
            <a:off x="571458" y="4160933"/>
            <a:ext cx="116914" cy="118317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9"/>
          <p:cNvSpPr txBox="1"/>
          <p:nvPr/>
        </p:nvSpPr>
        <p:spPr>
          <a:xfrm>
            <a:off x="4137654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272832"/>
                </a:solidFill>
                <a:latin typeface="Roboto Mono"/>
                <a:ea typeface="Roboto Mono"/>
                <a:cs typeface="Roboto Mono"/>
                <a:sym typeface="Roboto Mono"/>
              </a:rPr>
              <a:t>FRAUD DETECTION PRO</a:t>
            </a:r>
            <a:endParaRPr b="1" sz="550">
              <a:solidFill>
                <a:srgbClr val="272832"/>
              </a:solidFill>
            </a:endParaRPr>
          </a:p>
        </p:txBody>
      </p:sp>
      <p:sp>
        <p:nvSpPr>
          <p:cNvPr id="707" name="Google Shape;707;p59"/>
          <p:cNvSpPr txBox="1"/>
          <p:nvPr/>
        </p:nvSpPr>
        <p:spPr>
          <a:xfrm>
            <a:off x="4137654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AUTHENTICATION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08" name="Google Shape;708;p59"/>
          <p:cNvSpPr txBox="1"/>
          <p:nvPr/>
        </p:nvSpPr>
        <p:spPr>
          <a:xfrm>
            <a:off x="2234961" y="159575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Simplify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global pay-ins and payouts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09" name="Google Shape;709;p59"/>
          <p:cNvSpPr txBox="1"/>
          <p:nvPr/>
        </p:nvSpPr>
        <p:spPr>
          <a:xfrm>
            <a:off x="733101" y="3534798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PLUGINS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10" name="Google Shape;710;p59"/>
          <p:cNvPicPr preferRelativeResize="0"/>
          <p:nvPr/>
        </p:nvPicPr>
        <p:blipFill rotWithShape="1">
          <a:blip r:embed="rId18">
            <a:alphaModFix/>
          </a:blip>
          <a:srcRect b="0" l="583" r="593" t="0"/>
          <a:stretch/>
        </p:blipFill>
        <p:spPr>
          <a:xfrm>
            <a:off x="571469" y="3516680"/>
            <a:ext cx="115875" cy="11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59"/>
          <p:cNvPicPr preferRelativeResize="0"/>
          <p:nvPr/>
        </p:nvPicPr>
        <p:blipFill rotWithShape="1">
          <a:blip r:embed="rId19">
            <a:alphaModFix/>
          </a:blip>
          <a:srcRect b="0" l="1504" r="1494" t="0"/>
          <a:stretch/>
        </p:blipFill>
        <p:spPr>
          <a:xfrm>
            <a:off x="590096" y="3216784"/>
            <a:ext cx="79431" cy="7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9"/>
          <p:cNvPicPr preferRelativeResize="0"/>
          <p:nvPr/>
        </p:nvPicPr>
        <p:blipFill rotWithShape="1">
          <a:blip r:embed="rId20">
            <a:alphaModFix/>
          </a:blip>
          <a:srcRect b="0" l="593" r="583" t="0"/>
          <a:stretch/>
        </p:blipFill>
        <p:spPr>
          <a:xfrm>
            <a:off x="565002" y="3833569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9"/>
          <p:cNvPicPr preferRelativeResize="0"/>
          <p:nvPr/>
        </p:nvPicPr>
        <p:blipFill rotWithShape="1">
          <a:blip r:embed="rId21">
            <a:alphaModFix/>
          </a:blip>
          <a:srcRect b="0" l="583" r="593" t="0"/>
          <a:stretch/>
        </p:blipFill>
        <p:spPr>
          <a:xfrm>
            <a:off x="7395505" y="353136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9"/>
          <p:cNvSpPr/>
          <p:nvPr/>
        </p:nvSpPr>
        <p:spPr>
          <a:xfrm>
            <a:off x="528679" y="282150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5" name="Google Shape;715;p59"/>
          <p:cNvSpPr txBox="1"/>
          <p:nvPr/>
        </p:nvSpPr>
        <p:spPr>
          <a:xfrm>
            <a:off x="733100" y="2895246"/>
            <a:ext cx="287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FLOW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16" name="Google Shape;716;p59"/>
          <p:cNvPicPr preferRelativeResize="0"/>
          <p:nvPr/>
        </p:nvPicPr>
        <p:blipFill rotWithShape="1">
          <a:blip r:embed="rId22">
            <a:alphaModFix/>
          </a:blip>
          <a:srcRect b="0" l="593" r="583" t="0"/>
          <a:stretch/>
        </p:blipFill>
        <p:spPr>
          <a:xfrm>
            <a:off x="566974" y="2883920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9"/>
          <p:cNvSpPr txBox="1"/>
          <p:nvPr/>
        </p:nvSpPr>
        <p:spPr>
          <a:xfrm>
            <a:off x="528675" y="2170500"/>
            <a:ext cx="12300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414248"/>
                </a:solidFill>
                <a:latin typeface="Inter"/>
                <a:ea typeface="Inter"/>
                <a:cs typeface="Inter"/>
                <a:sym typeface="Inter"/>
              </a:rPr>
              <a:t>Flexible options enable businesses to accept payments online – from simple, fast-start methods to full custom integration.</a:t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8" name="Google Shape;718;p59"/>
          <p:cNvSpPr txBox="1"/>
          <p:nvPr/>
        </p:nvSpPr>
        <p:spPr>
          <a:xfrm>
            <a:off x="3931663" y="2170500"/>
            <a:ext cx="10782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414248"/>
                </a:solidFill>
                <a:latin typeface="Inter"/>
                <a:ea typeface="Inter"/>
                <a:cs typeface="Inter"/>
                <a:sym typeface="Inter"/>
              </a:rPr>
              <a:t>Combat fraud with AI trained on billions of transactions that flow across our network – built to keep you compliant with changing regulatory standards. </a:t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9" name="Google Shape;719;p59"/>
          <p:cNvSpPr txBox="1"/>
          <p:nvPr/>
        </p:nvSpPr>
        <p:spPr>
          <a:xfrm>
            <a:off x="5628875" y="2170525"/>
            <a:ext cx="1213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414248"/>
                </a:solidFill>
                <a:latin typeface="Inter"/>
                <a:ea typeface="Inter"/>
                <a:cs typeface="Inter"/>
                <a:sym typeface="Inter"/>
              </a:rPr>
              <a:t>Leverage AI and deep payment expertise to unlock revenue with the latest payment optimizations.</a:t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0" name="Google Shape;720;p59"/>
          <p:cNvSpPr txBox="1"/>
          <p:nvPr/>
        </p:nvSpPr>
        <p:spPr>
          <a:xfrm>
            <a:off x="2234950" y="2170500"/>
            <a:ext cx="1213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414248"/>
                </a:solidFill>
                <a:latin typeface="Inter"/>
                <a:ea typeface="Inter"/>
                <a:cs typeface="Inter"/>
                <a:sym typeface="Inter"/>
              </a:rPr>
              <a:t>Reap the benefits of our global network, access local acquiring, and process the digital  payment methods your customers want to use.</a:t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1" name="Google Shape;721;p59"/>
          <p:cNvSpPr txBox="1"/>
          <p:nvPr/>
        </p:nvSpPr>
        <p:spPr>
          <a:xfrm>
            <a:off x="7343950" y="2170500"/>
            <a:ext cx="1198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414248"/>
                </a:solidFill>
                <a:latin typeface="Inter"/>
                <a:ea typeface="Inter"/>
                <a:cs typeface="Inter"/>
                <a:sym typeface="Inter"/>
              </a:rPr>
              <a:t>A simple intuitive way to monitor, set, and action money flows and liquidity. From reconciliation to global currency management.</a:t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4142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2" name="Google Shape;722;p59"/>
          <p:cNvSpPr txBox="1"/>
          <p:nvPr/>
        </p:nvSpPr>
        <p:spPr>
          <a:xfrm>
            <a:off x="514361" y="159575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Select your 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way to process payments online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. Full Marketecture (Light w/ Patterns)">
  <p:cSld name="Timeline 5 dates continue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0"/>
          <p:cNvSpPr txBox="1"/>
          <p:nvPr>
            <p:ph type="title"/>
          </p:nvPr>
        </p:nvSpPr>
        <p:spPr>
          <a:xfrm>
            <a:off x="419775" y="417750"/>
            <a:ext cx="6875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5" name="Google Shape;725;p60"/>
          <p:cNvSpPr/>
          <p:nvPr/>
        </p:nvSpPr>
        <p:spPr>
          <a:xfrm>
            <a:off x="395075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26" name="Google Shape;726;p60"/>
          <p:cNvSpPr/>
          <p:nvPr/>
        </p:nvSpPr>
        <p:spPr>
          <a:xfrm>
            <a:off x="528679" y="4105324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7" name="Google Shape;727;p60"/>
          <p:cNvSpPr/>
          <p:nvPr/>
        </p:nvSpPr>
        <p:spPr>
          <a:xfrm>
            <a:off x="528679" y="4421846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60"/>
          <p:cNvSpPr/>
          <p:nvPr/>
        </p:nvSpPr>
        <p:spPr>
          <a:xfrm>
            <a:off x="528679" y="378448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p60"/>
          <p:cNvSpPr/>
          <p:nvPr/>
        </p:nvSpPr>
        <p:spPr>
          <a:xfrm>
            <a:off x="3801978" y="1093700"/>
            <a:ext cx="1523100" cy="36804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0" name="Google Shape;730;p60"/>
          <p:cNvSpPr/>
          <p:nvPr/>
        </p:nvSpPr>
        <p:spPr>
          <a:xfrm>
            <a:off x="524059" y="182628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CONNECT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31" name="Google Shape;731;p60"/>
          <p:cNvSpPr/>
          <p:nvPr/>
        </p:nvSpPr>
        <p:spPr>
          <a:xfrm>
            <a:off x="5492776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2" name="Google Shape;732;p60"/>
          <p:cNvSpPr/>
          <p:nvPr/>
        </p:nvSpPr>
        <p:spPr>
          <a:xfrm>
            <a:off x="2096090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3" name="Google Shape;733;p60"/>
          <p:cNvSpPr/>
          <p:nvPr/>
        </p:nvSpPr>
        <p:spPr>
          <a:xfrm>
            <a:off x="7199174" y="1093700"/>
            <a:ext cx="1523100" cy="3673800"/>
          </a:xfrm>
          <a:prstGeom prst="roundRect">
            <a:avLst>
              <a:gd fmla="val 5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4400" spcFirstLastPara="1" rIns="183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4" name="Google Shape;734;p60"/>
          <p:cNvSpPr/>
          <p:nvPr/>
        </p:nvSpPr>
        <p:spPr>
          <a:xfrm>
            <a:off x="3935532" y="1826280"/>
            <a:ext cx="572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PROTECT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35" name="Google Shape;735;p60"/>
          <p:cNvSpPr/>
          <p:nvPr/>
        </p:nvSpPr>
        <p:spPr>
          <a:xfrm>
            <a:off x="5628871" y="1826280"/>
            <a:ext cx="4494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BOOST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36" name="Google Shape;736;p60"/>
          <p:cNvSpPr/>
          <p:nvPr/>
        </p:nvSpPr>
        <p:spPr>
          <a:xfrm>
            <a:off x="2234962" y="1826280"/>
            <a:ext cx="3873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MOVE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37" name="Google Shape;737;p60"/>
          <p:cNvSpPr/>
          <p:nvPr/>
        </p:nvSpPr>
        <p:spPr>
          <a:xfrm>
            <a:off x="7340281" y="1826280"/>
            <a:ext cx="525900" cy="229500"/>
          </a:xfrm>
          <a:prstGeom prst="roundRect">
            <a:avLst>
              <a:gd fmla="val 16667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MANAGE</a:t>
            </a:r>
            <a:endParaRPr sz="700">
              <a:solidFill>
                <a:srgbClr val="FFFFF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38" name="Google Shape;738;p60"/>
          <p:cNvSpPr txBox="1"/>
          <p:nvPr/>
        </p:nvSpPr>
        <p:spPr>
          <a:xfrm>
            <a:off x="3940362" y="221022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Master fraud, risk and compliance 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39" name="Google Shape;739;p60"/>
          <p:cNvSpPr txBox="1"/>
          <p:nvPr/>
        </p:nvSpPr>
        <p:spPr>
          <a:xfrm>
            <a:off x="5629324" y="2210225"/>
            <a:ext cx="1077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Payments to power your performance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40" name="Google Shape;740;p60"/>
          <p:cNvSpPr txBox="1"/>
          <p:nvPr/>
        </p:nvSpPr>
        <p:spPr>
          <a:xfrm>
            <a:off x="7338158" y="2210220"/>
            <a:ext cx="1169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Control how money moves worldwide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41" name="Google Shape;741;p60"/>
          <p:cNvSpPr/>
          <p:nvPr/>
        </p:nvSpPr>
        <p:spPr>
          <a:xfrm>
            <a:off x="528679" y="3142406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2" name="Google Shape;742;p60"/>
          <p:cNvSpPr txBox="1"/>
          <p:nvPr/>
        </p:nvSpPr>
        <p:spPr>
          <a:xfrm>
            <a:off x="733101" y="4179067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MOBILE SDK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43" name="Google Shape;743;p60"/>
          <p:cNvSpPr txBox="1"/>
          <p:nvPr/>
        </p:nvSpPr>
        <p:spPr>
          <a:xfrm>
            <a:off x="733101" y="321615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HOSTED PAYMENT PAGE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44" name="Google Shape;744;p60"/>
          <p:cNvSpPr txBox="1"/>
          <p:nvPr/>
        </p:nvSpPr>
        <p:spPr>
          <a:xfrm>
            <a:off x="733101" y="4495585"/>
            <a:ext cx="9039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UNIFIED PAYMENTS API</a:t>
            </a:r>
            <a:endParaRPr b="1" sz="55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45" name="Google Shape;745;p60"/>
          <p:cNvSpPr/>
          <p:nvPr/>
        </p:nvSpPr>
        <p:spPr>
          <a:xfrm>
            <a:off x="3930431" y="378669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6" name="Google Shape;746;p60"/>
          <p:cNvSpPr/>
          <p:nvPr/>
        </p:nvSpPr>
        <p:spPr>
          <a:xfrm>
            <a:off x="3930431" y="3465861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7" name="Google Shape;747;p60"/>
          <p:cNvSpPr txBox="1"/>
          <p:nvPr/>
        </p:nvSpPr>
        <p:spPr>
          <a:xfrm>
            <a:off x="4137654" y="3539600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IDENTITY VERIFICATION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48" name="Google Shape;748;p60"/>
          <p:cNvSpPr txBox="1"/>
          <p:nvPr/>
        </p:nvSpPr>
        <p:spPr>
          <a:xfrm>
            <a:off x="4137654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DISPUTES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49" name="Google Shape;749;p60"/>
          <p:cNvSpPr/>
          <p:nvPr/>
        </p:nvSpPr>
        <p:spPr>
          <a:xfrm>
            <a:off x="3930431" y="2823784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0" name="Google Shape;750;p60"/>
          <p:cNvSpPr/>
          <p:nvPr/>
        </p:nvSpPr>
        <p:spPr>
          <a:xfrm>
            <a:off x="5626204" y="3465852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1" name="Google Shape;751;p60"/>
          <p:cNvSpPr/>
          <p:nvPr/>
        </p:nvSpPr>
        <p:spPr>
          <a:xfrm>
            <a:off x="5621851" y="2823784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2" name="Google Shape;752;p60"/>
          <p:cNvSpPr txBox="1"/>
          <p:nvPr/>
        </p:nvSpPr>
        <p:spPr>
          <a:xfrm>
            <a:off x="5835135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INTELLIGENT ACCEPTANCE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53" name="Google Shape;753;p60"/>
          <p:cNvSpPr/>
          <p:nvPr/>
        </p:nvSpPr>
        <p:spPr>
          <a:xfrm>
            <a:off x="5626204" y="3142423"/>
            <a:ext cx="1272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4" name="Google Shape;754;p60"/>
          <p:cNvSpPr txBox="1"/>
          <p:nvPr/>
        </p:nvSpPr>
        <p:spPr>
          <a:xfrm>
            <a:off x="5835135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NETWORK TOKENS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55" name="Google Shape;755;p60"/>
          <p:cNvSpPr txBox="1"/>
          <p:nvPr/>
        </p:nvSpPr>
        <p:spPr>
          <a:xfrm>
            <a:off x="5835143" y="3521211"/>
            <a:ext cx="747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REAL TIME </a:t>
            </a:r>
            <a:b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ACCOUNT UPDATER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56" name="Google Shape;756;p60"/>
          <p:cNvSpPr/>
          <p:nvPr/>
        </p:nvSpPr>
        <p:spPr>
          <a:xfrm>
            <a:off x="3930417" y="3142427"/>
            <a:ext cx="12738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Google Shape;757;p60"/>
          <p:cNvSpPr/>
          <p:nvPr/>
        </p:nvSpPr>
        <p:spPr>
          <a:xfrm>
            <a:off x="7339605" y="2823784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Google Shape;758;p60"/>
          <p:cNvSpPr txBox="1"/>
          <p:nvPr/>
        </p:nvSpPr>
        <p:spPr>
          <a:xfrm>
            <a:off x="7550797" y="2897524"/>
            <a:ext cx="8286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DASHBOARD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59" name="Google Shape;759;p60"/>
          <p:cNvSpPr/>
          <p:nvPr/>
        </p:nvSpPr>
        <p:spPr>
          <a:xfrm>
            <a:off x="7339605" y="314242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60"/>
          <p:cNvSpPr txBox="1"/>
          <p:nvPr/>
        </p:nvSpPr>
        <p:spPr>
          <a:xfrm>
            <a:off x="7550797" y="3216166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BALANCES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61" name="Google Shape;761;p60"/>
          <p:cNvSpPr/>
          <p:nvPr/>
        </p:nvSpPr>
        <p:spPr>
          <a:xfrm>
            <a:off x="3934126" y="4103216"/>
            <a:ext cx="12699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Google Shape;762;p60"/>
          <p:cNvSpPr txBox="1"/>
          <p:nvPr/>
        </p:nvSpPr>
        <p:spPr>
          <a:xfrm>
            <a:off x="4137654" y="417695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VAULT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63" name="Google Shape;763;p60"/>
          <p:cNvSpPr/>
          <p:nvPr/>
        </p:nvSpPr>
        <p:spPr>
          <a:xfrm>
            <a:off x="528679" y="346105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Google Shape;764;p60"/>
          <p:cNvSpPr txBox="1"/>
          <p:nvPr/>
        </p:nvSpPr>
        <p:spPr>
          <a:xfrm>
            <a:off x="733101" y="3858231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PAYMENT LINKS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65" name="Google Shape;765;p60"/>
          <p:cNvSpPr/>
          <p:nvPr/>
        </p:nvSpPr>
        <p:spPr>
          <a:xfrm>
            <a:off x="7339605" y="3465852"/>
            <a:ext cx="1260300" cy="2295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6" name="Google Shape;766;p60"/>
          <p:cNvSpPr txBox="1"/>
          <p:nvPr/>
        </p:nvSpPr>
        <p:spPr>
          <a:xfrm>
            <a:off x="7550797" y="3539600"/>
            <a:ext cx="7851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TREASURY &amp; FX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67" name="Google Shape;767;p60"/>
          <p:cNvPicPr preferRelativeResize="0"/>
          <p:nvPr/>
        </p:nvPicPr>
        <p:blipFill rotWithShape="1">
          <a:blip r:embed="rId2">
            <a:alphaModFix/>
          </a:blip>
          <a:srcRect b="0" l="603" r="603" t="0"/>
          <a:stretch/>
        </p:blipFill>
        <p:spPr>
          <a:xfrm>
            <a:off x="3984722" y="2889486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0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3984621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60"/>
          <p:cNvPicPr preferRelativeResize="0"/>
          <p:nvPr/>
        </p:nvPicPr>
        <p:blipFill rotWithShape="1">
          <a:blip r:embed="rId4">
            <a:alphaModFix/>
          </a:blip>
          <a:srcRect b="0" l="583" r="593" t="0"/>
          <a:stretch/>
        </p:blipFill>
        <p:spPr>
          <a:xfrm>
            <a:off x="3984749" y="385244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60"/>
          <p:cNvPicPr preferRelativeResize="0"/>
          <p:nvPr/>
        </p:nvPicPr>
        <p:blipFill rotWithShape="1">
          <a:blip r:embed="rId5">
            <a:alphaModFix/>
          </a:blip>
          <a:srcRect b="0" l="603" r="603" t="0"/>
          <a:stretch/>
        </p:blipFill>
        <p:spPr>
          <a:xfrm>
            <a:off x="5673060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60"/>
          <p:cNvPicPr preferRelativeResize="0"/>
          <p:nvPr/>
        </p:nvPicPr>
        <p:blipFill rotWithShape="1">
          <a:blip r:embed="rId6">
            <a:alphaModFix/>
          </a:blip>
          <a:srcRect b="0" l="485" r="485" t="0"/>
          <a:stretch/>
        </p:blipFill>
        <p:spPr>
          <a:xfrm>
            <a:off x="567284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0"/>
          <p:cNvPicPr preferRelativeResize="0"/>
          <p:nvPr/>
        </p:nvPicPr>
        <p:blipFill rotWithShape="1">
          <a:blip r:embed="rId7">
            <a:alphaModFix/>
          </a:blip>
          <a:srcRect b="0" l="603" r="603" t="0"/>
          <a:stretch/>
        </p:blipFill>
        <p:spPr>
          <a:xfrm>
            <a:off x="5673060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60"/>
          <p:cNvPicPr preferRelativeResize="0"/>
          <p:nvPr/>
        </p:nvPicPr>
        <p:blipFill rotWithShape="1">
          <a:blip r:embed="rId8">
            <a:alphaModFix/>
          </a:blip>
          <a:srcRect b="0" l="505" r="495" t="0"/>
          <a:stretch/>
        </p:blipFill>
        <p:spPr>
          <a:xfrm>
            <a:off x="3984621" y="3208128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0"/>
          <p:cNvSpPr/>
          <p:nvPr/>
        </p:nvSpPr>
        <p:spPr>
          <a:xfrm>
            <a:off x="2236908" y="3465856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5" name="Google Shape;775;p60"/>
          <p:cNvSpPr txBox="1"/>
          <p:nvPr/>
        </p:nvSpPr>
        <p:spPr>
          <a:xfrm>
            <a:off x="2445090" y="3539600"/>
            <a:ext cx="9885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ISSUING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76" name="Google Shape;776;p60"/>
          <p:cNvPicPr preferRelativeResize="0"/>
          <p:nvPr/>
        </p:nvPicPr>
        <p:blipFill rotWithShape="1">
          <a:blip r:embed="rId9">
            <a:alphaModFix/>
          </a:blip>
          <a:srcRect b="0" l="603" r="603" t="0"/>
          <a:stretch/>
        </p:blipFill>
        <p:spPr>
          <a:xfrm>
            <a:off x="2296227" y="3531561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0"/>
          <p:cNvSpPr/>
          <p:nvPr/>
        </p:nvSpPr>
        <p:spPr>
          <a:xfrm>
            <a:off x="2236908" y="3786689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8" name="Google Shape;778;p60"/>
          <p:cNvSpPr txBox="1"/>
          <p:nvPr/>
        </p:nvSpPr>
        <p:spPr>
          <a:xfrm>
            <a:off x="2445090" y="3860435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PAYOUTS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79" name="Google Shape;779;p60"/>
          <p:cNvPicPr preferRelativeResize="0"/>
          <p:nvPr/>
        </p:nvPicPr>
        <p:blipFill rotWithShape="1">
          <a:blip r:embed="rId10">
            <a:alphaModFix/>
          </a:blip>
          <a:srcRect b="0" l="505" r="495" t="0"/>
          <a:stretch/>
        </p:blipFill>
        <p:spPr>
          <a:xfrm>
            <a:off x="2296126" y="385239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0"/>
          <p:cNvSpPr/>
          <p:nvPr/>
        </p:nvSpPr>
        <p:spPr>
          <a:xfrm>
            <a:off x="2236908" y="2823784"/>
            <a:ext cx="12603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Google Shape;781;p60"/>
          <p:cNvSpPr txBox="1"/>
          <p:nvPr/>
        </p:nvSpPr>
        <p:spPr>
          <a:xfrm>
            <a:off x="2445090" y="2897524"/>
            <a:ext cx="935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ACQUIRING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82" name="Google Shape;782;p60"/>
          <p:cNvPicPr preferRelativeResize="0"/>
          <p:nvPr/>
        </p:nvPicPr>
        <p:blipFill rotWithShape="1">
          <a:blip r:embed="rId11">
            <a:alphaModFix/>
          </a:blip>
          <a:srcRect b="2714" l="0" r="0" t="2714"/>
          <a:stretch/>
        </p:blipFill>
        <p:spPr>
          <a:xfrm>
            <a:off x="2296254" y="2889530"/>
            <a:ext cx="96884" cy="9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60"/>
          <p:cNvPicPr preferRelativeResize="0"/>
          <p:nvPr/>
        </p:nvPicPr>
        <p:blipFill rotWithShape="1">
          <a:blip r:embed="rId12">
            <a:alphaModFix/>
          </a:blip>
          <a:srcRect b="0" l="710" r="710" t="0"/>
          <a:stretch/>
        </p:blipFill>
        <p:spPr>
          <a:xfrm>
            <a:off x="7395714" y="288938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0"/>
          <p:cNvPicPr preferRelativeResize="0"/>
          <p:nvPr/>
        </p:nvPicPr>
        <p:blipFill rotWithShape="1">
          <a:blip r:embed="rId13">
            <a:alphaModFix/>
          </a:blip>
          <a:srcRect b="0" l="583" r="593" t="0"/>
          <a:stretch/>
        </p:blipFill>
        <p:spPr>
          <a:xfrm>
            <a:off x="7395744" y="3208175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0"/>
          <p:cNvSpPr/>
          <p:nvPr/>
        </p:nvSpPr>
        <p:spPr>
          <a:xfrm>
            <a:off x="2236908" y="3142424"/>
            <a:ext cx="12606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6" name="Google Shape;786;p60"/>
          <p:cNvSpPr txBox="1"/>
          <p:nvPr/>
        </p:nvSpPr>
        <p:spPr>
          <a:xfrm>
            <a:off x="2445090" y="3216166"/>
            <a:ext cx="94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PAYMENT METHODS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87" name="Google Shape;787;p60"/>
          <p:cNvPicPr preferRelativeResize="0"/>
          <p:nvPr/>
        </p:nvPicPr>
        <p:blipFill rotWithShape="1">
          <a:blip r:embed="rId14">
            <a:alphaModFix/>
          </a:blip>
          <a:srcRect b="0" l="583" r="593" t="0"/>
          <a:stretch/>
        </p:blipFill>
        <p:spPr>
          <a:xfrm flipH="1">
            <a:off x="2277499" y="3207932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60"/>
          <p:cNvPicPr preferRelativeResize="0"/>
          <p:nvPr/>
        </p:nvPicPr>
        <p:blipFill rotWithShape="1">
          <a:blip r:embed="rId15">
            <a:alphaModFix/>
          </a:blip>
          <a:srcRect b="0" l="583" r="593" t="0"/>
          <a:stretch/>
        </p:blipFill>
        <p:spPr>
          <a:xfrm>
            <a:off x="3984513" y="4168720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0"/>
          <p:cNvPicPr preferRelativeResize="0"/>
          <p:nvPr/>
        </p:nvPicPr>
        <p:blipFill rotWithShape="1">
          <a:blip r:embed="rId16">
            <a:alphaModFix/>
          </a:blip>
          <a:srcRect b="0" l="583" r="593" t="0"/>
          <a:stretch/>
        </p:blipFill>
        <p:spPr>
          <a:xfrm>
            <a:off x="581487" y="4487604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0"/>
          <p:cNvPicPr preferRelativeResize="0"/>
          <p:nvPr/>
        </p:nvPicPr>
        <p:blipFill rotWithShape="1">
          <a:blip r:embed="rId17">
            <a:alphaModFix/>
          </a:blip>
          <a:srcRect b="0" l="583" r="593" t="0"/>
          <a:stretch/>
        </p:blipFill>
        <p:spPr>
          <a:xfrm>
            <a:off x="571458" y="4160933"/>
            <a:ext cx="116914" cy="118317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0"/>
          <p:cNvSpPr txBox="1"/>
          <p:nvPr/>
        </p:nvSpPr>
        <p:spPr>
          <a:xfrm>
            <a:off x="4137654" y="2897524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272832"/>
                </a:solidFill>
                <a:latin typeface="Roboto Mono"/>
                <a:ea typeface="Roboto Mono"/>
                <a:cs typeface="Roboto Mono"/>
                <a:sym typeface="Roboto Mono"/>
              </a:rPr>
              <a:t>FRAUD DETECTION PRO</a:t>
            </a:r>
            <a:endParaRPr b="1" sz="550">
              <a:solidFill>
                <a:srgbClr val="272832"/>
              </a:solidFill>
            </a:endParaRPr>
          </a:p>
        </p:txBody>
      </p:sp>
      <p:sp>
        <p:nvSpPr>
          <p:cNvPr id="792" name="Google Shape;792;p60"/>
          <p:cNvSpPr txBox="1"/>
          <p:nvPr/>
        </p:nvSpPr>
        <p:spPr>
          <a:xfrm>
            <a:off x="4137654" y="3216166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AUTHENTICATION</a:t>
            </a:r>
            <a:endParaRPr b="1" sz="550">
              <a:solidFill>
                <a:srgbClr val="000000"/>
              </a:solidFill>
            </a:endParaRPr>
          </a:p>
        </p:txBody>
      </p:sp>
      <p:sp>
        <p:nvSpPr>
          <p:cNvPr id="793" name="Google Shape;793;p60"/>
          <p:cNvSpPr txBox="1"/>
          <p:nvPr/>
        </p:nvSpPr>
        <p:spPr>
          <a:xfrm>
            <a:off x="2234961" y="221020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Simplify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global pay-ins and payouts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94" name="Google Shape;794;p60"/>
          <p:cNvSpPr txBox="1"/>
          <p:nvPr/>
        </p:nvSpPr>
        <p:spPr>
          <a:xfrm>
            <a:off x="733101" y="3534798"/>
            <a:ext cx="10092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PLUGINS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795" name="Google Shape;795;p60"/>
          <p:cNvPicPr preferRelativeResize="0"/>
          <p:nvPr/>
        </p:nvPicPr>
        <p:blipFill rotWithShape="1">
          <a:blip r:embed="rId18">
            <a:alphaModFix/>
          </a:blip>
          <a:srcRect b="0" l="583" r="593" t="0"/>
          <a:stretch/>
        </p:blipFill>
        <p:spPr>
          <a:xfrm>
            <a:off x="571469" y="3516680"/>
            <a:ext cx="115875" cy="11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0"/>
          <p:cNvPicPr preferRelativeResize="0"/>
          <p:nvPr/>
        </p:nvPicPr>
        <p:blipFill rotWithShape="1">
          <a:blip r:embed="rId19">
            <a:alphaModFix/>
          </a:blip>
          <a:srcRect b="0" l="1504" r="1494" t="0"/>
          <a:stretch/>
        </p:blipFill>
        <p:spPr>
          <a:xfrm>
            <a:off x="590096" y="3216784"/>
            <a:ext cx="79431" cy="7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0"/>
          <p:cNvPicPr preferRelativeResize="0"/>
          <p:nvPr/>
        </p:nvPicPr>
        <p:blipFill rotWithShape="1">
          <a:blip r:embed="rId20">
            <a:alphaModFix/>
          </a:blip>
          <a:srcRect b="0" l="593" r="583" t="0"/>
          <a:stretch/>
        </p:blipFill>
        <p:spPr>
          <a:xfrm>
            <a:off x="565002" y="3833569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0"/>
          <p:cNvPicPr preferRelativeResize="0"/>
          <p:nvPr/>
        </p:nvPicPr>
        <p:blipFill rotWithShape="1">
          <a:blip r:embed="rId21">
            <a:alphaModFix/>
          </a:blip>
          <a:srcRect b="0" l="583" r="593" t="0"/>
          <a:stretch/>
        </p:blipFill>
        <p:spPr>
          <a:xfrm>
            <a:off x="7395505" y="3531366"/>
            <a:ext cx="115875" cy="1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0"/>
          <p:cNvSpPr/>
          <p:nvPr/>
        </p:nvSpPr>
        <p:spPr>
          <a:xfrm>
            <a:off x="528679" y="2821500"/>
            <a:ext cx="1277100" cy="239100"/>
          </a:xfrm>
          <a:prstGeom prst="roundRect">
            <a:avLst>
              <a:gd fmla="val 16667" name="adj"/>
            </a:avLst>
          </a:prstGeom>
          <a:solidFill>
            <a:srgbClr val="F4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0" name="Google Shape;800;p60"/>
          <p:cNvSpPr txBox="1"/>
          <p:nvPr/>
        </p:nvSpPr>
        <p:spPr>
          <a:xfrm>
            <a:off x="733100" y="2895246"/>
            <a:ext cx="287400" cy="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FLOW</a:t>
            </a:r>
            <a:endParaRPr b="1" sz="550">
              <a:solidFill>
                <a:srgbClr val="000000"/>
              </a:solidFill>
            </a:endParaRPr>
          </a:p>
        </p:txBody>
      </p:sp>
      <p:pic>
        <p:nvPicPr>
          <p:cNvPr id="801" name="Google Shape;801;p60"/>
          <p:cNvPicPr preferRelativeResize="0"/>
          <p:nvPr/>
        </p:nvPicPr>
        <p:blipFill rotWithShape="1">
          <a:blip r:embed="rId22">
            <a:alphaModFix/>
          </a:blip>
          <a:srcRect b="0" l="593" r="583" t="0"/>
          <a:stretch/>
        </p:blipFill>
        <p:spPr>
          <a:xfrm>
            <a:off x="566974" y="2883920"/>
            <a:ext cx="115875" cy="1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0"/>
          <p:cNvPicPr preferRelativeResize="0"/>
          <p:nvPr/>
        </p:nvPicPr>
        <p:blipFill rotWithShape="1">
          <a:blip r:embed="rId23">
            <a:alphaModFix amt="50000"/>
          </a:blip>
          <a:srcRect b="8" l="2243" r="23247" t="21009"/>
          <a:stretch/>
        </p:blipFill>
        <p:spPr>
          <a:xfrm>
            <a:off x="395075" y="1093700"/>
            <a:ext cx="1523100" cy="538500"/>
          </a:xfrm>
          <a:prstGeom prst="round2SameRect">
            <a:avLst>
              <a:gd fmla="val 15924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803" name="Google Shape;803;p60"/>
          <p:cNvPicPr preferRelativeResize="0"/>
          <p:nvPr/>
        </p:nvPicPr>
        <p:blipFill rotWithShape="1">
          <a:blip r:embed="rId24">
            <a:alphaModFix amt="50000"/>
          </a:blip>
          <a:srcRect b="0" l="10458" r="0" t="0"/>
          <a:stretch/>
        </p:blipFill>
        <p:spPr>
          <a:xfrm>
            <a:off x="2096087" y="1093700"/>
            <a:ext cx="1523100" cy="538500"/>
          </a:xfrm>
          <a:prstGeom prst="round2SameRect">
            <a:avLst>
              <a:gd fmla="val 15999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804" name="Google Shape;804;p60"/>
          <p:cNvPicPr preferRelativeResize="0"/>
          <p:nvPr/>
        </p:nvPicPr>
        <p:blipFill rotWithShape="1">
          <a:blip r:embed="rId25">
            <a:alphaModFix amt="50000"/>
          </a:blip>
          <a:srcRect b="7" l="3978" r="33471" t="33689"/>
          <a:stretch/>
        </p:blipFill>
        <p:spPr>
          <a:xfrm>
            <a:off x="3802524" y="1093700"/>
            <a:ext cx="1523100" cy="538500"/>
          </a:xfrm>
          <a:prstGeom prst="round2SameRect">
            <a:avLst>
              <a:gd fmla="val 16651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805" name="Google Shape;805;p60"/>
          <p:cNvPicPr preferRelativeResize="0"/>
          <p:nvPr/>
        </p:nvPicPr>
        <p:blipFill rotWithShape="1">
          <a:blip r:embed="rId26">
            <a:alphaModFix amt="50000"/>
          </a:blip>
          <a:srcRect b="7" l="3990" r="33467" t="33694"/>
          <a:stretch/>
        </p:blipFill>
        <p:spPr>
          <a:xfrm>
            <a:off x="5492789" y="1093752"/>
            <a:ext cx="1523100" cy="538500"/>
          </a:xfrm>
          <a:prstGeom prst="round2SameRect">
            <a:avLst>
              <a:gd fmla="val 16434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806" name="Google Shape;806;p60"/>
          <p:cNvPicPr preferRelativeResize="0"/>
          <p:nvPr/>
        </p:nvPicPr>
        <p:blipFill rotWithShape="1">
          <a:blip r:embed="rId27">
            <a:alphaModFix amt="50000"/>
          </a:blip>
          <a:srcRect b="0" l="2839" r="2830" t="0"/>
          <a:stretch/>
        </p:blipFill>
        <p:spPr>
          <a:xfrm>
            <a:off x="7199174" y="1093700"/>
            <a:ext cx="1523100" cy="538500"/>
          </a:xfrm>
          <a:prstGeom prst="round2SameRect">
            <a:avLst>
              <a:gd fmla="val 16566" name="adj1"/>
              <a:gd fmla="val 0" name="adj2"/>
            </a:avLst>
          </a:prstGeom>
          <a:noFill/>
          <a:ln>
            <a:noFill/>
          </a:ln>
        </p:spPr>
      </p:pic>
      <p:sp>
        <p:nvSpPr>
          <p:cNvPr id="807" name="Google Shape;807;p60"/>
          <p:cNvSpPr txBox="1"/>
          <p:nvPr/>
        </p:nvSpPr>
        <p:spPr>
          <a:xfrm>
            <a:off x="529561" y="2210208"/>
            <a:ext cx="126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Select your 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8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way to process payments online</a:t>
            </a:r>
            <a:endParaRPr sz="1000">
              <a:solidFill>
                <a:srgbClr val="2728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. Marketecture Cover (Connect)">
  <p:cSld name="Framed image_1_1">
    <p:bg>
      <p:bgPr>
        <a:solidFill>
          <a:schemeClr val="dk2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1"/>
          <p:cNvSpPr/>
          <p:nvPr/>
        </p:nvSpPr>
        <p:spPr>
          <a:xfrm>
            <a:off x="8530125" y="4585750"/>
            <a:ext cx="218400" cy="21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10" name="Google Shape;810;p61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61"/>
          <p:cNvPicPr preferRelativeResize="0"/>
          <p:nvPr/>
        </p:nvPicPr>
        <p:blipFill rotWithShape="1">
          <a:blip r:embed="rId3">
            <a:alphaModFix/>
          </a:blip>
          <a:srcRect b="0" l="43301" r="0" t="0"/>
          <a:stretch/>
        </p:blipFill>
        <p:spPr>
          <a:xfrm>
            <a:off x="3959550" y="0"/>
            <a:ext cx="51844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1"/>
          <p:cNvPicPr preferRelativeResize="0"/>
          <p:nvPr/>
        </p:nvPicPr>
        <p:blipFill rotWithShape="1">
          <a:blip r:embed="rId4">
            <a:alphaModFix/>
          </a:blip>
          <a:srcRect b="11185" l="0" r="0" t="11193"/>
          <a:stretch/>
        </p:blipFill>
        <p:spPr>
          <a:xfrm>
            <a:off x="441700" y="463918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. Marketecture Cover (Move)">
  <p:cSld name="Framed image_1_1_2">
    <p:bg>
      <p:bgPr>
        <a:solidFill>
          <a:schemeClr val="dk2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2"/>
          <p:cNvSpPr/>
          <p:nvPr/>
        </p:nvSpPr>
        <p:spPr>
          <a:xfrm>
            <a:off x="8530125" y="4585750"/>
            <a:ext cx="218400" cy="21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15" name="Google Shape;815;p62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62"/>
          <p:cNvPicPr preferRelativeResize="0"/>
          <p:nvPr/>
        </p:nvPicPr>
        <p:blipFill rotWithShape="1">
          <a:blip r:embed="rId3">
            <a:alphaModFix/>
          </a:blip>
          <a:srcRect b="0" l="41090" r="0" t="0"/>
          <a:stretch/>
        </p:blipFill>
        <p:spPr>
          <a:xfrm>
            <a:off x="3757350" y="0"/>
            <a:ext cx="53866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62"/>
          <p:cNvPicPr preferRelativeResize="0"/>
          <p:nvPr/>
        </p:nvPicPr>
        <p:blipFill rotWithShape="1">
          <a:blip r:embed="rId4">
            <a:alphaModFix/>
          </a:blip>
          <a:srcRect b="11185" l="0" r="0" t="11193"/>
          <a:stretch/>
        </p:blipFill>
        <p:spPr>
          <a:xfrm>
            <a:off x="441700" y="463918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. Marketecture Cover (Protect)">
  <p:cSld name="Framed image_1_1_2_1">
    <p:bg>
      <p:bgPr>
        <a:solidFill>
          <a:schemeClr val="dk2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3"/>
          <p:cNvSpPr/>
          <p:nvPr/>
        </p:nvSpPr>
        <p:spPr>
          <a:xfrm>
            <a:off x="8530125" y="4585750"/>
            <a:ext cx="218400" cy="21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20" name="Google Shape;820;p63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63"/>
          <p:cNvPicPr preferRelativeResize="0"/>
          <p:nvPr/>
        </p:nvPicPr>
        <p:blipFill rotWithShape="1">
          <a:blip r:embed="rId3">
            <a:alphaModFix/>
          </a:blip>
          <a:srcRect b="0" l="41090" r="0" t="0"/>
          <a:stretch/>
        </p:blipFill>
        <p:spPr>
          <a:xfrm>
            <a:off x="3757350" y="0"/>
            <a:ext cx="53866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63"/>
          <p:cNvPicPr preferRelativeResize="0"/>
          <p:nvPr/>
        </p:nvPicPr>
        <p:blipFill rotWithShape="1">
          <a:blip r:embed="rId4">
            <a:alphaModFix/>
          </a:blip>
          <a:srcRect b="11185" l="0" r="0" t="11193"/>
          <a:stretch/>
        </p:blipFill>
        <p:spPr>
          <a:xfrm>
            <a:off x="441700" y="463918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. Marketecture Cover (Boost)">
  <p:cSld name="Framed image_1_1_2_1_1">
    <p:bg>
      <p:bgPr>
        <a:solidFill>
          <a:schemeClr val="dk2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4"/>
          <p:cNvSpPr/>
          <p:nvPr/>
        </p:nvSpPr>
        <p:spPr>
          <a:xfrm>
            <a:off x="8530125" y="4585750"/>
            <a:ext cx="218400" cy="21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25" name="Google Shape;825;p64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64"/>
          <p:cNvPicPr preferRelativeResize="0"/>
          <p:nvPr/>
        </p:nvPicPr>
        <p:blipFill rotWithShape="1">
          <a:blip r:embed="rId3">
            <a:alphaModFix/>
          </a:blip>
          <a:srcRect b="0" l="41090" r="0" t="0"/>
          <a:stretch/>
        </p:blipFill>
        <p:spPr>
          <a:xfrm>
            <a:off x="3757350" y="0"/>
            <a:ext cx="53866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64"/>
          <p:cNvPicPr preferRelativeResize="0"/>
          <p:nvPr/>
        </p:nvPicPr>
        <p:blipFill rotWithShape="1">
          <a:blip r:embed="rId4">
            <a:alphaModFix/>
          </a:blip>
          <a:srcRect b="11185" l="0" r="0" t="11193"/>
          <a:stretch/>
        </p:blipFill>
        <p:spPr>
          <a:xfrm>
            <a:off x="441700" y="463918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. Marketecture Cover (Manage)">
  <p:cSld name="Framed image_1_1_2_1_1_1">
    <p:bg>
      <p:bgPr>
        <a:solidFill>
          <a:schemeClr val="dk2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5"/>
          <p:cNvSpPr/>
          <p:nvPr/>
        </p:nvSpPr>
        <p:spPr>
          <a:xfrm>
            <a:off x="8530125" y="4585750"/>
            <a:ext cx="218400" cy="21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0" name="Google Shape;830;p65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65"/>
          <p:cNvPicPr preferRelativeResize="0"/>
          <p:nvPr/>
        </p:nvPicPr>
        <p:blipFill rotWithShape="1">
          <a:blip r:embed="rId3">
            <a:alphaModFix/>
          </a:blip>
          <a:srcRect b="0" l="41090" r="0" t="0"/>
          <a:stretch/>
        </p:blipFill>
        <p:spPr>
          <a:xfrm>
            <a:off x="3757350" y="0"/>
            <a:ext cx="53866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65"/>
          <p:cNvPicPr preferRelativeResize="0"/>
          <p:nvPr/>
        </p:nvPicPr>
        <p:blipFill rotWithShape="1">
          <a:blip r:embed="rId4">
            <a:alphaModFix/>
          </a:blip>
          <a:srcRect b="11185" l="0" r="0" t="11193"/>
          <a:stretch/>
        </p:blipFill>
        <p:spPr>
          <a:xfrm>
            <a:off x="441700" y="463918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. Title + Full-page Module (Dark)">
  <p:cSld name="Framed image_1_1_1">
    <p:bg>
      <p:bgPr>
        <a:solidFill>
          <a:schemeClr val="dk2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6"/>
          <p:cNvSpPr/>
          <p:nvPr/>
        </p:nvSpPr>
        <p:spPr>
          <a:xfrm>
            <a:off x="8530125" y="4585750"/>
            <a:ext cx="218400" cy="21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5" name="Google Shape;835;p66"/>
          <p:cNvSpPr/>
          <p:nvPr/>
        </p:nvSpPr>
        <p:spPr>
          <a:xfrm>
            <a:off x="430100" y="1308525"/>
            <a:ext cx="8285400" cy="3017400"/>
          </a:xfrm>
          <a:prstGeom prst="roundRect">
            <a:avLst>
              <a:gd fmla="val 3713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66"/>
          <p:cNvSpPr txBox="1"/>
          <p:nvPr>
            <p:ph type="title"/>
          </p:nvPr>
        </p:nvSpPr>
        <p:spPr>
          <a:xfrm>
            <a:off x="419808" y="425875"/>
            <a:ext cx="24159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837" name="Google Shape;837;p66"/>
          <p:cNvSpPr txBox="1"/>
          <p:nvPr>
            <p:ph idx="2" type="title"/>
          </p:nvPr>
        </p:nvSpPr>
        <p:spPr>
          <a:xfrm>
            <a:off x="5173376" y="425875"/>
            <a:ext cx="3529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"/>
              <a:buFont typeface="Inter"/>
              <a:buNone/>
              <a:defRPr b="0" sz="11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Inter"/>
              <a:buNone/>
              <a:defRPr b="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838" name="Google Shape;838;p66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441700" y="4639184"/>
            <a:ext cx="968426" cy="1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66"/>
          <p:cNvSpPr/>
          <p:nvPr/>
        </p:nvSpPr>
        <p:spPr>
          <a:xfrm>
            <a:off x="7613250" y="4492275"/>
            <a:ext cx="1135200" cy="39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. Title + Side Module (Dark)">
  <p:cSld name="Framed image_1_1_1_1">
    <p:bg>
      <p:bgPr>
        <a:solidFill>
          <a:schemeClr val="dk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7"/>
          <p:cNvSpPr txBox="1"/>
          <p:nvPr>
            <p:ph type="title"/>
          </p:nvPr>
        </p:nvSpPr>
        <p:spPr>
          <a:xfrm>
            <a:off x="419800" y="425875"/>
            <a:ext cx="1674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842" name="Google Shape;842;p67"/>
          <p:cNvSpPr txBox="1"/>
          <p:nvPr>
            <p:ph idx="2" type="title"/>
          </p:nvPr>
        </p:nvSpPr>
        <p:spPr>
          <a:xfrm>
            <a:off x="419800" y="1054000"/>
            <a:ext cx="1479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Inter"/>
              <a:buNone/>
              <a:defRPr b="0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  <a:defRPr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3" name="Google Shape;843;p67"/>
          <p:cNvSpPr/>
          <p:nvPr/>
        </p:nvSpPr>
        <p:spPr>
          <a:xfrm>
            <a:off x="2397600" y="421825"/>
            <a:ext cx="6317700" cy="3904200"/>
          </a:xfrm>
          <a:prstGeom prst="roundRect">
            <a:avLst>
              <a:gd fmla="val 3713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4" name="Google Shape;844;p67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441700" y="463918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. Product Cover Page">
  <p:cSld name="Title_1_2">
    <p:bg>
      <p:bgPr>
        <a:solidFill>
          <a:schemeClr val="lt2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8"/>
          <p:cNvSpPr txBox="1"/>
          <p:nvPr>
            <p:ph type="title"/>
          </p:nvPr>
        </p:nvSpPr>
        <p:spPr>
          <a:xfrm>
            <a:off x="431000" y="1813125"/>
            <a:ext cx="33357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None/>
              <a:defRPr sz="2500"/>
            </a:lvl9pPr>
          </a:lstStyle>
          <a:p/>
        </p:txBody>
      </p:sp>
      <p:sp>
        <p:nvSpPr>
          <p:cNvPr id="847" name="Google Shape;847;p68"/>
          <p:cNvSpPr/>
          <p:nvPr/>
        </p:nvSpPr>
        <p:spPr>
          <a:xfrm>
            <a:off x="0" y="4566450"/>
            <a:ext cx="9153600" cy="57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8" name="Google Shape;848;p68"/>
          <p:cNvSpPr txBox="1"/>
          <p:nvPr>
            <p:ph idx="1" type="body"/>
          </p:nvPr>
        </p:nvSpPr>
        <p:spPr>
          <a:xfrm>
            <a:off x="431000" y="2967575"/>
            <a:ext cx="2889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Inter"/>
              <a:buNone/>
              <a:defRPr sz="1100"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b="0" sz="1100"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Inter"/>
              <a:buNone/>
              <a:defRPr b="0" sz="11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9" name="Google Shape;849;p68"/>
          <p:cNvSpPr/>
          <p:nvPr/>
        </p:nvSpPr>
        <p:spPr>
          <a:xfrm>
            <a:off x="4021350" y="759275"/>
            <a:ext cx="4694100" cy="3693900"/>
          </a:xfrm>
          <a:prstGeom prst="roundRect">
            <a:avLst>
              <a:gd fmla="val 245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68"/>
          <p:cNvSpPr/>
          <p:nvPr/>
        </p:nvSpPr>
        <p:spPr>
          <a:xfrm>
            <a:off x="421500" y="759275"/>
            <a:ext cx="3335700" cy="702900"/>
          </a:xfrm>
          <a:prstGeom prst="roundRect">
            <a:avLst>
              <a:gd fmla="val 1293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54239" y="4590259"/>
            <a:ext cx="968449" cy="2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. Product Title (Dark)" showMasterSp="0">
  <p:cSld name="Title Black_1_1">
    <p:bg>
      <p:bgPr>
        <a:solidFill>
          <a:schemeClr val="dk2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9"/>
          <p:cNvSpPr txBox="1"/>
          <p:nvPr>
            <p:ph idx="1" type="body"/>
          </p:nvPr>
        </p:nvSpPr>
        <p:spPr>
          <a:xfrm>
            <a:off x="419805" y="1934850"/>
            <a:ext cx="41733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 u="none" cap="none" strike="noStrike">
                <a:solidFill>
                  <a:schemeClr val="lt1"/>
                </a:solidFill>
              </a:defRPr>
            </a:lvl8pPr>
            <a:lvl9pPr indent="-228600" lvl="8" marL="4114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54" name="Google Shape;854;p69"/>
          <p:cNvPicPr preferRelativeResize="0"/>
          <p:nvPr/>
        </p:nvPicPr>
        <p:blipFill rotWithShape="1">
          <a:blip r:embed="rId2">
            <a:alphaModFix/>
          </a:blip>
          <a:srcRect b="-15909" l="0" r="85915" t="-302"/>
          <a:stretch/>
        </p:blipFill>
        <p:spPr>
          <a:xfrm>
            <a:off x="8601273" y="4629531"/>
            <a:ext cx="147636" cy="15434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69"/>
          <p:cNvSpPr/>
          <p:nvPr/>
        </p:nvSpPr>
        <p:spPr>
          <a:xfrm>
            <a:off x="7963750" y="4192500"/>
            <a:ext cx="1122300" cy="84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6" name="Google Shape;856;p69"/>
          <p:cNvPicPr preferRelativeResize="0"/>
          <p:nvPr/>
        </p:nvPicPr>
        <p:blipFill rotWithShape="1">
          <a:blip r:embed="rId3">
            <a:alphaModFix/>
          </a:blip>
          <a:srcRect b="11185" l="0" r="0" t="11193"/>
          <a:stretch/>
        </p:blipFill>
        <p:spPr>
          <a:xfrm>
            <a:off x="411923" y="420326"/>
            <a:ext cx="1122300" cy="196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. Product Title Details (Dark)" showMasterSp="0">
  <p:cSld name="1. Divider statement _ dark 2">
    <p:bg>
      <p:bgPr>
        <a:solidFill>
          <a:schemeClr val="dk2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0"/>
          <p:cNvSpPr txBox="1"/>
          <p:nvPr>
            <p:ph idx="1" type="body"/>
          </p:nvPr>
        </p:nvSpPr>
        <p:spPr>
          <a:xfrm>
            <a:off x="962875" y="2732350"/>
            <a:ext cx="2024700" cy="2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228600" lvl="1" marL="9144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228600" lvl="2" marL="13716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228600" lvl="3" marL="18288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228600" lvl="4" marL="22860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228600" lvl="5" marL="27432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228600" lvl="6" marL="32004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228600" lvl="7" marL="36576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b="0"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228600" lvl="8" marL="41148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b="0"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  <p:sp>
        <p:nvSpPr>
          <p:cNvPr id="859" name="Google Shape;859;p70"/>
          <p:cNvSpPr txBox="1"/>
          <p:nvPr>
            <p:ph idx="2" type="body"/>
          </p:nvPr>
        </p:nvSpPr>
        <p:spPr>
          <a:xfrm>
            <a:off x="419800" y="1476075"/>
            <a:ext cx="41733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None/>
              <a:defRPr b="1" i="0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None/>
              <a:defRPr b="1" i="0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None/>
              <a:defRPr b="1" i="0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None/>
              <a:defRPr b="1" i="0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None/>
              <a:defRPr b="1" i="0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None/>
              <a:defRPr b="1" i="0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 Mono"/>
              <a:buNone/>
              <a:defRPr b="1" i="0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i="0" sz="2700" u="none" cap="none" strike="noStrike">
                <a:solidFill>
                  <a:schemeClr val="lt1"/>
                </a:solidFill>
              </a:defRPr>
            </a:lvl8pPr>
            <a:lvl9pPr indent="-228600" lvl="8" marL="4114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i="0" sz="270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0" name="Google Shape;860;p70"/>
          <p:cNvSpPr txBox="1"/>
          <p:nvPr>
            <p:ph idx="3" type="body"/>
          </p:nvPr>
        </p:nvSpPr>
        <p:spPr>
          <a:xfrm>
            <a:off x="528950" y="2732350"/>
            <a:ext cx="236400" cy="2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228600" lvl="1" marL="9144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228600" lvl="2" marL="13716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228600" lvl="3" marL="18288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228600" lvl="4" marL="22860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228600" lvl="5" marL="27432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228600" lvl="6" marL="32004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i="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228600" lvl="7" marL="36576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b="0"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228600" lvl="8" marL="411480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 Mono Medium"/>
              <a:buNone/>
              <a:defRPr b="0" i="0" sz="900" u="none" cap="none" strike="noStrike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  <p:pic>
        <p:nvPicPr>
          <p:cNvPr id="861" name="Google Shape;861;p70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7754250" y="461472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pos="333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. AEM Cover" showMasterSp="0">
  <p:cSld name="1. Divider statement _ dark 2_1">
    <p:bg>
      <p:bgPr>
        <a:solidFill>
          <a:schemeClr val="dk2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1"/>
          <p:cNvSpPr/>
          <p:nvPr/>
        </p:nvSpPr>
        <p:spPr>
          <a:xfrm>
            <a:off x="3073843" y="1394043"/>
            <a:ext cx="2117100" cy="3322800"/>
          </a:xfrm>
          <a:prstGeom prst="roundRect">
            <a:avLst>
              <a:gd fmla="val 4881" name="adj"/>
            </a:avLst>
          </a:prstGeom>
          <a:solidFill>
            <a:srgbClr val="4098FF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77737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4" name="Google Shape;864;p71"/>
          <p:cNvSpPr txBox="1"/>
          <p:nvPr/>
        </p:nvSpPr>
        <p:spPr>
          <a:xfrm>
            <a:off x="3174178" y="1849936"/>
            <a:ext cx="1744500" cy="30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b="1" lang="en" sz="24500">
                <a:solidFill>
                  <a:srgbClr val="272832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endParaRPr b="1" sz="245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5" name="Google Shape;865;p71"/>
          <p:cNvSpPr/>
          <p:nvPr/>
        </p:nvSpPr>
        <p:spPr>
          <a:xfrm>
            <a:off x="5191105" y="855100"/>
            <a:ext cx="2562300" cy="3862500"/>
          </a:xfrm>
          <a:prstGeom prst="roundRect">
            <a:avLst>
              <a:gd fmla="val 4881" name="adj"/>
            </a:avLst>
          </a:prstGeom>
          <a:solidFill>
            <a:srgbClr val="1869FF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77737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6" name="Google Shape;866;p71"/>
          <p:cNvSpPr txBox="1"/>
          <p:nvPr/>
        </p:nvSpPr>
        <p:spPr>
          <a:xfrm>
            <a:off x="5300334" y="1181640"/>
            <a:ext cx="2117100" cy="38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b="1" lang="en" sz="29800">
                <a:solidFill>
                  <a:srgbClr val="272832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endParaRPr b="1" sz="298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7" name="Google Shape;867;p71"/>
          <p:cNvSpPr/>
          <p:nvPr/>
        </p:nvSpPr>
        <p:spPr>
          <a:xfrm>
            <a:off x="1181625" y="1868021"/>
            <a:ext cx="1892100" cy="2850300"/>
          </a:xfrm>
          <a:prstGeom prst="roundRect">
            <a:avLst>
              <a:gd fmla="val 4647" name="adj"/>
            </a:avLst>
          </a:prstGeom>
          <a:solidFill>
            <a:srgbClr val="70B2FF"/>
          </a:solidFill>
          <a:ln>
            <a:noFill/>
          </a:ln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77737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8" name="Google Shape;868;p71"/>
          <p:cNvSpPr txBox="1"/>
          <p:nvPr/>
        </p:nvSpPr>
        <p:spPr>
          <a:xfrm>
            <a:off x="1320129" y="2181674"/>
            <a:ext cx="13311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b="1" lang="en" sz="19900">
                <a:solidFill>
                  <a:srgbClr val="272832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endParaRPr b="1" sz="19900">
              <a:solidFill>
                <a:srgbClr val="2728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69" name="Google Shape;869;p71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411923" y="420326"/>
            <a:ext cx="1122300" cy="196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pos="333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. AEM Divider" showMasterSp="0">
  <p:cSld name="1. Divider statement _ dark 2_1_1">
    <p:bg>
      <p:bgPr>
        <a:solidFill>
          <a:schemeClr val="dk2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2"/>
          <p:cNvSpPr txBox="1"/>
          <p:nvPr>
            <p:ph idx="1" type="body"/>
          </p:nvPr>
        </p:nvSpPr>
        <p:spPr>
          <a:xfrm>
            <a:off x="419825" y="417750"/>
            <a:ext cx="41733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228600" lvl="2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28600" lvl="3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28600" lvl="4" marL="22860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228600" lvl="5" marL="2743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228600" lvl="6" marL="3200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 Mono"/>
              <a:buNone/>
              <a:defRPr b="1" i="0" sz="6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228600" lvl="7" marL="3657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i="0" sz="6600" u="none" cap="none" strike="noStrike">
                <a:solidFill>
                  <a:schemeClr val="lt1"/>
                </a:solidFill>
              </a:defRPr>
            </a:lvl8pPr>
            <a:lvl9pPr indent="-228600" lvl="8" marL="4114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i="0" sz="660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2" name="Google Shape;872;p72"/>
          <p:cNvSpPr txBox="1"/>
          <p:nvPr>
            <p:ph type="title"/>
          </p:nvPr>
        </p:nvSpPr>
        <p:spPr>
          <a:xfrm>
            <a:off x="419450" y="4586510"/>
            <a:ext cx="28377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 Medium"/>
              <a:buNone/>
              <a:defRPr b="0" sz="12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pic>
        <p:nvPicPr>
          <p:cNvPr id="873" name="Google Shape;873;p72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7754250" y="461472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pos="333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Divider _ dark" showMasterSp="0">
  <p:cSld name="Title Black_4">
    <p:bg>
      <p:bgPr>
        <a:solidFill>
          <a:schemeClr val="dk2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3"/>
          <p:cNvSpPr txBox="1"/>
          <p:nvPr>
            <p:ph idx="1" type="subTitle"/>
          </p:nvPr>
        </p:nvSpPr>
        <p:spPr>
          <a:xfrm>
            <a:off x="419825" y="2033275"/>
            <a:ext cx="4149300" cy="10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 SemiBold"/>
              <a:buNone/>
              <a:defRPr sz="13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3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 SemiBold"/>
              <a:buNone/>
              <a:defRPr sz="13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1200"/>
              </a:spcBef>
              <a:spcAft>
                <a:spcPts val="800"/>
              </a:spcAft>
              <a:buClr>
                <a:schemeClr val="lt1"/>
              </a:buClr>
              <a:buSzPts val="1300"/>
              <a:buFont typeface="Inter"/>
              <a:buNone/>
              <a:defRPr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76" name="Google Shape;876;p73"/>
          <p:cNvSpPr txBox="1"/>
          <p:nvPr>
            <p:ph idx="2" type="body"/>
          </p:nvPr>
        </p:nvSpPr>
        <p:spPr>
          <a:xfrm>
            <a:off x="396000" y="767675"/>
            <a:ext cx="49797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Roboto Mono"/>
              <a:buNone/>
              <a:defRPr b="1" i="0" sz="4600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b="1" i="0" sz="47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77" name="Google Shape;877;p73"/>
          <p:cNvPicPr preferRelativeResize="0"/>
          <p:nvPr/>
        </p:nvPicPr>
        <p:blipFill rotWithShape="1">
          <a:blip r:embed="rId2">
            <a:alphaModFix/>
          </a:blip>
          <a:srcRect b="11185" l="0" r="0" t="11193"/>
          <a:stretch/>
        </p:blipFill>
        <p:spPr>
          <a:xfrm>
            <a:off x="7754250" y="4614724"/>
            <a:ext cx="968426" cy="1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<Relationship Id="rId64" Type="http://schemas.openxmlformats.org/officeDocument/2006/relationships/slideLayout" Target="../slideLayouts/slideLayout63.xml"/><Relationship Id="rId65" Type="http://schemas.openxmlformats.org/officeDocument/2006/relationships/slideLayout" Target="../slideLayouts/slideLayout64.xml"/><Relationship Id="rId66" Type="http://schemas.openxmlformats.org/officeDocument/2006/relationships/slideLayout" Target="../slideLayouts/slideLayout65.xml"/><Relationship Id="rId67" Type="http://schemas.openxmlformats.org/officeDocument/2006/relationships/slideLayout" Target="../slideLayouts/slideLayout66.xml"/><Relationship Id="rId68" Type="http://schemas.openxmlformats.org/officeDocument/2006/relationships/slideLayout" Target="../slideLayouts/slideLayout67.xml"/><Relationship Id="rId69" Type="http://schemas.openxmlformats.org/officeDocument/2006/relationships/slideLayout" Target="../slideLayouts/slideLayout68.xml"/><Relationship Id="rId70" Type="http://schemas.openxmlformats.org/officeDocument/2006/relationships/slideLayout" Target="../slideLayouts/slideLayout69.xml"/><Relationship Id="rId71" Type="http://schemas.openxmlformats.org/officeDocument/2006/relationships/slideLayout" Target="../slideLayouts/slideLayout70.xml"/><Relationship Id="rId72" Type="http://schemas.openxmlformats.org/officeDocument/2006/relationships/slideLayout" Target="../slideLayouts/slideLayout71.xml"/><Relationship Id="rId73" Type="http://schemas.openxmlformats.org/officeDocument/2006/relationships/slideLayout" Target="../slideLayouts/slideLayout72.xml"/><Relationship Id="rId74" Type="http://schemas.openxmlformats.org/officeDocument/2006/relationships/slideLayout" Target="../slideLayouts/slideLayout73.xml"/><Relationship Id="rId7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418842" y="820069"/>
            <a:ext cx="3540600" cy="4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7925" lIns="0" spcFirstLastPara="1" rIns="97925" wrap="square" tIns="9792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None/>
              <a:defRPr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 i="0" sz="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SemiBold"/>
              <a:buNone/>
              <a:defRPr i="0" sz="1800" u="none" cap="none" strike="noStrike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5pPr>
            <a:lvl6pPr indent="-228600" lvl="5" marL="274320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 SemiBold"/>
              <a:buNone/>
              <a:defRPr i="0" sz="1000" u="none" cap="none" strike="noStrike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Mono SemiBold"/>
              <a:buNone/>
              <a:defRPr i="0" sz="900" u="none" cap="none" strike="noStrike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None/>
              <a:defRPr b="1" i="0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2000"/>
              <a:buFont typeface="Roboto Mono"/>
              <a:buNone/>
              <a:defRPr b="1" i="0" sz="2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cxnSp>
        <p:nvCxnSpPr>
          <p:cNvPr id="7" name="Google Shape;7;p1"/>
          <p:cNvCxnSpPr/>
          <p:nvPr/>
        </p:nvCxnSpPr>
        <p:spPr>
          <a:xfrm rot="10800000">
            <a:off x="4573957" y="5241880"/>
            <a:ext cx="0" cy="63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8" name="Google Shape;8;p1"/>
          <p:cNvCxnSpPr/>
          <p:nvPr/>
        </p:nvCxnSpPr>
        <p:spPr>
          <a:xfrm rot="10800000">
            <a:off x="9279260" y="377488"/>
            <a:ext cx="0" cy="84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9" name="Google Shape;9;p1"/>
          <p:cNvCxnSpPr/>
          <p:nvPr/>
        </p:nvCxnSpPr>
        <p:spPr>
          <a:xfrm>
            <a:off x="9240670" y="4735687"/>
            <a:ext cx="77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0" name="Google Shape;10;p1"/>
          <p:cNvCxnSpPr/>
          <p:nvPr/>
        </p:nvCxnSpPr>
        <p:spPr>
          <a:xfrm rot="10800000">
            <a:off x="-128562" y="377488"/>
            <a:ext cx="0" cy="84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1" name="Google Shape;11;p1"/>
          <p:cNvCxnSpPr/>
          <p:nvPr/>
        </p:nvCxnSpPr>
        <p:spPr>
          <a:xfrm rot="10800000">
            <a:off x="-128504" y="2539803"/>
            <a:ext cx="0" cy="63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2" name="Google Shape;12;p1"/>
          <p:cNvCxnSpPr/>
          <p:nvPr/>
        </p:nvCxnSpPr>
        <p:spPr>
          <a:xfrm>
            <a:off x="-167328" y="4735633"/>
            <a:ext cx="7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3" name="Google Shape;13;p1"/>
          <p:cNvCxnSpPr/>
          <p:nvPr/>
        </p:nvCxnSpPr>
        <p:spPr>
          <a:xfrm rot="10800000">
            <a:off x="418841" y="-153646"/>
            <a:ext cx="0" cy="6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 rot="10800000">
            <a:off x="4576033" y="-135646"/>
            <a:ext cx="0" cy="63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5" name="Google Shape;15;p1"/>
          <p:cNvCxnSpPr/>
          <p:nvPr/>
        </p:nvCxnSpPr>
        <p:spPr>
          <a:xfrm rot="10800000">
            <a:off x="8713045" y="-153646"/>
            <a:ext cx="0" cy="6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 rot="10800000">
            <a:off x="424424" y="5243447"/>
            <a:ext cx="0" cy="6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 rot="10800000">
            <a:off x="8718628" y="5243447"/>
            <a:ext cx="0" cy="6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9236810" y="4324877"/>
            <a:ext cx="849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-171205" y="4324823"/>
            <a:ext cx="852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 rot="10800000">
            <a:off x="9279260" y="779342"/>
            <a:ext cx="0" cy="84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 rot="10800000">
            <a:off x="-128562" y="779342"/>
            <a:ext cx="0" cy="84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 rot="10800000">
            <a:off x="9278143" y="2531159"/>
            <a:ext cx="0" cy="84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 rot="10800000">
            <a:off x="-129680" y="2531159"/>
            <a:ext cx="0" cy="84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24" name="Google Shape;24;p1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ono"/>
              <a:buNone/>
              <a:defRPr b="1" i="0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b="1" i="0" sz="3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pic>
        <p:nvPicPr>
          <p:cNvPr id="25" name="Google Shape;25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754239" y="4590259"/>
            <a:ext cx="968449" cy="218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  <p:sldLayoutId id="2147483720" r:id="rId74"/>
  </p:sldLayoutIdLst>
  <mc:AlternateContent>
    <mc:Choice Requires="p14">
      <p:transition p14:dur="15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83">
          <p15:clr>
            <a:schemeClr val="accent3"/>
          </p15:clr>
        </p15:guide>
        <p15:guide id="2" orient="horz" pos="517">
          <p15:clr>
            <a:schemeClr val="accent1"/>
          </p15:clr>
        </p15:guide>
        <p15:guide id="3" orient="horz" pos="2983">
          <p15:clr>
            <a:schemeClr val="accent6"/>
          </p15:clr>
        </p15:guide>
        <p15:guide id="4" pos="1028">
          <p15:clr>
            <a:schemeClr val="accent3"/>
          </p15:clr>
        </p15:guide>
        <p15:guide id="5" pos="1475">
          <p15:clr>
            <a:schemeClr val="accent3"/>
          </p15:clr>
        </p15:guide>
        <p15:guide id="6" pos="1919">
          <p15:clr>
            <a:schemeClr val="accent3"/>
          </p15:clr>
        </p15:guide>
        <p15:guide id="7" pos="2367">
          <p15:clr>
            <a:srgbClr val="A4A3A4"/>
          </p15:clr>
        </p15:guide>
        <p15:guide id="8" pos="2814">
          <p15:clr>
            <a:schemeClr val="accent3"/>
          </p15:clr>
        </p15:guide>
        <p15:guide id="9" pos="3259">
          <p15:clr>
            <a:schemeClr val="accent3"/>
          </p15:clr>
        </p15:guide>
        <p15:guide id="10" pos="3706">
          <p15:clr>
            <a:schemeClr val="accent3"/>
          </p15:clr>
        </p15:guide>
        <p15:guide id="11" pos="4151">
          <p15:clr>
            <a:schemeClr val="accent3"/>
          </p15:clr>
        </p15:guide>
        <p15:guide id="12" pos="4595">
          <p15:clr>
            <a:schemeClr val="accent3"/>
          </p15:clr>
        </p15:guide>
        <p15:guide id="13" pos="5043">
          <p15:clr>
            <a:schemeClr val="accent3"/>
          </p15:clr>
        </p15:guide>
        <p15:guide id="14" pos="5490">
          <p15:clr>
            <a:schemeClr val="accent6"/>
          </p15:clr>
        </p15:guide>
        <p15:guide id="15" pos="711">
          <p15:clr>
            <a:schemeClr val="accent3"/>
          </p15:clr>
        </p15:guide>
        <p15:guide id="16" pos="264">
          <p15:clr>
            <a:schemeClr val="accent6"/>
          </p15:clr>
        </p15:guide>
        <p15:guide id="17" pos="1158">
          <p15:clr>
            <a:schemeClr val="accent3"/>
          </p15:clr>
        </p15:guide>
        <p15:guide id="18" pos="1603">
          <p15:clr>
            <a:schemeClr val="accent3"/>
          </p15:clr>
        </p15:guide>
        <p15:guide id="19" pos="2050">
          <p15:clr>
            <a:schemeClr val="accent3"/>
          </p15:clr>
        </p15:guide>
        <p15:guide id="20" pos="2494">
          <p15:clr>
            <a:srgbClr val="A4A3A4"/>
          </p15:clr>
        </p15:guide>
        <p15:guide id="21" pos="2942">
          <p15:clr>
            <a:schemeClr val="accent3"/>
          </p15:clr>
        </p15:guide>
        <p15:guide id="22" pos="3386">
          <p15:clr>
            <a:schemeClr val="accent3"/>
          </p15:clr>
        </p15:guide>
        <p15:guide id="23" pos="3834">
          <p15:clr>
            <a:schemeClr val="accent3"/>
          </p15:clr>
        </p15:guide>
        <p15:guide id="24" pos="4281">
          <p15:clr>
            <a:schemeClr val="accent3"/>
          </p15:clr>
        </p15:guide>
        <p15:guide id="25" pos="4726">
          <p15:clr>
            <a:schemeClr val="accent3"/>
          </p15:clr>
        </p15:guide>
        <p15:guide id="26" pos="5170">
          <p15:clr>
            <a:schemeClr val="accent3"/>
          </p15:clr>
        </p15:guide>
        <p15:guide id="27" orient="horz" pos="263">
          <p15:clr>
            <a:schemeClr val="accent6"/>
          </p15:clr>
        </p15:guide>
        <p15:guide id="28" orient="horz" pos="2725">
          <p15:clr>
            <a:schemeClr val="accent1"/>
          </p15:clr>
        </p15:guide>
        <p15:guide id="29" orient="horz" pos="1620">
          <p15:clr>
            <a:schemeClr val="accent1"/>
          </p15:clr>
        </p15:guide>
        <p15:guide id="30" pos="2878">
          <p15:clr>
            <a:schemeClr val="accent1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5"/>
          <p:cNvSpPr txBox="1"/>
          <p:nvPr/>
        </p:nvSpPr>
        <p:spPr>
          <a:xfrm>
            <a:off x="370325" y="2808855"/>
            <a:ext cx="52929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ONBOARDING IMPROVEMENTS</a:t>
            </a:r>
            <a:endParaRPr b="1" sz="4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H2 2026</a:t>
            </a:r>
            <a:endParaRPr b="1" sz="4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4" name="Google Shape;884;p75"/>
          <p:cNvSpPr txBox="1"/>
          <p:nvPr>
            <p:ph idx="1" type="subTitle"/>
          </p:nvPr>
        </p:nvSpPr>
        <p:spPr>
          <a:xfrm>
            <a:off x="5375575" y="423325"/>
            <a:ext cx="10767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Presenter name/s</a:t>
            </a:r>
            <a:endParaRPr b="1" sz="800"/>
          </a:p>
        </p:txBody>
      </p:sp>
      <p:sp>
        <p:nvSpPr>
          <p:cNvPr id="885" name="Google Shape;885;p75"/>
          <p:cNvSpPr txBox="1"/>
          <p:nvPr>
            <p:ph idx="1" type="subTitle"/>
          </p:nvPr>
        </p:nvSpPr>
        <p:spPr>
          <a:xfrm>
            <a:off x="7430500" y="423325"/>
            <a:ext cx="12852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500"/>
              </a:spcBef>
              <a:spcAft>
                <a:spcPts val="500"/>
              </a:spcAft>
              <a:buNone/>
            </a:pPr>
            <a:r>
              <a:rPr b="1" lang="en" sz="800"/>
              <a:t>DATE:</a:t>
            </a:r>
            <a:endParaRPr b="1" sz="800"/>
          </a:p>
        </p:txBody>
      </p:sp>
      <p:pic>
        <p:nvPicPr>
          <p:cNvPr id="886" name="Google Shape;88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37" y="417750"/>
            <a:ext cx="1058376" cy="1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5"/>
          <p:cNvSpPr/>
          <p:nvPr/>
        </p:nvSpPr>
        <p:spPr>
          <a:xfrm>
            <a:off x="7706475" y="4561575"/>
            <a:ext cx="1058400" cy="26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6"/>
          <p:cNvSpPr txBox="1"/>
          <p:nvPr>
            <p:ph type="title"/>
          </p:nvPr>
        </p:nvSpPr>
        <p:spPr>
          <a:xfrm>
            <a:off x="419801" y="1608000"/>
            <a:ext cx="5463600" cy="6372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894" name="Google Shape;894;p76"/>
          <p:cNvSpPr/>
          <p:nvPr>
            <p:ph idx="1" type="body"/>
          </p:nvPr>
        </p:nvSpPr>
        <p:spPr>
          <a:xfrm>
            <a:off x="410050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None/>
            </a:pPr>
            <a:r>
              <a:rPr lang="en" sz="1150"/>
              <a:t>Exec Summary</a:t>
            </a:r>
            <a:endParaRPr sz="1150"/>
          </a:p>
        </p:txBody>
      </p:sp>
      <p:sp>
        <p:nvSpPr>
          <p:cNvPr id="895" name="Google Shape;895;p76"/>
          <p:cNvSpPr/>
          <p:nvPr>
            <p:ph idx="2" type="body"/>
          </p:nvPr>
        </p:nvSpPr>
        <p:spPr>
          <a:xfrm>
            <a:off x="1524419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None/>
            </a:pPr>
            <a:r>
              <a:rPr lang="en" sz="1150"/>
              <a:t>Today and Future State</a:t>
            </a:r>
            <a:endParaRPr sz="1150"/>
          </a:p>
        </p:txBody>
      </p:sp>
      <p:sp>
        <p:nvSpPr>
          <p:cNvPr id="896" name="Google Shape;896;p76"/>
          <p:cNvSpPr/>
          <p:nvPr>
            <p:ph idx="3" type="body"/>
          </p:nvPr>
        </p:nvSpPr>
        <p:spPr>
          <a:xfrm>
            <a:off x="2638808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None/>
            </a:pPr>
            <a:r>
              <a:rPr lang="en" sz="1050"/>
              <a:t>Opportunity + Quote creation</a:t>
            </a:r>
            <a:endParaRPr sz="1050"/>
          </a:p>
        </p:txBody>
      </p:sp>
      <p:sp>
        <p:nvSpPr>
          <p:cNvPr id="897" name="Google Shape;897;p76"/>
          <p:cNvSpPr/>
          <p:nvPr>
            <p:ph idx="4" type="body"/>
          </p:nvPr>
        </p:nvSpPr>
        <p:spPr>
          <a:xfrm>
            <a:off x="3753185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None/>
            </a:pPr>
            <a:r>
              <a:rPr lang="en" sz="1150"/>
              <a:t>MAF completion</a:t>
            </a:r>
            <a:endParaRPr sz="1150"/>
          </a:p>
        </p:txBody>
      </p:sp>
      <p:sp>
        <p:nvSpPr>
          <p:cNvPr id="898" name="Google Shape;898;p76"/>
          <p:cNvSpPr/>
          <p:nvPr>
            <p:ph idx="4" type="body"/>
          </p:nvPr>
        </p:nvSpPr>
        <p:spPr>
          <a:xfrm>
            <a:off x="4850409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Questionnaires</a:t>
            </a:r>
            <a:endParaRPr sz="850"/>
          </a:p>
        </p:txBody>
      </p:sp>
      <p:sp>
        <p:nvSpPr>
          <p:cNvPr id="899" name="Google Shape;899;p76"/>
          <p:cNvSpPr/>
          <p:nvPr>
            <p:ph idx="4" type="body"/>
          </p:nvPr>
        </p:nvSpPr>
        <p:spPr>
          <a:xfrm>
            <a:off x="5947633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None/>
            </a:pPr>
            <a:r>
              <a:rPr lang="en" sz="1150"/>
              <a:t>Comms with merchant + internal teams</a:t>
            </a:r>
            <a:endParaRPr sz="1150"/>
          </a:p>
        </p:txBody>
      </p:sp>
      <p:sp>
        <p:nvSpPr>
          <p:cNvPr id="900" name="Google Shape;900;p76"/>
          <p:cNvSpPr/>
          <p:nvPr>
            <p:ph idx="3" type="body"/>
          </p:nvPr>
        </p:nvSpPr>
        <p:spPr>
          <a:xfrm>
            <a:off x="7066839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None/>
            </a:pPr>
            <a:r>
              <a:rPr lang="en" sz="1150"/>
              <a:t>Contract</a:t>
            </a:r>
            <a:endParaRPr sz="1150"/>
          </a:p>
        </p:txBody>
      </p:sp>
      <p:sp>
        <p:nvSpPr>
          <p:cNvPr id="901" name="Google Shape;901;p76"/>
          <p:cNvSpPr/>
          <p:nvPr>
            <p:ph idx="3" type="body"/>
          </p:nvPr>
        </p:nvSpPr>
        <p:spPr>
          <a:xfrm>
            <a:off x="8109103" y="2454825"/>
            <a:ext cx="998400" cy="2381100"/>
          </a:xfrm>
          <a:prstGeom prst="roundRect">
            <a:avLst>
              <a:gd fmla="val 16667" name="adj"/>
            </a:avLst>
          </a:prstGeom>
        </p:spPr>
        <p:txBody>
          <a:bodyPr anchorCtr="0" anchor="b" bIns="88150" lIns="88150" spcFirstLastPara="1" rIns="88150" wrap="square" tIns="88150">
            <a:noAutofit/>
          </a:bodyPr>
          <a:lstStyle/>
          <a:p>
            <a:pPr indent="0" lvl="0" marL="0" rtl="0" algn="l">
              <a:spcBef>
                <a:spcPts val="96"/>
              </a:spcBef>
              <a:spcAft>
                <a:spcPts val="868"/>
              </a:spcAft>
              <a:buNone/>
            </a:pPr>
            <a:r>
              <a:rPr lang="en" sz="950"/>
              <a:t>Configuration</a:t>
            </a:r>
            <a:endParaRPr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7"/>
          <p:cNvSpPr txBox="1"/>
          <p:nvPr>
            <p:ph type="title"/>
          </p:nvPr>
        </p:nvSpPr>
        <p:spPr>
          <a:xfrm>
            <a:off x="419796" y="425875"/>
            <a:ext cx="4636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/>
              <a:t>EXEC SUMMARY - MAIN FOCUS AREAS</a:t>
            </a:r>
            <a:endParaRPr/>
          </a:p>
        </p:txBody>
      </p:sp>
      <p:sp>
        <p:nvSpPr>
          <p:cNvPr id="911" name="Rectangle 910"/>
          <p:cNvSpPr/>
          <p:nvPr/>
        </p:nvSpPr>
        <p:spPr>
          <a:xfrm>
            <a:off x="192024" y="987552"/>
            <a:ext cx="2084831" cy="9601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l"/>
            <a:r>
              <a:rPr sz="2200" b="1">
                <a:solidFill>
                  <a:srgbClr val="CCDDFF"/>
                </a:solidFill>
              </a:rPr>
              <a:t>01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FFFFFF"/>
                </a:solidFill>
              </a:rPr>
              <a:t>Commercial spending too much time on SFDC admin</a:t>
            </a:r>
          </a:p>
        </p:txBody>
      </p:sp>
      <p:sp>
        <p:nvSpPr>
          <p:cNvPr id="912" name="Rectangle 911"/>
          <p:cNvSpPr/>
          <p:nvPr/>
        </p:nvSpPr>
        <p:spPr>
          <a:xfrm>
            <a:off x="192024" y="1947672"/>
            <a:ext cx="2084831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9436" rIns="73152" bIns="36576"/>
          <a:lstStyle/>
          <a:p>
            <a:pPr algn="l"/>
            <a:r>
              <a:rPr sz="750" b="1">
                <a:solidFill>
                  <a:srgbClr val="FFFFFF"/>
                </a:solidFill>
              </a:rPr>
              <a:t>✦  SOLUTIONS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192024" y="2194560"/>
            <a:ext cx="2084831" cy="2706624"/>
          </a:xfrm>
          <a:prstGeom prst="rect">
            <a:avLst/>
          </a:prstGeom>
          <a:solidFill>
            <a:srgbClr val="F4F7FF"/>
          </a:solidFill>
          <a:ln w="6350">
            <a:solidFill>
              <a:srgbClr val="C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Focus on user experience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Reduce manual fields in SFDC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Reduce opp decisions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AI front-end on SFDC improves UX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Re-use data for multi-entity opps</a:t>
            </a:r>
          </a:p>
        </p:txBody>
      </p:sp>
      <p:sp>
        <p:nvSpPr>
          <p:cNvPr id="914" name="Rectangle 913"/>
          <p:cNvSpPr/>
          <p:nvPr/>
        </p:nvSpPr>
        <p:spPr>
          <a:xfrm>
            <a:off x="2365552" y="987552"/>
            <a:ext cx="2084831" cy="9601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l"/>
            <a:r>
              <a:rPr sz="2200" b="1">
                <a:solidFill>
                  <a:srgbClr val="CCDDFF"/>
                </a:solidFill>
              </a:rPr>
              <a:t>02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FFFFFF"/>
                </a:solidFill>
              </a:rPr>
              <a:t>Commercial spending too much time during onboarding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2365552" y="1947672"/>
            <a:ext cx="2084831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9436" rIns="73152" bIns="36576"/>
          <a:lstStyle/>
          <a:p>
            <a:pPr algn="l"/>
            <a:r>
              <a:rPr sz="750" b="1">
                <a:solidFill>
                  <a:srgbClr val="FFFFFF"/>
                </a:solidFill>
              </a:rPr>
              <a:t>✦  SOLUTIONS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2365552" y="2194560"/>
            <a:ext cx="2084831" cy="2706624"/>
          </a:xfrm>
          <a:prstGeom prst="rect">
            <a:avLst/>
          </a:prstGeom>
          <a:solidFill>
            <a:srgbClr val="F4F7FF"/>
          </a:solidFill>
          <a:ln w="6350">
            <a:solidFill>
              <a:srgbClr val="C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DM to act as project managers for all Silver &amp; Gold deals incl. all merchant and internal comms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Commercial to have visibility only — time freed for selling</a:t>
            </a:r>
          </a:p>
        </p:txBody>
      </p:sp>
      <p:sp>
        <p:nvSpPr>
          <p:cNvPr id="917" name="Rectangle 916"/>
          <p:cNvSpPr/>
          <p:nvPr/>
        </p:nvSpPr>
        <p:spPr>
          <a:xfrm>
            <a:off x="4539081" y="987552"/>
            <a:ext cx="2084831" cy="9601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l"/>
            <a:r>
              <a:rPr sz="2200" b="1">
                <a:solidFill>
                  <a:srgbClr val="CCDDFF"/>
                </a:solidFill>
              </a:rPr>
              <a:t>03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FFFFFF"/>
                </a:solidFill>
              </a:rPr>
              <a:t>Poor merchant experience during onboarding</a:t>
            </a:r>
          </a:p>
        </p:txBody>
      </p:sp>
      <p:sp>
        <p:nvSpPr>
          <p:cNvPr id="918" name="Rectangle 917"/>
          <p:cNvSpPr/>
          <p:nvPr/>
        </p:nvSpPr>
        <p:spPr>
          <a:xfrm>
            <a:off x="4539081" y="1947672"/>
            <a:ext cx="2084831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9436" rIns="73152" bIns="36576"/>
          <a:lstStyle/>
          <a:p>
            <a:pPr algn="l"/>
            <a:r>
              <a:rPr sz="750" b="1">
                <a:solidFill>
                  <a:srgbClr val="FFFFFF"/>
                </a:solidFill>
              </a:rPr>
              <a:t>✦  SOLUTIONS</a:t>
            </a:r>
          </a:p>
        </p:txBody>
      </p:sp>
      <p:sp>
        <p:nvSpPr>
          <p:cNvPr id="919" name="Rectangle 918"/>
          <p:cNvSpPr/>
          <p:nvPr/>
        </p:nvSpPr>
        <p:spPr>
          <a:xfrm>
            <a:off x="4539081" y="2194560"/>
            <a:ext cx="2084831" cy="2706624"/>
          </a:xfrm>
          <a:prstGeom prst="rect">
            <a:avLst/>
          </a:prstGeom>
          <a:solidFill>
            <a:srgbClr val="F4F7FF"/>
          </a:solidFill>
          <a:ln w="6350">
            <a:solidFill>
              <a:srgbClr val="C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All Silver &amp; Gold deals managed by DM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Re-focus: ask merchant for as little as possible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DM use AI/registers to pull info proactively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DM fill MAFs offline, merchant attests &amp; submits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Minimum &amp; synchronised information requests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712610" y="987552"/>
            <a:ext cx="2084831" cy="9601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l"/>
            <a:r>
              <a:rPr sz="2200" b="1">
                <a:solidFill>
                  <a:srgbClr val="CCDDFF"/>
                </a:solidFill>
              </a:rPr>
              <a:t>04</a:t>
            </a:r>
          </a:p>
          <a:p>
            <a:pPr algn="l"/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FFFFFF"/>
                </a:solidFill>
              </a:rPr>
              <a:t>DM spending too much time on Breakglass</a:t>
            </a:r>
          </a:p>
        </p:txBody>
      </p:sp>
      <p:sp>
        <p:nvSpPr>
          <p:cNvPr id="921" name="Rectangle 920"/>
          <p:cNvSpPr/>
          <p:nvPr/>
        </p:nvSpPr>
        <p:spPr>
          <a:xfrm>
            <a:off x="6712610" y="1947672"/>
            <a:ext cx="2084831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9436" rIns="73152" bIns="36576"/>
          <a:lstStyle/>
          <a:p>
            <a:pPr algn="l"/>
            <a:r>
              <a:rPr sz="750" b="1">
                <a:solidFill>
                  <a:srgbClr val="FFFFFF"/>
                </a:solidFill>
              </a:rPr>
              <a:t>✦  SOLUTIONS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6712610" y="2194560"/>
            <a:ext cx="2084831" cy="2706624"/>
          </a:xfrm>
          <a:prstGeom prst="rect">
            <a:avLst/>
          </a:prstGeom>
          <a:solidFill>
            <a:srgbClr val="F4F7FF"/>
          </a:solidFill>
          <a:ln w="6350">
            <a:solidFill>
              <a:srgbClr val="C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DM Breakglass AI tool launched (4 hrs → 10 mins)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1A2436"/>
                </a:solidFill>
              </a:rPr>
              <a:t>• Frees DM to add real value as onboarding project managers on Silver &amp; Gold deals</a:t>
            </a:r>
          </a:p>
        </p:txBody>
      </p:sp>
    </p:spTree>
  </p:cSld>
  <p:clrMapOvr>
    <a:masterClrMapping/>
  </p:clrMapOvr>
  <mc:AlternateContent>
    <mc:Choice Requires="p14">
      <p:transition p14:dur="1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8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Google Shape;920;p78"/>
          <p:cNvSpPr txBox="1"/>
          <p:nvPr>
            <p:ph type="title"/>
          </p:nvPr>
        </p:nvSpPr>
        <p:spPr>
          <a:xfrm>
            <a:off x="318750" y="484975"/>
            <a:ext cx="50568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Journey today + proposed journey</a:t>
            </a:r>
            <a:r>
              <a:rPr lang="en" sz="1700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921" name="Rectangle 920"/>
          <p:cNvSpPr/>
          <p:nvPr/>
        </p:nvSpPr>
        <p:spPr>
          <a:xfrm>
            <a:off x="164592" y="1792224"/>
            <a:ext cx="530352" cy="1536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900" b="1">
                <a:solidFill>
                  <a:srgbClr val="FFFFFF"/>
                </a:solidFill>
              </a:rPr>
              <a:t>TO-
DAY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164592" y="3419856"/>
            <a:ext cx="530352" cy="1645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PRO-
POSED</a:t>
            </a:r>
          </a:p>
        </p:txBody>
      </p:sp>
      <p:sp>
        <p:nvSpPr>
          <p:cNvPr id="923" name="Rectangle 922"/>
          <p:cNvSpPr/>
          <p:nvPr/>
        </p:nvSpPr>
        <p:spPr>
          <a:xfrm>
            <a:off x="164592" y="1371600"/>
            <a:ext cx="53035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8872" rIns="73152"/>
          <a:lstStyle/>
          <a:p>
            <a:pPr algn="ctr"/>
            <a:r>
              <a:rPr sz="7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694944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1
SF Setup</a:t>
            </a:r>
          </a:p>
        </p:txBody>
      </p:sp>
      <p:sp>
        <p:nvSpPr>
          <p:cNvPr id="925" name="Rectangle 924"/>
          <p:cNvSpPr/>
          <p:nvPr/>
        </p:nvSpPr>
        <p:spPr>
          <a:xfrm>
            <a:off x="694944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100% manual
30+ fields
No multi-entity clone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694944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AI-first SFDC
Fewer fields
No duplication</a:t>
            </a:r>
          </a:p>
        </p:txBody>
      </p:sp>
      <p:sp>
        <p:nvSpPr>
          <p:cNvPr id="927" name="Right Arrow 926"/>
          <p:cNvSpPr/>
          <p:nvPr/>
        </p:nvSpPr>
        <p:spPr>
          <a:xfrm>
            <a:off x="1514856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Right Arrow 927"/>
          <p:cNvSpPr/>
          <p:nvPr/>
        </p:nvSpPr>
        <p:spPr>
          <a:xfrm>
            <a:off x="1514856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Right Arrow 928"/>
          <p:cNvSpPr/>
          <p:nvPr/>
        </p:nvSpPr>
        <p:spPr>
          <a:xfrm>
            <a:off x="1514856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Rectangle 929"/>
          <p:cNvSpPr/>
          <p:nvPr/>
        </p:nvSpPr>
        <p:spPr>
          <a:xfrm>
            <a:off x="1633728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2
Pricing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1633728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4-5 day latency
Inconsistent pricing
No global quote</a:t>
            </a:r>
          </a:p>
        </p:txBody>
      </p:sp>
      <p:sp>
        <p:nvSpPr>
          <p:cNvPr id="932" name="Rectangle 931"/>
          <p:cNvSpPr/>
          <p:nvPr/>
        </p:nvSpPr>
        <p:spPr>
          <a:xfrm>
            <a:off x="1633728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AI quote: 0 latency
Clear Take Rate
Global quote</a:t>
            </a:r>
          </a:p>
        </p:txBody>
      </p:sp>
      <p:sp>
        <p:nvSpPr>
          <p:cNvPr id="933" name="Right Arrow 932"/>
          <p:cNvSpPr/>
          <p:nvPr/>
        </p:nvSpPr>
        <p:spPr>
          <a:xfrm>
            <a:off x="2453640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Right Arrow 933"/>
          <p:cNvSpPr/>
          <p:nvPr/>
        </p:nvSpPr>
        <p:spPr>
          <a:xfrm>
            <a:off x="2453640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Right Arrow 934"/>
          <p:cNvSpPr/>
          <p:nvPr/>
        </p:nvSpPr>
        <p:spPr>
          <a:xfrm>
            <a:off x="2453640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Rectangle 935"/>
          <p:cNvSpPr/>
          <p:nvPr/>
        </p:nvSpPr>
        <p:spPr>
          <a:xfrm>
            <a:off x="2572512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3
Pre-Vet</a:t>
            </a:r>
          </a:p>
        </p:txBody>
      </p:sp>
      <p:sp>
        <p:nvSpPr>
          <p:cNvPr id="937" name="Rectangle 936"/>
          <p:cNvSpPr/>
          <p:nvPr/>
        </p:nvSpPr>
        <p:spPr>
          <a:xfrm>
            <a:off x="2572512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Inconsistently applied
Sometimes missed</a:t>
            </a:r>
          </a:p>
        </p:txBody>
      </p:sp>
      <p:sp>
        <p:nvSpPr>
          <p:cNvPr id="938" name="Rectangle 937"/>
          <p:cNvSpPr/>
          <p:nvPr/>
        </p:nvSpPr>
        <p:spPr>
          <a:xfrm>
            <a:off x="2572512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Structured DM+Sales
form auto-determines
questionnaires at kick-off</a:t>
            </a:r>
          </a:p>
        </p:txBody>
      </p:sp>
      <p:sp>
        <p:nvSpPr>
          <p:cNvPr id="939" name="Right Arrow 938"/>
          <p:cNvSpPr/>
          <p:nvPr/>
        </p:nvSpPr>
        <p:spPr>
          <a:xfrm>
            <a:off x="3392424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Right Arrow 939"/>
          <p:cNvSpPr/>
          <p:nvPr/>
        </p:nvSpPr>
        <p:spPr>
          <a:xfrm>
            <a:off x="3392424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Right Arrow 940"/>
          <p:cNvSpPr/>
          <p:nvPr/>
        </p:nvSpPr>
        <p:spPr>
          <a:xfrm>
            <a:off x="3392424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Rectangle 941"/>
          <p:cNvSpPr/>
          <p:nvPr/>
        </p:nvSpPr>
        <p:spPr>
          <a:xfrm>
            <a:off x="3511296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4
MAF</a:t>
            </a:r>
          </a:p>
        </p:txBody>
      </p:sp>
      <p:sp>
        <p:nvSpPr>
          <p:cNvPr id="943" name="Rectangle 942"/>
          <p:cNvSpPr/>
          <p:nvPr/>
        </p:nvSpPr>
        <p:spPr>
          <a:xfrm>
            <a:off x="3511296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85% incomplete
2 systems
Heavy lift for merchant</a:t>
            </a:r>
          </a:p>
        </p:txBody>
      </p:sp>
      <p:sp>
        <p:nvSpPr>
          <p:cNvPr id="944" name="Rectangle 943"/>
          <p:cNvSpPr/>
          <p:nvPr/>
        </p:nvSpPr>
        <p:spPr>
          <a:xfrm>
            <a:off x="3511296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DM+AI pre-fills MAF
Single onboarding hub
Merchant attests only</a:t>
            </a:r>
          </a:p>
        </p:txBody>
      </p:sp>
      <p:sp>
        <p:nvSpPr>
          <p:cNvPr id="945" name="Right Arrow 944"/>
          <p:cNvSpPr/>
          <p:nvPr/>
        </p:nvSpPr>
        <p:spPr>
          <a:xfrm>
            <a:off x="4331208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Right Arrow 945"/>
          <p:cNvSpPr/>
          <p:nvPr/>
        </p:nvSpPr>
        <p:spPr>
          <a:xfrm>
            <a:off x="4331208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Right Arrow 946"/>
          <p:cNvSpPr/>
          <p:nvPr/>
        </p:nvSpPr>
        <p:spPr>
          <a:xfrm>
            <a:off x="4331208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4450080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5
Questionnaires</a:t>
            </a:r>
          </a:p>
        </p:txBody>
      </p:sp>
      <p:sp>
        <p:nvSpPr>
          <p:cNvPr id="949" name="Rectangle 948"/>
          <p:cNvSpPr/>
          <p:nvPr/>
        </p:nvSpPr>
        <p:spPr>
          <a:xfrm>
            <a:off x="4450080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Sent separately
Often late
Heavy lift</a:t>
            </a:r>
          </a:p>
        </p:txBody>
      </p:sp>
      <p:sp>
        <p:nvSpPr>
          <p:cNvPr id="950" name="Rectangle 949"/>
          <p:cNvSpPr/>
          <p:nvPr/>
        </p:nvSpPr>
        <p:spPr>
          <a:xfrm>
            <a:off x="4450080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AI pre-filled globally
Sent by DM with MAF
AI quality check</a:t>
            </a:r>
          </a:p>
        </p:txBody>
      </p:sp>
      <p:sp>
        <p:nvSpPr>
          <p:cNvPr id="951" name="Right Arrow 950"/>
          <p:cNvSpPr/>
          <p:nvPr/>
        </p:nvSpPr>
        <p:spPr>
          <a:xfrm>
            <a:off x="5269991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Right Arrow 951"/>
          <p:cNvSpPr/>
          <p:nvPr/>
        </p:nvSpPr>
        <p:spPr>
          <a:xfrm>
            <a:off x="5269991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Right Arrow 952"/>
          <p:cNvSpPr/>
          <p:nvPr/>
        </p:nvSpPr>
        <p:spPr>
          <a:xfrm>
            <a:off x="5269991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5388863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6
UW Review</a:t>
            </a:r>
          </a:p>
        </p:txBody>
      </p:sp>
      <p:sp>
        <p:nvSpPr>
          <p:cNvPr id="955" name="Rectangle 954"/>
          <p:cNvSpPr/>
          <p:nvPr/>
        </p:nvSpPr>
        <p:spPr>
          <a:xfrm>
            <a:off x="5388863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No central case tool
Data leakage
Siloed info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5388863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Single case tracker
Gold War Room
for every deal</a:t>
            </a:r>
          </a:p>
        </p:txBody>
      </p:sp>
      <p:sp>
        <p:nvSpPr>
          <p:cNvPr id="957" name="Right Arrow 956"/>
          <p:cNvSpPr/>
          <p:nvPr/>
        </p:nvSpPr>
        <p:spPr>
          <a:xfrm>
            <a:off x="6208775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ight Arrow 957"/>
          <p:cNvSpPr/>
          <p:nvPr/>
        </p:nvSpPr>
        <p:spPr>
          <a:xfrm>
            <a:off x="6208775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ight Arrow 958"/>
          <p:cNvSpPr/>
          <p:nvPr/>
        </p:nvSpPr>
        <p:spPr>
          <a:xfrm>
            <a:off x="6208775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6327648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7
Contract</a:t>
            </a:r>
          </a:p>
        </p:txBody>
      </p:sp>
      <p:sp>
        <p:nvSpPr>
          <p:cNvPr id="961" name="Rectangle 960"/>
          <p:cNvSpPr/>
          <p:nvPr/>
        </p:nvSpPr>
        <p:spPr>
          <a:xfrm>
            <a:off x="6327648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Legal in too early
Lack of Commercial
understanding of contracts</a:t>
            </a:r>
          </a:p>
        </p:txBody>
      </p:sp>
      <p:sp>
        <p:nvSpPr>
          <p:cNvPr id="962" name="Rectangle 961"/>
          <p:cNvSpPr/>
          <p:nvPr/>
        </p:nvSpPr>
        <p:spPr>
          <a:xfrm>
            <a:off x="6327648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Auto-CSA clause
playbook + fallback
positions</a:t>
            </a:r>
          </a:p>
        </p:txBody>
      </p:sp>
      <p:sp>
        <p:nvSpPr>
          <p:cNvPr id="963" name="Right Arrow 962"/>
          <p:cNvSpPr/>
          <p:nvPr/>
        </p:nvSpPr>
        <p:spPr>
          <a:xfrm>
            <a:off x="7147560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ight Arrow 963"/>
          <p:cNvSpPr/>
          <p:nvPr/>
        </p:nvSpPr>
        <p:spPr>
          <a:xfrm>
            <a:off x="7147560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Right Arrow 964"/>
          <p:cNvSpPr/>
          <p:nvPr/>
        </p:nvSpPr>
        <p:spPr>
          <a:xfrm>
            <a:off x="7147560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7266432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8
Config</a:t>
            </a:r>
          </a:p>
        </p:txBody>
      </p:sp>
      <p:sp>
        <p:nvSpPr>
          <p:cNvPr id="967" name="Rectangle 966"/>
          <p:cNvSpPr/>
          <p:nvPr/>
        </p:nvSpPr>
        <p:spPr>
          <a:xfrm>
            <a:off x="7266432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Manual &amp; time-consuming
Low CAT visibility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7266432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One-Click MCR
Auto-update CAT
SE check mandated</a:t>
            </a:r>
          </a:p>
        </p:txBody>
      </p:sp>
      <p:sp>
        <p:nvSpPr>
          <p:cNvPr id="969" name="Right Arrow 968"/>
          <p:cNvSpPr/>
          <p:nvPr/>
        </p:nvSpPr>
        <p:spPr>
          <a:xfrm>
            <a:off x="8086344" y="1527048"/>
            <a:ext cx="118872" cy="109728"/>
          </a:xfrm>
          <a:prstGeom prst="rightArrow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Right Arrow 969"/>
          <p:cNvSpPr/>
          <p:nvPr/>
        </p:nvSpPr>
        <p:spPr>
          <a:xfrm>
            <a:off x="8086344" y="2496312"/>
            <a:ext cx="118872" cy="128016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Right Arrow 970"/>
          <p:cNvSpPr/>
          <p:nvPr/>
        </p:nvSpPr>
        <p:spPr>
          <a:xfrm>
            <a:off x="8086344" y="4178807"/>
            <a:ext cx="118872" cy="128016"/>
          </a:xfrm>
          <a:prstGeom prst="rightArrow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8205215" y="1371600"/>
            <a:ext cx="819912" cy="42062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/>
          <a:lstStyle/>
          <a:p>
            <a:pPr algn="ctr"/>
            <a:r>
              <a:rPr sz="700" b="1">
                <a:solidFill>
                  <a:srgbClr val="FFFFFF"/>
                </a:solidFill>
              </a:rPr>
              <a:t>9
Go Live</a:t>
            </a:r>
          </a:p>
        </p:txBody>
      </p:sp>
      <p:sp>
        <p:nvSpPr>
          <p:cNvPr id="973" name="Rectangle 972"/>
          <p:cNvSpPr/>
          <p:nvPr/>
        </p:nvSpPr>
        <p:spPr>
          <a:xfrm>
            <a:off x="8205215" y="1792224"/>
            <a:ext cx="819912" cy="1536192"/>
          </a:xfrm>
          <a:prstGeom prst="rect">
            <a:avLst/>
          </a:prstGeom>
          <a:solidFill>
            <a:srgbClr val="FFF7E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Out of scope
(Owned by SE)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8205215" y="3419856"/>
            <a:ext cx="819912" cy="1645920"/>
          </a:xfrm>
          <a:prstGeom prst="rect">
            <a:avLst/>
          </a:prstGeom>
          <a:solidFill>
            <a:srgbClr val="DBEAFF"/>
          </a:solidFill>
          <a:ln w="63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73152" rIns="45720"/>
          <a:lstStyle/>
          <a:p>
            <a:pPr algn="l"/>
            <a:r>
              <a:rPr sz="750" b="0">
                <a:solidFill>
                  <a:srgbClr val="1A2436"/>
                </a:solidFill>
              </a:rPr>
              <a:t>SE final check
mandated pre
go-live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9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Google Shape;927;p79"/>
          <p:cNvSpPr txBox="1"/>
          <p:nvPr>
            <p:ph type="title"/>
          </p:nvPr>
        </p:nvSpPr>
        <p:spPr>
          <a:xfrm>
            <a:off x="318750" y="484975"/>
            <a:ext cx="50568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Priorities and ETA</a:t>
            </a:r>
            <a:endParaRPr/>
          </a:p>
        </p:txBody>
      </p:sp>
      <p:sp>
        <p:nvSpPr>
          <p:cNvPr id="928" name="Rectangle 927"/>
          <p:cNvSpPr/>
          <p:nvPr/>
        </p:nvSpPr>
        <p:spPr>
          <a:xfrm>
            <a:off x="274320" y="1444752"/>
            <a:ext cx="2706624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929" name="Rectangle 928"/>
          <p:cNvSpPr/>
          <p:nvPr/>
        </p:nvSpPr>
        <p:spPr>
          <a:xfrm>
            <a:off x="274320" y="1883664"/>
            <a:ext cx="2706624" cy="2560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75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274320" y="2139696"/>
            <a:ext cx="2706624" cy="2798063"/>
          </a:xfrm>
          <a:prstGeom prst="rect">
            <a:avLst/>
          </a:prstGeom>
          <a:solidFill>
            <a:srgbClr val="FFF7E0"/>
          </a:solidFill>
          <a:ln w="6350">
            <a:solidFill>
              <a:srgbClr val="C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09728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1A2436"/>
                </a:solidFill>
              </a:rPr>
              <a:t>• Breakglass can't take 50% of DM time → internal AI tool for DM use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1A2436"/>
                </a:solidFill>
              </a:rPr>
              <a:t>• Trial of Gold War Room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1A2436"/>
                </a:solidFill>
              </a:rPr>
              <a:t>• Trial of DM managing all comms / white-glove service / completing the MAF internally for selected global cohort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3255263" y="1444752"/>
            <a:ext cx="2706624" cy="43891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932" name="Rectangle 931"/>
          <p:cNvSpPr/>
          <p:nvPr/>
        </p:nvSpPr>
        <p:spPr>
          <a:xfrm>
            <a:off x="3255263" y="1883664"/>
            <a:ext cx="2706624" cy="2560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75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933" name="Rectangle 932"/>
          <p:cNvSpPr/>
          <p:nvPr/>
        </p:nvSpPr>
        <p:spPr>
          <a:xfrm>
            <a:off x="3255263" y="2139696"/>
            <a:ext cx="2706624" cy="2798063"/>
          </a:xfrm>
          <a:prstGeom prst="rect">
            <a:avLst/>
          </a:prstGeom>
          <a:solidFill>
            <a:srgbClr val="DBEAFF"/>
          </a:solidFill>
          <a:ln w="6350">
            <a:solidFill>
              <a:srgbClr val="C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09728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1A2436"/>
                </a:solidFill>
              </a:rPr>
              <a:t>• Expand DM remit to e2e Onboarding Owners for Gold, multi-entity + Silver deals (subject to trial outcome)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1A2436"/>
                </a:solidFill>
              </a:rPr>
              <a:t>• AI embedded throughout the onboarding journey</a:t>
            </a:r>
          </a:p>
        </p:txBody>
      </p:sp>
      <p:sp>
        <p:nvSpPr>
          <p:cNvPr id="934" name="Rectangle 933"/>
          <p:cNvSpPr/>
          <p:nvPr/>
        </p:nvSpPr>
        <p:spPr>
          <a:xfrm>
            <a:off x="6236207" y="1444752"/>
            <a:ext cx="2706624" cy="438912"/>
          </a:xfrm>
          <a:prstGeom prst="rect">
            <a:avLst/>
          </a:prstGeom>
          <a:solidFill>
            <a:srgbClr val="0FB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935" name="Rectangle 934"/>
          <p:cNvSpPr/>
          <p:nvPr/>
        </p:nvSpPr>
        <p:spPr>
          <a:xfrm>
            <a:off x="6236207" y="1883664"/>
            <a:ext cx="2706624" cy="2560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73152" bIns="36576"/>
          <a:lstStyle/>
          <a:p>
            <a:pPr algn="ctr"/>
            <a:r>
              <a:rPr sz="75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936" name="Rectangle 935"/>
          <p:cNvSpPr/>
          <p:nvPr/>
        </p:nvSpPr>
        <p:spPr>
          <a:xfrm>
            <a:off x="6236207" y="2139696"/>
            <a:ext cx="2706624" cy="2798063"/>
          </a:xfrm>
          <a:prstGeom prst="rect">
            <a:avLst/>
          </a:prstGeom>
          <a:solidFill>
            <a:srgbClr val="CFF5ED"/>
          </a:solidFill>
          <a:ln w="6350">
            <a:solidFill>
              <a:srgbClr val="C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09728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1A2436"/>
                </a:solidFill>
              </a:rPr>
              <a:t>• SFDC admin reduced by 50%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1A2436"/>
                </a:solidFill>
              </a:rPr>
              <a:t>• Commercial time spent creating quotes reduced by 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0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0"/>
          <p:cNvSpPr/>
          <p:nvPr/>
        </p:nvSpPr>
        <p:spPr>
          <a:xfrm>
            <a:off x="274320" y="164592"/>
            <a:ext cx="8595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Quote to Live — The </a:t>
            </a:r>
            <a:r>
              <a:rPr b="1" lang="en" sz="2000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Current </a:t>
            </a:r>
            <a:r>
              <a:rPr b="1" i="0" lang="en" sz="2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Process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8" name="Google Shape;938;p80"/>
          <p:cNvCxnSpPr/>
          <p:nvPr/>
        </p:nvCxnSpPr>
        <p:spPr>
          <a:xfrm>
            <a:off x="274320" y="749808"/>
            <a:ext cx="85953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9" name="Google Shape;939;p80"/>
          <p:cNvSpPr/>
          <p:nvPr/>
        </p:nvSpPr>
        <p:spPr>
          <a:xfrm>
            <a:off x="228600" y="1577820"/>
            <a:ext cx="891900" cy="11886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80"/>
          <p:cNvSpPr/>
          <p:nvPr/>
        </p:nvSpPr>
        <p:spPr>
          <a:xfrm>
            <a:off x="2286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SF Setup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80"/>
          <p:cNvSpPr/>
          <p:nvPr/>
        </p:nvSpPr>
        <p:spPr>
          <a:xfrm>
            <a:off x="2286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Account, Opp,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Quote created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2" name="Google Shape;942;p80"/>
          <p:cNvCxnSpPr/>
          <p:nvPr/>
        </p:nvCxnSpPr>
        <p:spPr>
          <a:xfrm>
            <a:off x="11206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80"/>
          <p:cNvSpPr/>
          <p:nvPr/>
        </p:nvSpPr>
        <p:spPr>
          <a:xfrm>
            <a:off x="1193800" y="1577820"/>
            <a:ext cx="891900" cy="11886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0"/>
          <p:cNvSpPr/>
          <p:nvPr/>
        </p:nvSpPr>
        <p:spPr>
          <a:xfrm>
            <a:off x="11938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Pricing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80"/>
          <p:cNvSpPr/>
          <p:nvPr/>
        </p:nvSpPr>
        <p:spPr>
          <a:xfrm>
            <a:off x="11938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Quote to Cash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 agreed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6" name="Google Shape;946;p80"/>
          <p:cNvCxnSpPr/>
          <p:nvPr/>
        </p:nvCxnSpPr>
        <p:spPr>
          <a:xfrm>
            <a:off x="20858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p80"/>
          <p:cNvSpPr/>
          <p:nvPr/>
        </p:nvSpPr>
        <p:spPr>
          <a:xfrm>
            <a:off x="2159000" y="1577820"/>
            <a:ext cx="891900" cy="118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0"/>
          <p:cNvSpPr/>
          <p:nvPr/>
        </p:nvSpPr>
        <p:spPr>
          <a:xfrm>
            <a:off x="21590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Pre-Vet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80"/>
          <p:cNvSpPr/>
          <p:nvPr/>
        </p:nvSpPr>
        <p:spPr>
          <a:xfrm>
            <a:off x="21590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UW pre-screens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gambling / platforms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80"/>
          <p:cNvCxnSpPr/>
          <p:nvPr/>
        </p:nvCxnSpPr>
        <p:spPr>
          <a:xfrm>
            <a:off x="30510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1" name="Google Shape;951;p80"/>
          <p:cNvSpPr/>
          <p:nvPr/>
        </p:nvSpPr>
        <p:spPr>
          <a:xfrm>
            <a:off x="3124200" y="1577820"/>
            <a:ext cx="891900" cy="118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0"/>
          <p:cNvSpPr/>
          <p:nvPr/>
        </p:nvSpPr>
        <p:spPr>
          <a:xfrm>
            <a:off x="31242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MAF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80"/>
          <p:cNvSpPr/>
          <p:nvPr/>
        </p:nvSpPr>
        <p:spPr>
          <a:xfrm>
            <a:off x="31242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Merchant completes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p80"/>
          <p:cNvCxnSpPr/>
          <p:nvPr/>
        </p:nvCxnSpPr>
        <p:spPr>
          <a:xfrm>
            <a:off x="40162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80"/>
          <p:cNvSpPr/>
          <p:nvPr/>
        </p:nvSpPr>
        <p:spPr>
          <a:xfrm>
            <a:off x="4089400" y="1577820"/>
            <a:ext cx="891900" cy="118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0"/>
          <p:cNvSpPr/>
          <p:nvPr/>
        </p:nvSpPr>
        <p:spPr>
          <a:xfrm>
            <a:off x="40894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Questionnaires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80"/>
          <p:cNvSpPr/>
          <p:nvPr/>
        </p:nvSpPr>
        <p:spPr>
          <a:xfrm>
            <a:off x="40894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AML / Travel / Issuing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 separately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8" name="Google Shape;958;p80"/>
          <p:cNvCxnSpPr/>
          <p:nvPr/>
        </p:nvCxnSpPr>
        <p:spPr>
          <a:xfrm>
            <a:off x="49814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p80"/>
          <p:cNvSpPr/>
          <p:nvPr/>
        </p:nvSpPr>
        <p:spPr>
          <a:xfrm>
            <a:off x="5054600" y="1577820"/>
            <a:ext cx="891900" cy="118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80"/>
          <p:cNvSpPr/>
          <p:nvPr/>
        </p:nvSpPr>
        <p:spPr>
          <a:xfrm>
            <a:off x="50546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UW 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80"/>
          <p:cNvSpPr/>
          <p:nvPr/>
        </p:nvSpPr>
        <p:spPr>
          <a:xfrm>
            <a:off x="50546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Genesis case created;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+ EDD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2" name="Google Shape;962;p80"/>
          <p:cNvCxnSpPr/>
          <p:nvPr/>
        </p:nvCxnSpPr>
        <p:spPr>
          <a:xfrm>
            <a:off x="59466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80"/>
          <p:cNvSpPr/>
          <p:nvPr/>
        </p:nvSpPr>
        <p:spPr>
          <a:xfrm>
            <a:off x="6019800" y="1577820"/>
            <a:ext cx="891900" cy="118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80"/>
          <p:cNvSpPr/>
          <p:nvPr/>
        </p:nvSpPr>
        <p:spPr>
          <a:xfrm>
            <a:off x="60198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Contract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80"/>
          <p:cNvSpPr/>
          <p:nvPr/>
        </p:nvSpPr>
        <p:spPr>
          <a:xfrm>
            <a:off x="60198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CSA signed </a:t>
            </a:r>
            <a:endParaRPr b="0" i="0" sz="8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(if bespo</a:t>
            </a:r>
            <a:r>
              <a:rPr i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ke)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6" name="Google Shape;966;p80"/>
          <p:cNvCxnSpPr/>
          <p:nvPr/>
        </p:nvCxnSpPr>
        <p:spPr>
          <a:xfrm>
            <a:off x="69118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7" name="Google Shape;967;p80"/>
          <p:cNvSpPr/>
          <p:nvPr/>
        </p:nvSpPr>
        <p:spPr>
          <a:xfrm>
            <a:off x="6985000" y="1577820"/>
            <a:ext cx="891900" cy="1188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80"/>
          <p:cNvSpPr/>
          <p:nvPr/>
        </p:nvSpPr>
        <p:spPr>
          <a:xfrm>
            <a:off x="69850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Config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80"/>
          <p:cNvSpPr/>
          <p:nvPr/>
        </p:nvSpPr>
        <p:spPr>
          <a:xfrm>
            <a:off x="69850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Merchant config team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sets up in CAT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0" name="Google Shape;970;p80"/>
          <p:cNvCxnSpPr/>
          <p:nvPr/>
        </p:nvCxnSpPr>
        <p:spPr>
          <a:xfrm>
            <a:off x="78770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80"/>
          <p:cNvSpPr/>
          <p:nvPr/>
        </p:nvSpPr>
        <p:spPr>
          <a:xfrm>
            <a:off x="7950200" y="1577820"/>
            <a:ext cx="891900" cy="1188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80"/>
          <p:cNvSpPr/>
          <p:nvPr/>
        </p:nvSpPr>
        <p:spPr>
          <a:xfrm>
            <a:off x="79502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 Go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80"/>
          <p:cNvSpPr/>
          <p:nvPr/>
        </p:nvSpPr>
        <p:spPr>
          <a:xfrm>
            <a:off x="79502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+ first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80"/>
          <p:cNvSpPr/>
          <p:nvPr/>
        </p:nvSpPr>
        <p:spPr>
          <a:xfrm>
            <a:off x="228600" y="3078228"/>
            <a:ext cx="891900" cy="19656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80"/>
          <p:cNvSpPr/>
          <p:nvPr/>
        </p:nvSpPr>
        <p:spPr>
          <a:xfrm>
            <a:off x="228600" y="31696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manual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80"/>
          <p:cNvSpPr/>
          <p:nvPr/>
        </p:nvSpPr>
        <p:spPr>
          <a:xfrm>
            <a:off x="228600" y="3581165"/>
            <a:ext cx="8919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30+ manual fields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clone for multi-entity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Unclear which opp type to choose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Unclear how to create Accounts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80"/>
          <p:cNvSpPr/>
          <p:nvPr/>
        </p:nvSpPr>
        <p:spPr>
          <a:xfrm>
            <a:off x="1239300" y="3078228"/>
            <a:ext cx="891900" cy="19656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0"/>
          <p:cNvSpPr/>
          <p:nvPr/>
        </p:nvSpPr>
        <p:spPr>
          <a:xfrm>
            <a:off x="1239300" y="31696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50% of DM tickets are breakglass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80"/>
          <p:cNvSpPr/>
          <p:nvPr/>
        </p:nvSpPr>
        <p:spPr>
          <a:xfrm>
            <a:off x="1239300" y="3731368"/>
            <a:ext cx="8919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4-5 days latency for T1/Gold quotes</a:t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clone for multi-entity</a:t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Inconsistent pricing</a:t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Unclear Pricing Structure for APM</a:t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80"/>
          <p:cNvSpPr/>
          <p:nvPr/>
        </p:nvSpPr>
        <p:spPr>
          <a:xfrm>
            <a:off x="2159000" y="3078228"/>
            <a:ext cx="891900" cy="1965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0"/>
          <p:cNvSpPr/>
          <p:nvPr/>
        </p:nvSpPr>
        <p:spPr>
          <a:xfrm>
            <a:off x="2159000" y="31696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Inconsistently applied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80"/>
          <p:cNvSpPr/>
          <p:nvPr/>
        </p:nvSpPr>
        <p:spPr>
          <a:xfrm>
            <a:off x="2159000" y="3681619"/>
            <a:ext cx="8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Rely on Sales remembering to raise - not automated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Sometimes missed  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don’t know what to provide in Pre-vet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80"/>
          <p:cNvSpPr/>
          <p:nvPr/>
        </p:nvSpPr>
        <p:spPr>
          <a:xfrm>
            <a:off x="3124200" y="3078228"/>
            <a:ext cx="891900" cy="1965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80"/>
          <p:cNvSpPr/>
          <p:nvPr/>
        </p:nvSpPr>
        <p:spPr>
          <a:xfrm>
            <a:off x="3124200" y="3581160"/>
            <a:ext cx="8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Unable to help merchant during process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2x tech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stacks for multi-entity merchants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Heavy lift for merchant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80"/>
          <p:cNvSpPr/>
          <p:nvPr/>
        </p:nvSpPr>
        <p:spPr>
          <a:xfrm>
            <a:off x="4089400" y="3078228"/>
            <a:ext cx="891900" cy="1965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80"/>
          <p:cNvSpPr/>
          <p:nvPr/>
        </p:nvSpPr>
        <p:spPr>
          <a:xfrm>
            <a:off x="4089400" y="31696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 separately to MAF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80"/>
          <p:cNvSpPr/>
          <p:nvPr/>
        </p:nvSpPr>
        <p:spPr>
          <a:xfrm>
            <a:off x="4089400" y="3778710"/>
            <a:ext cx="8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Usually not received back with MAF = longer onboarding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Multi-entity option is clunky 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Heavy lift for merchants 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80"/>
          <p:cNvSpPr/>
          <p:nvPr/>
        </p:nvSpPr>
        <p:spPr>
          <a:xfrm>
            <a:off x="5054600" y="3078228"/>
            <a:ext cx="891900" cy="196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80"/>
          <p:cNvSpPr/>
          <p:nvPr/>
        </p:nvSpPr>
        <p:spPr>
          <a:xfrm>
            <a:off x="5100100" y="31696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leakage + siloed info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80"/>
          <p:cNvSpPr/>
          <p:nvPr/>
        </p:nvSpPr>
        <p:spPr>
          <a:xfrm>
            <a:off x="5100100" y="3581160"/>
            <a:ext cx="8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centralised case tool for all 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teams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EDD often ask 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merchant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questions post UW questions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80"/>
          <p:cNvSpPr/>
          <p:nvPr/>
        </p:nvSpPr>
        <p:spPr>
          <a:xfrm>
            <a:off x="6019800" y="3078228"/>
            <a:ext cx="891900" cy="196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80"/>
          <p:cNvSpPr/>
          <p:nvPr/>
        </p:nvSpPr>
        <p:spPr>
          <a:xfrm>
            <a:off x="6019800" y="31696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Inefficient use of Legal 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80"/>
          <p:cNvSpPr/>
          <p:nvPr/>
        </p:nvSpPr>
        <p:spPr>
          <a:xfrm>
            <a:off x="6019800" y="3731610"/>
            <a:ext cx="8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involved before basic terms of agreement agreed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Lack of Commercial understanding of our contracts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80"/>
          <p:cNvSpPr/>
          <p:nvPr/>
        </p:nvSpPr>
        <p:spPr>
          <a:xfrm>
            <a:off x="3124200" y="31696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85% of MAFs submitted are incomplete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0"/>
          <p:cNvSpPr/>
          <p:nvPr/>
        </p:nvSpPr>
        <p:spPr>
          <a:xfrm>
            <a:off x="7007467" y="3078228"/>
            <a:ext cx="891900" cy="1965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80"/>
          <p:cNvSpPr/>
          <p:nvPr/>
        </p:nvSpPr>
        <p:spPr>
          <a:xfrm>
            <a:off x="7007475" y="3224001"/>
            <a:ext cx="891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+ time consuming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80"/>
          <p:cNvSpPr/>
          <p:nvPr/>
        </p:nvSpPr>
        <p:spPr>
          <a:xfrm>
            <a:off x="7001354" y="3690085"/>
            <a:ext cx="8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Multi-entity requires back-and-forth with config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 Visibility for Commercial is low to check configuration pre-go live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80"/>
          <p:cNvSpPr/>
          <p:nvPr/>
        </p:nvSpPr>
        <p:spPr>
          <a:xfrm>
            <a:off x="7982933" y="3080353"/>
            <a:ext cx="891900" cy="1965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80"/>
          <p:cNvSpPr/>
          <p:nvPr/>
        </p:nvSpPr>
        <p:spPr>
          <a:xfrm>
            <a:off x="7995158" y="3066173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80"/>
          <p:cNvSpPr/>
          <p:nvPr/>
        </p:nvSpPr>
        <p:spPr>
          <a:xfrm>
            <a:off x="7950192" y="3731610"/>
            <a:ext cx="8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Owned by SE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81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81"/>
          <p:cNvSpPr/>
          <p:nvPr/>
        </p:nvSpPr>
        <p:spPr>
          <a:xfrm>
            <a:off x="274320" y="164592"/>
            <a:ext cx="8595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Quote to Live — </a:t>
            </a:r>
            <a:r>
              <a:rPr b="1" lang="en" sz="2000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Proposed Process</a:t>
            </a:r>
            <a:r>
              <a:rPr b="1" i="0" lang="en" sz="2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81"/>
          <p:cNvCxnSpPr/>
          <p:nvPr/>
        </p:nvCxnSpPr>
        <p:spPr>
          <a:xfrm>
            <a:off x="274320" y="749808"/>
            <a:ext cx="85953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9" name="Google Shape;1009;p81"/>
          <p:cNvSpPr/>
          <p:nvPr/>
        </p:nvSpPr>
        <p:spPr>
          <a:xfrm>
            <a:off x="228600" y="1577823"/>
            <a:ext cx="891900" cy="3394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81"/>
          <p:cNvSpPr/>
          <p:nvPr/>
        </p:nvSpPr>
        <p:spPr>
          <a:xfrm>
            <a:off x="2286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SF Setup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81"/>
          <p:cNvSpPr/>
          <p:nvPr/>
        </p:nvSpPr>
        <p:spPr>
          <a:xfrm>
            <a:off x="205850" y="267509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AI-first front end for SFDC - fewer fields, no duplication of data</a:t>
            </a:r>
            <a:endParaRPr b="1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2" name="Google Shape;1012;p81"/>
          <p:cNvCxnSpPr/>
          <p:nvPr/>
        </p:nvCxnSpPr>
        <p:spPr>
          <a:xfrm>
            <a:off x="11206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3" name="Google Shape;1013;p81"/>
          <p:cNvSpPr/>
          <p:nvPr/>
        </p:nvSpPr>
        <p:spPr>
          <a:xfrm>
            <a:off x="1193800" y="1577823"/>
            <a:ext cx="891900" cy="3394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1"/>
          <p:cNvSpPr/>
          <p:nvPr/>
        </p:nvSpPr>
        <p:spPr>
          <a:xfrm>
            <a:off x="11938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Pricing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81"/>
          <p:cNvSpPr/>
          <p:nvPr/>
        </p:nvSpPr>
        <p:spPr>
          <a:xfrm>
            <a:off x="1193800" y="2080783"/>
            <a:ext cx="891900" cy="2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quote  means clear Take Rate, 0 latency, global quote.</a:t>
            </a:r>
            <a:endParaRPr b="1"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Breakglass done with internal DM AI tool</a:t>
            </a:r>
            <a:endParaRPr b="1"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6" name="Google Shape;1016;p81"/>
          <p:cNvCxnSpPr/>
          <p:nvPr/>
        </p:nvCxnSpPr>
        <p:spPr>
          <a:xfrm>
            <a:off x="20858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7" name="Google Shape;1017;p81"/>
          <p:cNvSpPr/>
          <p:nvPr/>
        </p:nvSpPr>
        <p:spPr>
          <a:xfrm>
            <a:off x="2159000" y="1577823"/>
            <a:ext cx="891900" cy="339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Structured DM + Sales form at deal kick-off;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auto-determines required questionnaires from MCC and entity country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018" name="Google Shape;1018;p81"/>
          <p:cNvSpPr/>
          <p:nvPr/>
        </p:nvSpPr>
        <p:spPr>
          <a:xfrm>
            <a:off x="21590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Pre-Vet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81"/>
          <p:cNvSpPr/>
          <p:nvPr/>
        </p:nvSpPr>
        <p:spPr>
          <a:xfrm>
            <a:off x="2159000" y="20807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0" name="Google Shape;1020;p81"/>
          <p:cNvCxnSpPr/>
          <p:nvPr/>
        </p:nvCxnSpPr>
        <p:spPr>
          <a:xfrm>
            <a:off x="30510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1" name="Google Shape;1021;p81"/>
          <p:cNvSpPr/>
          <p:nvPr/>
        </p:nvSpPr>
        <p:spPr>
          <a:xfrm>
            <a:off x="3124200" y="1577823"/>
            <a:ext cx="891900" cy="339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81"/>
          <p:cNvSpPr/>
          <p:nvPr/>
        </p:nvSpPr>
        <p:spPr>
          <a:xfrm>
            <a:off x="31242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MAF</a:t>
            </a:r>
            <a:endParaRPr b="1" sz="9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Onboarding </a:t>
            </a: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81"/>
          <p:cNvSpPr/>
          <p:nvPr/>
        </p:nvSpPr>
        <p:spPr>
          <a:xfrm>
            <a:off x="3124200" y="330582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 uses AI + relevant country registers to complete as much as possible. MAF bot used to check quality/ 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completeness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additional docs at start. Group data re-used. </a:t>
            </a:r>
            <a:r>
              <a:rPr lang="en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Merchant attests and submits to DM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4" name="Google Shape;1024;p81"/>
          <p:cNvCxnSpPr/>
          <p:nvPr/>
        </p:nvCxnSpPr>
        <p:spPr>
          <a:xfrm>
            <a:off x="40162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5" name="Google Shape;1025;p81"/>
          <p:cNvSpPr/>
          <p:nvPr/>
        </p:nvSpPr>
        <p:spPr>
          <a:xfrm>
            <a:off x="4089400" y="1577823"/>
            <a:ext cx="891900" cy="339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81"/>
          <p:cNvSpPr/>
          <p:nvPr/>
        </p:nvSpPr>
        <p:spPr>
          <a:xfrm>
            <a:off x="40894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Questionnaires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4089400" y="2890288"/>
            <a:ext cx="891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Pre-filled using AI as much as possible. 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Global.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 by DM with initial MAF document reqs.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check all questionnaires before passed to internal teams.</a:t>
            </a:r>
            <a:endParaRPr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8" name="Google Shape;1028;p81"/>
          <p:cNvCxnSpPr/>
          <p:nvPr/>
        </p:nvCxnSpPr>
        <p:spPr>
          <a:xfrm>
            <a:off x="49814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9" name="Google Shape;1029;p81"/>
          <p:cNvSpPr/>
          <p:nvPr/>
        </p:nvSpPr>
        <p:spPr>
          <a:xfrm>
            <a:off x="5054600" y="1577825"/>
            <a:ext cx="891900" cy="33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81"/>
          <p:cNvSpPr/>
          <p:nvPr/>
        </p:nvSpPr>
        <p:spPr>
          <a:xfrm>
            <a:off x="50546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UW 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81"/>
          <p:cNvSpPr/>
          <p:nvPr/>
        </p:nvSpPr>
        <p:spPr>
          <a:xfrm>
            <a:off x="5054600" y="2571446"/>
            <a:ext cx="891900" cy="17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case tracker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 all internal teams -  use Gold War Room + onboarding hub for e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very deal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81"/>
          <p:cNvCxnSpPr/>
          <p:nvPr/>
        </p:nvCxnSpPr>
        <p:spPr>
          <a:xfrm>
            <a:off x="59466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3" name="Google Shape;1033;p81"/>
          <p:cNvSpPr/>
          <p:nvPr/>
        </p:nvSpPr>
        <p:spPr>
          <a:xfrm>
            <a:off x="6019800" y="1577834"/>
            <a:ext cx="891900" cy="33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81"/>
          <p:cNvSpPr/>
          <p:nvPr/>
        </p:nvSpPr>
        <p:spPr>
          <a:xfrm>
            <a:off x="60198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Contract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81"/>
          <p:cNvSpPr/>
          <p:nvPr/>
        </p:nvSpPr>
        <p:spPr>
          <a:xfrm>
            <a:off x="6019800" y="306134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 to use auto-CSA clause playbook  + fallback positions to ensure Legal’s time used more efficiently </a:t>
            </a:r>
            <a:endParaRPr b="0" i="1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6" name="Google Shape;1036;p81"/>
          <p:cNvCxnSpPr/>
          <p:nvPr/>
        </p:nvCxnSpPr>
        <p:spPr>
          <a:xfrm>
            <a:off x="69118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7" name="Google Shape;1037;p81"/>
          <p:cNvSpPr/>
          <p:nvPr/>
        </p:nvSpPr>
        <p:spPr>
          <a:xfrm>
            <a:off x="6985000" y="1577834"/>
            <a:ext cx="891900" cy="3394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81"/>
          <p:cNvSpPr/>
          <p:nvPr/>
        </p:nvSpPr>
        <p:spPr>
          <a:xfrm>
            <a:off x="69850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Config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81"/>
          <p:cNvSpPr/>
          <p:nvPr/>
        </p:nvSpPr>
        <p:spPr>
          <a:xfrm>
            <a:off x="6985000" y="299089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Automation effort + One-Click MCR means quotes automatically updated in CAT</a:t>
            </a:r>
            <a:endParaRPr sz="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 part of single case tracker so understand multi-entity</a:t>
            </a: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final check mandated pre go-live</a:t>
            </a:r>
            <a:endParaRPr sz="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0" name="Google Shape;1040;p81"/>
          <p:cNvCxnSpPr/>
          <p:nvPr/>
        </p:nvCxnSpPr>
        <p:spPr>
          <a:xfrm>
            <a:off x="7877048" y="2172180"/>
            <a:ext cx="73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1" name="Google Shape;1041;p81"/>
          <p:cNvSpPr/>
          <p:nvPr/>
        </p:nvSpPr>
        <p:spPr>
          <a:xfrm>
            <a:off x="7950200" y="1577834"/>
            <a:ext cx="891900" cy="3394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81"/>
          <p:cNvSpPr/>
          <p:nvPr/>
        </p:nvSpPr>
        <p:spPr>
          <a:xfrm>
            <a:off x="7950200" y="1669260"/>
            <a:ext cx="8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 Go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81"/>
          <p:cNvSpPr/>
          <p:nvPr/>
        </p:nvSpPr>
        <p:spPr>
          <a:xfrm>
            <a:off x="7950200" y="2954390"/>
            <a:ext cx="8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Owned by 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2"/>
          <p:cNvSpPr txBox="1"/>
          <p:nvPr>
            <p:ph idx="2" type="body"/>
          </p:nvPr>
        </p:nvSpPr>
        <p:spPr>
          <a:xfrm>
            <a:off x="419825" y="417750"/>
            <a:ext cx="6622800" cy="22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OPPORTUNITY + QUOTE CREATION</a:t>
            </a:r>
            <a:endParaRPr sz="6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3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4" name="Google Shape;1054;p83"/>
          <p:cNvSpPr txBox="1"/>
          <p:nvPr>
            <p:ph type="title"/>
          </p:nvPr>
        </p:nvSpPr>
        <p:spPr>
          <a:xfrm>
            <a:off x="318750" y="484975"/>
            <a:ext cx="20904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OPPORTUNITY CREATION</a:t>
            </a:r>
            <a:r>
              <a:rPr lang="en"/>
              <a:t> </a:t>
            </a:r>
            <a:endParaRPr/>
          </a:p>
        </p:txBody>
      </p:sp>
      <p:sp>
        <p:nvSpPr>
          <p:cNvPr id="1055" name="Google Shape;1055;p83"/>
          <p:cNvSpPr/>
          <p:nvPr>
            <p:ph idx="2" type="body"/>
          </p:nvPr>
        </p:nvSpPr>
        <p:spPr>
          <a:xfrm>
            <a:off x="4668475" y="417750"/>
            <a:ext cx="1914600" cy="37857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every entity needs a separate manual account + opp created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Use AI as as front end to </a:t>
            </a:r>
            <a:r>
              <a:rPr lang="en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</a:t>
            </a:r>
            <a:r>
              <a:rPr lang="en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utomate the creation and synchronisation of multi-entity and upsell opportunities to eliminate duplicate data entry.</a:t>
            </a:r>
            <a:r>
              <a:rPr lang="en">
                <a:latin typeface="Inter Light"/>
                <a:ea typeface="Inter Light"/>
                <a:cs typeface="Inter Light"/>
                <a:sym typeface="Inter Light"/>
              </a:rPr>
              <a:t>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56" name="Google Shape;1056;p83"/>
          <p:cNvSpPr/>
          <p:nvPr>
            <p:ph idx="3" type="body"/>
          </p:nvPr>
        </p:nvSpPr>
        <p:spPr>
          <a:xfrm>
            <a:off x="6784050" y="417750"/>
            <a:ext cx="1914600" cy="37857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SFDC isn’t set up for enterprise sales motion. Time-consuming and confusing for Commercial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Use AI as a front end to </a:t>
            </a:r>
            <a:r>
              <a:rPr lang="en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o</a:t>
            </a:r>
            <a:r>
              <a:rPr lang="en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ptimise Salesforce opportunity categorisation. Eliminate manual workarounds and data inaccuracies caused by the current record type and type selection. The correct Record Type/Type can be programmatically determined by the system, not Commercial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83"/>
          <p:cNvSpPr txBox="1"/>
          <p:nvPr>
            <p:ph idx="5" type="body"/>
          </p:nvPr>
        </p:nvSpPr>
        <p:spPr>
          <a:xfrm>
            <a:off x="4841597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clone for multi-entity opps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83"/>
          <p:cNvSpPr txBox="1"/>
          <p:nvPr>
            <p:ph idx="6" type="body"/>
          </p:nvPr>
        </p:nvSpPr>
        <p:spPr>
          <a:xfrm>
            <a:off x="6957172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Unclear what type of opp is needed</a:t>
            </a:r>
            <a:endParaRPr/>
          </a:p>
        </p:txBody>
      </p:sp>
      <p:sp>
        <p:nvSpPr>
          <p:cNvPr id="1059" name="Google Shape;1059;p83"/>
          <p:cNvSpPr/>
          <p:nvPr>
            <p:ph idx="1" type="body"/>
          </p:nvPr>
        </p:nvSpPr>
        <p:spPr>
          <a:xfrm>
            <a:off x="2544150" y="417750"/>
            <a:ext cx="1914600" cy="37857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Poor commercial experience leading to poor data quality and wasted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r>
              <a:rPr lang="en"/>
              <a:t>: Use SFDC Headless 360 to design AI front end for Commercial. Fields only appear as point-in time. Pre-populate fields from Clari + Kernel.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83"/>
          <p:cNvSpPr txBox="1"/>
          <p:nvPr>
            <p:ph idx="7" type="body"/>
          </p:nvPr>
        </p:nvSpPr>
        <p:spPr>
          <a:xfrm>
            <a:off x="2717272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30+ manual fields required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4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6" name="Google Shape;1066;p84"/>
          <p:cNvSpPr/>
          <p:nvPr>
            <p:ph idx="8" type="body"/>
          </p:nvPr>
        </p:nvSpPr>
        <p:spPr>
          <a:xfrm>
            <a:off x="4668475" y="2474250"/>
            <a:ext cx="1914600" cy="23913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Not maximising revenue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AI driven pricing tool which shows Take 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84"/>
          <p:cNvSpPr/>
          <p:nvPr>
            <p:ph idx="9" type="body"/>
          </p:nvPr>
        </p:nvSpPr>
        <p:spPr>
          <a:xfrm>
            <a:off x="6849375" y="2474250"/>
            <a:ext cx="1914600" cy="23913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Waste of resource which could be more valuable elsewhere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</a:t>
            </a:r>
            <a:r>
              <a:rPr lang="en"/>
              <a:t>: </a:t>
            </a:r>
            <a:r>
              <a:rPr lang="en"/>
              <a:t>Internal</a:t>
            </a:r>
            <a:r>
              <a:rPr lang="en"/>
              <a:t> DM Breakglass tool. DM team to use AI to dramatically reduce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84"/>
          <p:cNvSpPr txBox="1"/>
          <p:nvPr>
            <p:ph type="title"/>
          </p:nvPr>
        </p:nvSpPr>
        <p:spPr>
          <a:xfrm>
            <a:off x="318750" y="484975"/>
            <a:ext cx="20904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QUOTE</a:t>
            </a:r>
            <a:r>
              <a:rPr lang="en" sz="1700">
                <a:solidFill>
                  <a:schemeClr val="lt1"/>
                </a:solidFill>
              </a:rPr>
              <a:t> CREATION</a:t>
            </a:r>
            <a:r>
              <a:rPr lang="en"/>
              <a:t> </a:t>
            </a:r>
            <a:endParaRPr/>
          </a:p>
        </p:txBody>
      </p:sp>
      <p:sp>
        <p:nvSpPr>
          <p:cNvPr id="1069" name="Google Shape;1069;p84"/>
          <p:cNvSpPr txBox="1"/>
          <p:nvPr>
            <p:ph idx="14" type="body"/>
          </p:nvPr>
        </p:nvSpPr>
        <p:spPr>
          <a:xfrm>
            <a:off x="4839722" y="2614569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Inconsistent pricing modelling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84"/>
          <p:cNvSpPr txBox="1"/>
          <p:nvPr>
            <p:ph idx="15" type="body"/>
          </p:nvPr>
        </p:nvSpPr>
        <p:spPr>
          <a:xfrm>
            <a:off x="6959047" y="2614569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50% of DM time spent on breakglass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84"/>
          <p:cNvSpPr/>
          <p:nvPr>
            <p:ph idx="13" type="body"/>
          </p:nvPr>
        </p:nvSpPr>
        <p:spPr>
          <a:xfrm>
            <a:off x="2544150" y="2474250"/>
            <a:ext cx="1914600" cy="23913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Lost revenue and poor merchant experience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</a:t>
            </a:r>
            <a:r>
              <a:rPr lang="en"/>
              <a:t>automatically </a:t>
            </a:r>
            <a:r>
              <a:rPr lang="en"/>
              <a:t>send relevant quotes for approval. Includes key info for Sales Leaders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84"/>
          <p:cNvSpPr txBox="1"/>
          <p:nvPr>
            <p:ph idx="16" type="body"/>
          </p:nvPr>
        </p:nvSpPr>
        <p:spPr>
          <a:xfrm>
            <a:off x="2715397" y="2614569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4-5 days latency for Gold/T1 quotes</a:t>
            </a:r>
            <a:endParaRPr/>
          </a:p>
        </p:txBody>
      </p:sp>
      <p:sp>
        <p:nvSpPr>
          <p:cNvPr id="1073" name="Google Shape;1073;p84"/>
          <p:cNvSpPr/>
          <p:nvPr>
            <p:ph idx="1" type="body"/>
          </p:nvPr>
        </p:nvSpPr>
        <p:spPr>
          <a:xfrm>
            <a:off x="2544150" y="417750"/>
            <a:ext cx="1914600" cy="18516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Sequential rather than parallel onboarding increases time to revenue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remove this blocker from process</a:t>
            </a:r>
            <a:endParaRPr/>
          </a:p>
        </p:txBody>
      </p:sp>
      <p:sp>
        <p:nvSpPr>
          <p:cNvPr id="1074" name="Google Shape;1074;p84"/>
          <p:cNvSpPr txBox="1"/>
          <p:nvPr>
            <p:ph idx="7" type="body"/>
          </p:nvPr>
        </p:nvSpPr>
        <p:spPr>
          <a:xfrm>
            <a:off x="2717272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MAF blocked until </a:t>
            </a:r>
            <a:r>
              <a:rPr lang="en"/>
              <a:t>quote</a:t>
            </a:r>
            <a:r>
              <a:rPr lang="en"/>
              <a:t> presented </a:t>
            </a:r>
            <a:endParaRPr/>
          </a:p>
        </p:txBody>
      </p:sp>
      <p:sp>
        <p:nvSpPr>
          <p:cNvPr id="1075" name="Google Shape;1075;p84"/>
          <p:cNvSpPr txBox="1"/>
          <p:nvPr/>
        </p:nvSpPr>
        <p:spPr>
          <a:xfrm>
            <a:off x="0" y="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84"/>
          <p:cNvSpPr/>
          <p:nvPr>
            <p:ph idx="3" type="body"/>
          </p:nvPr>
        </p:nvSpPr>
        <p:spPr>
          <a:xfrm>
            <a:off x="4750663" y="417750"/>
            <a:ext cx="1914600" cy="18516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Merchant wants to review single quote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AI driven pricing tool which creates global quote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84"/>
          <p:cNvSpPr txBox="1"/>
          <p:nvPr>
            <p:ph idx="6" type="body"/>
          </p:nvPr>
        </p:nvSpPr>
        <p:spPr>
          <a:xfrm>
            <a:off x="4923784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Unable to automatically send single global quotes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84"/>
          <p:cNvSpPr/>
          <p:nvPr>
            <p:ph idx="3" type="body"/>
          </p:nvPr>
        </p:nvSpPr>
        <p:spPr>
          <a:xfrm>
            <a:off x="6957188" y="417750"/>
            <a:ext cx="1914600" cy="18516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non-legally compliant quotes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AI check </a:t>
            </a:r>
            <a:r>
              <a:rPr lang="en"/>
              <a:t>which ensures only authorised signatories allowed to 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84"/>
          <p:cNvSpPr txBox="1"/>
          <p:nvPr>
            <p:ph idx="6" type="body"/>
          </p:nvPr>
        </p:nvSpPr>
        <p:spPr>
          <a:xfrm>
            <a:off x="7121584" y="612252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Non-authorised signatories can sign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5"/>
          <p:cNvSpPr txBox="1"/>
          <p:nvPr>
            <p:ph idx="2" type="body"/>
          </p:nvPr>
        </p:nvSpPr>
        <p:spPr>
          <a:xfrm>
            <a:off x="419825" y="417750"/>
            <a:ext cx="6622800" cy="22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MAF COMPLETION</a:t>
            </a:r>
            <a:endParaRPr sz="6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6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0" name="Google Shape;1090;p86"/>
          <p:cNvSpPr txBox="1"/>
          <p:nvPr>
            <p:ph type="title"/>
          </p:nvPr>
        </p:nvSpPr>
        <p:spPr>
          <a:xfrm>
            <a:off x="318750" y="484975"/>
            <a:ext cx="20904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MAF</a:t>
            </a:r>
            <a:r>
              <a:rPr lang="en"/>
              <a:t> </a:t>
            </a:r>
            <a:endParaRPr/>
          </a:p>
        </p:txBody>
      </p:sp>
      <p:sp>
        <p:nvSpPr>
          <p:cNvPr id="1091" name="Google Shape;1091;p86"/>
          <p:cNvSpPr/>
          <p:nvPr>
            <p:ph idx="13" type="body"/>
          </p:nvPr>
        </p:nvSpPr>
        <p:spPr>
          <a:xfrm>
            <a:off x="2544150" y="2614576"/>
            <a:ext cx="2143800" cy="22653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MAFs are not filled in completely, which leads to additional time spent chasing during the UW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to collect all info from merchant using onboarding MAF hub. AI to verify quality + completion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86"/>
          <p:cNvSpPr txBox="1"/>
          <p:nvPr>
            <p:ph idx="16" type="body"/>
          </p:nvPr>
        </p:nvSpPr>
        <p:spPr>
          <a:xfrm>
            <a:off x="2738007" y="2724493"/>
            <a:ext cx="1766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85% of MAFS submitted incomplete</a:t>
            </a:r>
            <a:endParaRPr/>
          </a:p>
        </p:txBody>
      </p:sp>
      <p:sp>
        <p:nvSpPr>
          <p:cNvPr id="1093" name="Google Shape;1093;p86"/>
          <p:cNvSpPr/>
          <p:nvPr>
            <p:ph idx="2" type="body"/>
          </p:nvPr>
        </p:nvSpPr>
        <p:spPr>
          <a:xfrm>
            <a:off x="4922910" y="417750"/>
            <a:ext cx="2143800" cy="20001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Merchant has to log into 2 different systems to onboard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to collect all info from merchant using onboarding MAF 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4" name="Google Shape;1094;p86"/>
          <p:cNvSpPr/>
          <p:nvPr>
            <p:ph idx="3" type="body"/>
          </p:nvPr>
        </p:nvSpPr>
        <p:spPr>
          <a:xfrm>
            <a:off x="4922910" y="2614574"/>
            <a:ext cx="2143800" cy="22653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Commercial/DM unable to provide point-in-time help to merchants during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to collect all info from merchant using onboarding MAF hub, visibility provided for Commercial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86"/>
          <p:cNvSpPr txBox="1"/>
          <p:nvPr>
            <p:ph idx="5" type="body"/>
          </p:nvPr>
        </p:nvSpPr>
        <p:spPr>
          <a:xfrm>
            <a:off x="5116767" y="558077"/>
            <a:ext cx="1766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 different MAF systems (ARC+ Genesis) = poor merchant experience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86"/>
          <p:cNvSpPr txBox="1"/>
          <p:nvPr>
            <p:ph idx="6" type="body"/>
          </p:nvPr>
        </p:nvSpPr>
        <p:spPr>
          <a:xfrm>
            <a:off x="5012068" y="2724501"/>
            <a:ext cx="1766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</a:t>
            </a:r>
            <a:r>
              <a:rPr lang="en"/>
              <a:t>visibility</a:t>
            </a:r>
            <a:r>
              <a:rPr lang="en"/>
              <a:t> on info submitted/ can’t </a:t>
            </a:r>
            <a:r>
              <a:rPr lang="en"/>
              <a:t>provide</a:t>
            </a:r>
            <a:r>
              <a:rPr lang="en"/>
              <a:t> help to merchant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"/>
              <a:t>    </a:t>
            </a:r>
            <a:endParaRPr/>
          </a:p>
        </p:txBody>
      </p:sp>
      <p:sp>
        <p:nvSpPr>
          <p:cNvPr id="1097" name="Google Shape;1097;p86"/>
          <p:cNvSpPr/>
          <p:nvPr>
            <p:ph idx="1" type="body"/>
          </p:nvPr>
        </p:nvSpPr>
        <p:spPr>
          <a:xfrm>
            <a:off x="2544150" y="417750"/>
            <a:ext cx="2143800" cy="20001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Merchant has very poor and time-consuming experience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use AI to pre-fill all multi-entity MAFs.</a:t>
            </a:r>
            <a:endParaRPr/>
          </a:p>
        </p:txBody>
      </p:sp>
      <p:sp>
        <p:nvSpPr>
          <p:cNvPr id="1098" name="Google Shape;1098;p86"/>
          <p:cNvSpPr txBox="1"/>
          <p:nvPr>
            <p:ph idx="7" type="body"/>
          </p:nvPr>
        </p:nvSpPr>
        <p:spPr>
          <a:xfrm>
            <a:off x="2738007" y="558077"/>
            <a:ext cx="1766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No multi-entity MAF so merchant re-entering same </a:t>
            </a:r>
            <a:r>
              <a:rPr lang="en"/>
              <a:t>data</a:t>
            </a:r>
            <a:r>
              <a:rPr lang="en"/>
              <a:t>  multiple times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87"/>
          <p:cNvSpPr txBox="1"/>
          <p:nvPr>
            <p:ph idx="2" type="body"/>
          </p:nvPr>
        </p:nvSpPr>
        <p:spPr>
          <a:xfrm>
            <a:off x="419825" y="417750"/>
            <a:ext cx="7081800" cy="22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QUESTIONNAIRES</a:t>
            </a:r>
            <a:endParaRPr sz="6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8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9" name="Google Shape;1109;p88"/>
          <p:cNvSpPr txBox="1"/>
          <p:nvPr>
            <p:ph type="title"/>
          </p:nvPr>
        </p:nvSpPr>
        <p:spPr>
          <a:xfrm>
            <a:off x="318750" y="484975"/>
            <a:ext cx="20904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QUESTIONNAIRES</a:t>
            </a:r>
            <a:endParaRPr/>
          </a:p>
        </p:txBody>
      </p:sp>
      <p:sp>
        <p:nvSpPr>
          <p:cNvPr id="1110" name="Google Shape;1110;p88"/>
          <p:cNvSpPr/>
          <p:nvPr>
            <p:ph idx="2" type="body"/>
          </p:nvPr>
        </p:nvSpPr>
        <p:spPr>
          <a:xfrm>
            <a:off x="4668475" y="417750"/>
            <a:ext cx="1914600" cy="22968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Waste time and poorly manage merchants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to use </a:t>
            </a:r>
            <a:r>
              <a:rPr lang="en"/>
              <a:t>AI </a:t>
            </a:r>
            <a:r>
              <a:rPr lang="en"/>
              <a:t>to complete as much as possible + check completion and quality before sending to internal teams</a:t>
            </a:r>
            <a:endParaRPr/>
          </a:p>
        </p:txBody>
      </p:sp>
      <p:sp>
        <p:nvSpPr>
          <p:cNvPr id="1111" name="Google Shape;1111;p88"/>
          <p:cNvSpPr/>
          <p:nvPr>
            <p:ph idx="3" type="body"/>
          </p:nvPr>
        </p:nvSpPr>
        <p:spPr>
          <a:xfrm>
            <a:off x="6784050" y="417750"/>
            <a:ext cx="1914600" cy="22968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Merchant has to re-enter same data multiple times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Trialling a condensed multi-entity questionnaire. Will be pre-filled as much as possible by DM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88"/>
          <p:cNvSpPr txBox="1"/>
          <p:nvPr>
            <p:ph idx="5" type="body"/>
          </p:nvPr>
        </p:nvSpPr>
        <p:spPr>
          <a:xfrm>
            <a:off x="4841597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quality control at start of process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88"/>
          <p:cNvSpPr txBox="1"/>
          <p:nvPr>
            <p:ph idx="6" type="body"/>
          </p:nvPr>
        </p:nvSpPr>
        <p:spPr>
          <a:xfrm>
            <a:off x="6957172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multi-entity questionnaires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88"/>
          <p:cNvSpPr/>
          <p:nvPr>
            <p:ph idx="1" type="body"/>
          </p:nvPr>
        </p:nvSpPr>
        <p:spPr>
          <a:xfrm>
            <a:off x="2544150" y="417750"/>
            <a:ext cx="1914600" cy="22968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Often forgotten/ sent much later in process which adds time/ merchant has to use 2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send automatically at start when triggered by the onboarding hub to do so</a:t>
            </a:r>
            <a:endParaRPr/>
          </a:p>
        </p:txBody>
      </p:sp>
      <p:sp>
        <p:nvSpPr>
          <p:cNvPr id="1115" name="Google Shape;1115;p88"/>
          <p:cNvSpPr txBox="1"/>
          <p:nvPr>
            <p:ph idx="7" type="body"/>
          </p:nvPr>
        </p:nvSpPr>
        <p:spPr>
          <a:xfrm>
            <a:off x="2717272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Sent as GSheets alongside MAF manually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89"/>
          <p:cNvSpPr txBox="1"/>
          <p:nvPr>
            <p:ph idx="2" type="body"/>
          </p:nvPr>
        </p:nvSpPr>
        <p:spPr>
          <a:xfrm>
            <a:off x="419825" y="417750"/>
            <a:ext cx="7081800" cy="22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COMMS WITH MERCHANT + INTERNAL TEAMS</a:t>
            </a:r>
            <a:endParaRPr sz="6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90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6" name="Google Shape;1126;p90"/>
          <p:cNvSpPr txBox="1"/>
          <p:nvPr>
            <p:ph type="title"/>
          </p:nvPr>
        </p:nvSpPr>
        <p:spPr>
          <a:xfrm>
            <a:off x="318750" y="484975"/>
            <a:ext cx="20904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C</a:t>
            </a:r>
            <a:r>
              <a:rPr lang="en" sz="1700">
                <a:solidFill>
                  <a:schemeClr val="lt1"/>
                </a:solidFill>
              </a:rPr>
              <a:t>OMMS WITH MERCHANT</a:t>
            </a:r>
            <a:endParaRPr/>
          </a:p>
        </p:txBody>
      </p:sp>
      <p:sp>
        <p:nvSpPr>
          <p:cNvPr id="1127" name="Google Shape;1127;p90"/>
          <p:cNvSpPr/>
          <p:nvPr>
            <p:ph idx="13" type="body"/>
          </p:nvPr>
        </p:nvSpPr>
        <p:spPr>
          <a:xfrm>
            <a:off x="6788425" y="2934042"/>
            <a:ext cx="1914600" cy="18516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Data leakage + wasted internal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</a:t>
            </a:r>
            <a:r>
              <a:rPr lang="en"/>
              <a:t>DM to Project Manage all Silver + Gold deals. Single case per deal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0"/>
          <p:cNvSpPr txBox="1"/>
          <p:nvPr>
            <p:ph idx="16" type="body"/>
          </p:nvPr>
        </p:nvSpPr>
        <p:spPr>
          <a:xfrm>
            <a:off x="6952797" y="3106469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Back-and-forth between internal teams</a:t>
            </a:r>
            <a:endParaRPr/>
          </a:p>
        </p:txBody>
      </p:sp>
      <p:sp>
        <p:nvSpPr>
          <p:cNvPr id="1129" name="Google Shape;1129;p90"/>
          <p:cNvSpPr/>
          <p:nvPr>
            <p:ph idx="2" type="body"/>
          </p:nvPr>
        </p:nvSpPr>
        <p:spPr>
          <a:xfrm>
            <a:off x="4668475" y="417750"/>
            <a:ext cx="1914600" cy="23517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Issue: We ask merchant for info they’ve already provided.</a:t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Solution: Gold War Room single case solution (everyone on the deal has the same info throughout)</a:t>
            </a:r>
            <a:endParaRPr/>
          </a:p>
        </p:txBody>
      </p:sp>
      <p:sp>
        <p:nvSpPr>
          <p:cNvPr id="1130" name="Google Shape;1130;p90"/>
          <p:cNvSpPr/>
          <p:nvPr>
            <p:ph idx="3" type="body"/>
          </p:nvPr>
        </p:nvSpPr>
        <p:spPr>
          <a:xfrm>
            <a:off x="6784050" y="417750"/>
            <a:ext cx="1914600" cy="24267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inefficient, poor merchant experience, time-consuming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to Project Manage all Silver + Gold deals. Single case per deal means no data leakage/reduced merchant asks/ consolidated ask.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90"/>
          <p:cNvSpPr txBox="1"/>
          <p:nvPr>
            <p:ph idx="5" type="body"/>
          </p:nvPr>
        </p:nvSpPr>
        <p:spPr>
          <a:xfrm>
            <a:off x="4841597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leakage as not all teams using same system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90"/>
          <p:cNvSpPr txBox="1"/>
          <p:nvPr>
            <p:ph idx="6" type="body"/>
          </p:nvPr>
        </p:nvSpPr>
        <p:spPr>
          <a:xfrm>
            <a:off x="6957172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Repeated email requests for more info from merchant</a:t>
            </a:r>
            <a:endParaRPr/>
          </a:p>
        </p:txBody>
      </p:sp>
      <p:sp>
        <p:nvSpPr>
          <p:cNvPr id="1133" name="Google Shape;1133;p90"/>
          <p:cNvSpPr/>
          <p:nvPr>
            <p:ph idx="1" type="body"/>
          </p:nvPr>
        </p:nvSpPr>
        <p:spPr>
          <a:xfrm>
            <a:off x="2544150" y="417750"/>
            <a:ext cx="1914600" cy="23517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inefficient, poor merchant experience, time-consuming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DM to Project Manage all Silver + Gold deals incl all merchant  comms (Commercial remain in cc throughout for vis)</a:t>
            </a:r>
            <a:endParaRPr/>
          </a:p>
        </p:txBody>
      </p:sp>
      <p:sp>
        <p:nvSpPr>
          <p:cNvPr id="1134" name="Google Shape;1134;p90"/>
          <p:cNvSpPr txBox="1"/>
          <p:nvPr>
            <p:ph idx="7" type="body"/>
          </p:nvPr>
        </p:nvSpPr>
        <p:spPr>
          <a:xfrm>
            <a:off x="2717272" y="558077"/>
            <a:ext cx="15771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Takes up too much Commercial time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1"/>
          <p:cNvSpPr txBox="1"/>
          <p:nvPr>
            <p:ph idx="2" type="body"/>
          </p:nvPr>
        </p:nvSpPr>
        <p:spPr>
          <a:xfrm>
            <a:off x="419825" y="417750"/>
            <a:ext cx="7081800" cy="22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CONTRACT</a:t>
            </a:r>
            <a:endParaRPr sz="6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92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92"/>
          <p:cNvSpPr txBox="1"/>
          <p:nvPr>
            <p:ph type="title"/>
          </p:nvPr>
        </p:nvSpPr>
        <p:spPr>
          <a:xfrm>
            <a:off x="318750" y="484975"/>
            <a:ext cx="20904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LEGAL</a:t>
            </a:r>
            <a:endParaRPr/>
          </a:p>
        </p:txBody>
      </p:sp>
      <p:sp>
        <p:nvSpPr>
          <p:cNvPr id="1146" name="Google Shape;1146;p92"/>
          <p:cNvSpPr/>
          <p:nvPr>
            <p:ph idx="2" type="body"/>
          </p:nvPr>
        </p:nvSpPr>
        <p:spPr>
          <a:xfrm>
            <a:off x="4668475" y="417750"/>
            <a:ext cx="1914600" cy="30222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Commercial including Legal before basic terms of deal are established, leading to back-and-forths and wasted time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Ensure basic terms of deal established + shared with Legal </a:t>
            </a:r>
            <a:r>
              <a:rPr lang="en"/>
              <a:t>before</a:t>
            </a:r>
            <a:r>
              <a:rPr lang="en"/>
              <a:t> they are added to deal</a:t>
            </a:r>
            <a:endParaRPr/>
          </a:p>
        </p:txBody>
      </p:sp>
      <p:sp>
        <p:nvSpPr>
          <p:cNvPr id="1147" name="Google Shape;1147;p92"/>
          <p:cNvSpPr txBox="1"/>
          <p:nvPr>
            <p:ph idx="5" type="body"/>
          </p:nvPr>
        </p:nvSpPr>
        <p:spPr>
          <a:xfrm>
            <a:off x="4841597" y="570284"/>
            <a:ext cx="1577100" cy="43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Commercial looping in Legal at wrong point in deal cycle = longer </a:t>
            </a:r>
            <a:r>
              <a:rPr lang="en"/>
              <a:t>negotiation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92"/>
          <p:cNvSpPr/>
          <p:nvPr>
            <p:ph idx="1" type="body"/>
          </p:nvPr>
        </p:nvSpPr>
        <p:spPr>
          <a:xfrm>
            <a:off x="2544150" y="417750"/>
            <a:ext cx="1914600" cy="30222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Legal currently reviewing every single clause redline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Clause Library (colour-coded by risk level) + fallback positions. Lower risk clauses dealt with by DM. All contract negotiations still overseen by Legal. </a:t>
            </a:r>
            <a:endParaRPr/>
          </a:p>
        </p:txBody>
      </p:sp>
      <p:sp>
        <p:nvSpPr>
          <p:cNvPr id="1149" name="Google Shape;1149;p92"/>
          <p:cNvSpPr txBox="1"/>
          <p:nvPr>
            <p:ph idx="7" type="body"/>
          </p:nvPr>
        </p:nvSpPr>
        <p:spPr>
          <a:xfrm>
            <a:off x="2717272" y="570284"/>
            <a:ext cx="1577100" cy="43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Inefficient use of Legal’s time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93"/>
          <p:cNvSpPr txBox="1"/>
          <p:nvPr>
            <p:ph idx="2" type="body"/>
          </p:nvPr>
        </p:nvSpPr>
        <p:spPr>
          <a:xfrm>
            <a:off x="419825" y="417750"/>
            <a:ext cx="7081800" cy="22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CONFIGURATION</a:t>
            </a:r>
            <a:endParaRPr sz="6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94"/>
          <p:cNvSpPr/>
          <p:nvPr/>
        </p:nvSpPr>
        <p:spPr>
          <a:xfrm>
            <a:off x="230850" y="351700"/>
            <a:ext cx="2090400" cy="92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Google Shape;1160;p94"/>
          <p:cNvSpPr txBox="1"/>
          <p:nvPr>
            <p:ph type="title"/>
          </p:nvPr>
        </p:nvSpPr>
        <p:spPr>
          <a:xfrm>
            <a:off x="318750" y="484975"/>
            <a:ext cx="2090400" cy="11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CONFIG</a:t>
            </a:r>
            <a:endParaRPr/>
          </a:p>
        </p:txBody>
      </p:sp>
      <p:sp>
        <p:nvSpPr>
          <p:cNvPr id="1161" name="Google Shape;1161;p94"/>
          <p:cNvSpPr/>
          <p:nvPr>
            <p:ph idx="2" type="body"/>
          </p:nvPr>
        </p:nvSpPr>
        <p:spPr>
          <a:xfrm>
            <a:off x="4668475" y="417750"/>
            <a:ext cx="1914600" cy="30552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Issue: New merchants not always set up correctly </a:t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Solution: Obligatory final sign off from Commercial, Config + SE before Go- Live</a:t>
            </a:r>
            <a:endParaRPr/>
          </a:p>
        </p:txBody>
      </p:sp>
      <p:sp>
        <p:nvSpPr>
          <p:cNvPr id="1162" name="Google Shape;1162;p94"/>
          <p:cNvSpPr txBox="1"/>
          <p:nvPr>
            <p:ph idx="5" type="body"/>
          </p:nvPr>
        </p:nvSpPr>
        <p:spPr>
          <a:xfrm>
            <a:off x="4841597" y="600056"/>
            <a:ext cx="1577100" cy="5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100% of go-lives set up correctly  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94"/>
          <p:cNvSpPr/>
          <p:nvPr>
            <p:ph idx="1" type="body"/>
          </p:nvPr>
        </p:nvSpPr>
        <p:spPr>
          <a:xfrm>
            <a:off x="2544150" y="417750"/>
            <a:ext cx="1914600" cy="3055200"/>
          </a:xfrm>
          <a:prstGeom prst="roundRect">
            <a:avLst>
              <a:gd fmla="val 16667" name="adj"/>
            </a:avLst>
          </a:prstGeom>
        </p:spPr>
        <p:txBody>
          <a:bodyPr anchorCtr="0" anchor="t" bIns="144000" lIns="144000" spcFirstLastPara="1" rIns="108000" wrap="square" tIns="9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inefficient and time-consuming and can delay go-lives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Config + SE to be part of single deal case (have access to all info they need in one place)</a:t>
            </a:r>
            <a:endParaRPr/>
          </a:p>
        </p:txBody>
      </p:sp>
      <p:sp>
        <p:nvSpPr>
          <p:cNvPr id="1164" name="Google Shape;1164;p94"/>
          <p:cNvSpPr txBox="1"/>
          <p:nvPr>
            <p:ph idx="7" type="body"/>
          </p:nvPr>
        </p:nvSpPr>
        <p:spPr>
          <a:xfrm>
            <a:off x="2717272" y="600056"/>
            <a:ext cx="1577100" cy="5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"/>
              <a:t>Lots of back-and-forth with internal teams to ensure correct set-up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ECKOUT MASTER TEMPLATE">
  <a:themeElements>
    <a:clrScheme name="CKO T3">
      <a:dk1>
        <a:srgbClr val="000000"/>
      </a:dk1>
      <a:lt1>
        <a:srgbClr val="FFFFFF"/>
      </a:lt1>
      <a:dk2>
        <a:srgbClr val="272832"/>
      </a:dk2>
      <a:lt2>
        <a:srgbClr val="F4F2F2"/>
      </a:lt2>
      <a:accent1>
        <a:srgbClr val="1869FF"/>
      </a:accent1>
      <a:accent2>
        <a:srgbClr val="CEC9C9"/>
      </a:accent2>
      <a:accent3>
        <a:srgbClr val="ACA3A3"/>
      </a:accent3>
      <a:accent4>
        <a:srgbClr val="777378"/>
      </a:accent4>
      <a:accent5>
        <a:srgbClr val="414248"/>
      </a:accent5>
      <a:accent6>
        <a:srgbClr val="FE6B4A"/>
      </a:accent6>
      <a:hlink>
        <a:srgbClr val="146AFF"/>
      </a:hlink>
      <a:folHlink>
        <a:srgbClr val="ACA3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