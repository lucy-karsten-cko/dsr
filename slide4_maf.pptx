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4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</a:rPr>
              <a:t>Journey today + proposed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66928"/>
            <a:ext cx="1280160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STEP  4  ·  MAF</a:t>
            </a:r>
          </a:p>
        </p:txBody>
      </p:sp>
      <p:sp>
        <p:nvSpPr>
          <p:cNvPr id="4" name="Rectangle 3"/>
          <p:cNvSpPr/>
          <p:nvPr/>
        </p:nvSpPr>
        <p:spPr>
          <a:xfrm>
            <a:off x="1737360" y="566928"/>
            <a:ext cx="10131552" cy="256032"/>
          </a:xfrm>
          <a:prstGeom prst="rect">
            <a:avLst/>
          </a:prstGeom>
          <a:solidFill>
            <a:srgbClr val="F5F5F5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37360" y="566928"/>
            <a:ext cx="45720" cy="2560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74520" y="576072"/>
            <a:ext cx="9948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Where it sits: DM has sent the MAF link. Merchant must now complete the form — highest-friction point in the journey.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932688"/>
            <a:ext cx="777240" cy="2468880"/>
          </a:xfrm>
          <a:prstGeom prst="rect">
            <a:avLst/>
          </a:prstGeom>
          <a:solidFill>
            <a:srgbClr val="E8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TO-
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932688"/>
            <a:ext cx="10771632" cy="2468880"/>
          </a:xfrm>
          <a:prstGeom prst="rect">
            <a:avLst/>
          </a:prstGeom>
          <a:solidFill>
            <a:srgbClr val="FFF8F0"/>
          </a:solidFill>
          <a:ln w="25400">
            <a:solidFill>
              <a:srgbClr val="E87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932688"/>
            <a:ext cx="10771632" cy="292608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978408"/>
            <a:ext cx="10497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</a:rPr>
              <a:t>⚠  Reality: fragmented, merchant-hostile, internally duplicated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88752" y="987552"/>
            <a:ext cx="1143000" cy="1828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HIGH FRICTION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" y="1280160"/>
            <a:ext cx="5157216" cy="1005840"/>
          </a:xfrm>
          <a:prstGeom prst="rect">
            <a:avLst/>
          </a:prstGeom>
          <a:solidFill>
            <a:srgbClr val="FFF5F5"/>
          </a:solidFill>
          <a:ln w="19050">
            <a:solidFill>
              <a:srgbClr val="F5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34440" y="1280160"/>
            <a:ext cx="54864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1335024"/>
            <a:ext cx="5020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C0392B"/>
                </a:solidFill>
              </a:rPr>
              <a:t>COMPLETION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1499616"/>
            <a:ext cx="5020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</a:rPr>
              <a:t>85% incomplete on first send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1700784"/>
            <a:ext cx="5020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</a:rPr>
              <a:t>Re-work loops between DM, SE &amp; merchant — everyone loses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74536" y="1280160"/>
            <a:ext cx="5157216" cy="1005840"/>
          </a:xfrm>
          <a:prstGeom prst="rect">
            <a:avLst/>
          </a:prstGeom>
          <a:solidFill>
            <a:srgbClr val="FFF5F5"/>
          </a:solidFill>
          <a:ln w="19050">
            <a:solidFill>
              <a:srgbClr val="F5C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74536" y="1280160"/>
            <a:ext cx="54864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65976" y="1335024"/>
            <a:ext cx="5020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C0392B"/>
                </a:solidFill>
              </a:rPr>
              <a:t>SYSTEM FRAGMENTATION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5976" y="1499616"/>
            <a:ext cx="5020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</a:rPr>
              <a:t>2 disconnected systems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5976" y="1700784"/>
            <a:ext cx="5020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</a:rPr>
              <a:t>DM navigates internal tools; merchant sees a broken experience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34440" y="2377440"/>
            <a:ext cx="5157216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F0C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34440" y="2377440"/>
            <a:ext cx="54864" cy="1005840"/>
          </a:xfrm>
          <a:prstGeom prst="rect">
            <a:avLst/>
          </a:prstGeom>
          <a:solidFill>
            <a:srgbClr val="E8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25880" y="2432304"/>
            <a:ext cx="5020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888888"/>
                </a:solidFill>
              </a:rPr>
              <a:t>MERCHANT BURDEN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2596896"/>
            <a:ext cx="5020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</a:rPr>
              <a:t>Heavy lift entirely on merchant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2798064"/>
            <a:ext cx="5020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</a:rPr>
              <a:t>No pre-fill, no guidance — handed a blank form with no context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74536" y="2377440"/>
            <a:ext cx="5157216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F0C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74536" y="2377440"/>
            <a:ext cx="54864" cy="1005840"/>
          </a:xfrm>
          <a:prstGeom prst="rect">
            <a:avLst/>
          </a:prstGeom>
          <a:solidFill>
            <a:srgbClr val="E8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65976" y="2432304"/>
            <a:ext cx="5020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888888"/>
                </a:solidFill>
              </a:rPr>
              <a:t>INTERNAL COORD.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65976" y="2596896"/>
            <a:ext cx="5020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</a:rPr>
              <a:t>Siloed DM → SE handoffs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65976" y="2798064"/>
            <a:ext cx="5020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88888"/>
                </a:solidFill>
              </a:rPr>
              <a:t>Multiple voices, conflicting info — merchant doesn't know who owns this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511296"/>
            <a:ext cx="777240" cy="3163824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PRO-
POSED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7280" y="3511296"/>
            <a:ext cx="10771632" cy="3163824"/>
          </a:xfrm>
          <a:prstGeom prst="rect">
            <a:avLst/>
          </a:prstGeom>
          <a:solidFill>
            <a:srgbClr val="EEF4FF"/>
          </a:solidFill>
          <a:ln w="25400"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97280" y="3511296"/>
            <a:ext cx="10771632" cy="292608"/>
          </a:xfrm>
          <a:prstGeom prst="rect">
            <a:avLst/>
          </a:prstGeom>
          <a:solidFill>
            <a:srgbClr val="DD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34440" y="3557016"/>
            <a:ext cx="10497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5FB4"/>
                </a:solidFill>
              </a:rPr>
              <a:t>✶  AI-first MAF: one hub, merchant shielded, one team behind 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863072" y="3566160"/>
            <a:ext cx="868680" cy="182880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AI-FIRST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34440" y="3858768"/>
            <a:ext cx="3438144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B3D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34440" y="3858768"/>
            <a:ext cx="3438144" cy="54864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25880" y="3950208"/>
            <a:ext cx="3255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5FB4"/>
                </a:solidFill>
              </a:rPr>
              <a:t>🤖  AI-FIRST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4151376"/>
            <a:ext cx="325526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DM+AI pre-fills the MAF from Salesforce &amp; deal context.
Merchant only attests — no blank form, no data entry.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64024" y="3858768"/>
            <a:ext cx="3438144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B3D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764024" y="3858768"/>
            <a:ext cx="3438144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55464" y="3950208"/>
            <a:ext cx="3255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07800"/>
                </a:solidFill>
              </a:rPr>
              <a:t>🛡  MERCHANT PROTECTED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55464" y="4151376"/>
            <a:ext cx="325526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Our internal systems &amp; tool-switching are invisible to the merchant.
One clean hub is all they ever see.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93608" y="3858768"/>
            <a:ext cx="3438144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B3D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93608" y="3858768"/>
            <a:ext cx="3438144" cy="54864"/>
          </a:xfrm>
          <a:prstGeom prst="rect">
            <a:avLst/>
          </a:prstGeom>
          <a:solidFill>
            <a:srgbClr val="2D9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85048" y="3950208"/>
            <a:ext cx="3255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7A3A"/>
                </a:solidFill>
              </a:rPr>
              <a:t>🤝  #ONETEAM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5048" y="4151376"/>
            <a:ext cx="325526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</a:rPr>
              <a:t>DM &amp; SE share one view, one timeline.
One coordinated voice to the merchant — no crossed wires.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234440" y="5184648"/>
            <a:ext cx="10497312" cy="1399032"/>
          </a:xfrm>
          <a:prstGeom prst="rect">
            <a:avLst/>
          </a:prstGeom>
          <a:solidFill>
            <a:srgbClr val="FFFFFF"/>
          </a:solidFill>
          <a:ln w="19050">
            <a:solidFill>
              <a:srgbClr val="B3D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25880" y="5248656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A5FB4"/>
                </a:solidFill>
              </a:rPr>
              <a:t>WHAT CHANGES IN PRACTICE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25880" y="5431536"/>
            <a:ext cx="33162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→ AI drafts MAF from Salesforce before DM sends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33544" y="5431536"/>
            <a:ext cx="33162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→ Single onboarding hub replaces 2 systems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41208" y="5431536"/>
            <a:ext cx="33162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→ Merchant attests only — zero data entry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25880" y="5632704"/>
            <a:ext cx="33162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→ AI quality check catches gaps before submission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33544" y="5632704"/>
            <a:ext cx="33162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→ DM &amp; SE aligned on one shared view &amp; timeline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41208" y="5632704"/>
            <a:ext cx="33162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→ Sent globally at deal kickoff, not as afterthought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